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E1E"/>
    <a:srgbClr val="10253F"/>
    <a:srgbClr val="1128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📦 Data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6015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BFD7F5"/>
                </a:solidFill>
              </a:rPr>
              <a:t>Session </a:t>
            </a:r>
            <a:r>
              <a:rPr lang="en-US" sz="2600" b="0" i="0">
                <a:solidFill>
                  <a:srgbClr val="BFD7F5"/>
                </a:solidFill>
              </a:rPr>
              <a:t>3</a:t>
            </a:r>
            <a:r>
              <a:rPr sz="2600" b="0" i="0">
                <a:solidFill>
                  <a:srgbClr val="BFD7F5"/>
                </a:solidFill>
              </a:rPr>
              <a:t>: Lists, Tuples &amp; Dictionaries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3566160"/>
            <a:ext cx="6702552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FD7F5"/>
                </a:solidFill>
              </a:rPr>
              <a:t>Duration: 1 hour 40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📋 What We'll Cover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1F3964"/>
                </a:solidFill>
              </a:rPr>
              <a:t>  1.  Recap &amp; Assignment 3 Review</a:t>
            </a:r>
          </a:p>
          <a:p>
            <a:r>
              <a:rPr sz="2200">
                <a:solidFill>
                  <a:srgbClr val="0070C0"/>
                </a:solidFill>
              </a:rPr>
              <a:t>  2.  Lists: creation, indexing, slicing, methods</a:t>
            </a:r>
          </a:p>
          <a:p>
            <a:r>
              <a:rPr sz="2200">
                <a:solidFill>
                  <a:srgbClr val="1F3964"/>
                </a:solidFill>
              </a:rPr>
              <a:t>  3.  Looping through lists</a:t>
            </a:r>
          </a:p>
          <a:p>
            <a:r>
              <a:rPr sz="2200">
                <a:solidFill>
                  <a:srgbClr val="0070C0"/>
                </a:solidFill>
              </a:rPr>
              <a:t>  4.  List comprehensions (intro)</a:t>
            </a:r>
          </a:p>
          <a:p>
            <a:r>
              <a:rPr sz="2200">
                <a:solidFill>
                  <a:srgbClr val="1F3964"/>
                </a:solidFill>
              </a:rPr>
              <a:t>  5.  Tuples — immutable sequences</a:t>
            </a:r>
          </a:p>
          <a:p>
            <a:r>
              <a:rPr sz="2200">
                <a:solidFill>
                  <a:srgbClr val="0070C0"/>
                </a:solidFill>
              </a:rPr>
              <a:t>  6.  Dictionaries: key-value pairs, methods</a:t>
            </a:r>
          </a:p>
          <a:p>
            <a:r>
              <a:rPr sz="2200">
                <a:solidFill>
                  <a:srgbClr val="1F3964"/>
                </a:solidFill>
              </a:rPr>
              <a:t>  7.  Nested data structures</a:t>
            </a:r>
          </a:p>
          <a:p>
            <a:r>
              <a:rPr sz="2200">
                <a:solidFill>
                  <a:srgbClr val="0070C0"/>
                </a:solidFill>
              </a:rPr>
              <a:t>  8.  Practice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 dirty="0">
                <a:solidFill>
                  <a:srgbClr val="FFFFFF"/>
                </a:solidFill>
              </a:rPr>
              <a:t>🧠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3964"/>
                </a:solidFill>
              </a:rPr>
              <a:t>Quick check: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515600" cy="4206240"/>
          </a:xfrm>
          <a:prstGeom prst="rect">
            <a:avLst/>
          </a:prstGeom>
          <a:solidFill>
            <a:srgbClr val="1E1E1E"/>
          </a:solidFill>
          <a:ln>
            <a:solidFill>
              <a:srgbClr val="112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What does this print?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mystery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i="1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i="1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x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y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(mystery(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(mystery(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sz="1300" dirty="0">
                <a:solidFill>
                  <a:srgbClr val="D4D4D4"/>
                </a:solidFill>
                <a:latin typeface="Courier New"/>
              </a:rPr>
              <a:t> </a:t>
            </a:r>
          </a:p>
          <a:p>
            <a:endParaRPr lang="en-US" sz="1300" dirty="0">
              <a:solidFill>
                <a:srgbClr val="D4D4D4"/>
              </a:solidFill>
              <a:latin typeface="Courier New"/>
            </a:endParaRPr>
          </a:p>
          <a:p>
            <a:endParaRPr lang="en-US" sz="1300" dirty="0">
              <a:solidFill>
                <a:srgbClr val="D4D4D4"/>
              </a:solidFill>
              <a:latin typeface="Courier New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What's the scope issue here?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result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x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Is this okay?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(result)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x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5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double()</a:t>
            </a:r>
          </a:p>
          <a:p>
            <a:pPr>
              <a:lnSpc>
                <a:spcPts val="1425"/>
              </a:lnSpc>
              <a:buNone/>
            </a:pP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14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400" dirty="0">
                <a:solidFill>
                  <a:srgbClr val="676F7D"/>
                </a:solidFill>
                <a:latin typeface="Consolas" panose="020B0609020204030204" pitchFamily="49" charset="0"/>
              </a:rPr>
              <a:t># What does this do?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Random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lang="en-US" sz="14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randint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📋 Lists — Ordered Collections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44444"/>
                </a:solidFill>
              </a:rPr>
              <a:t>A list is an ordered, changeable collection of items.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10515600" cy="4297680"/>
          </a:xfrm>
          <a:prstGeom prst="rect">
            <a:avLst/>
          </a:prstGeom>
          <a:solidFill>
            <a:srgbClr val="1E1E1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Creating lists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fruits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"apple"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"banana"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"cherry"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numbers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mixed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3.14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empty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[]</a:t>
            </a:r>
          </a:p>
          <a:p>
            <a:pPr>
              <a:lnSpc>
                <a:spcPts val="1425"/>
              </a:lnSpc>
              <a:buNone/>
            </a:pPr>
            <a:endParaRPr lang="en-US" sz="14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Indexing — starts at 0!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  Index:  0        1         2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fruits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"apple"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"banana"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"cherry"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(fruits[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])    </a:t>
            </a: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"apple"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(fruits[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])    </a:t>
            </a: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"banana"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(fruits[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])   </a:t>
            </a: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"cherry"  &lt;- negative index from end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(fruits[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])   </a:t>
            </a: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"banana"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(fruits[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])   </a:t>
            </a: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"apple"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✂️ List Slicing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solidFill>
            <a:srgbClr val="1E1E1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numbers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[</a:t>
            </a:r>
            <a:r>
              <a:rPr lang="en-US" sz="1400" b="0" dirty="0" err="1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start:stop</a:t>
            </a: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]  — stop is NOT included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(numbers[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])    </a:t>
            </a: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[2, 3, 4]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(numbers[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])     </a:t>
            </a: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[0, 1, 2, 3]  — from beginning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(numbers[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])     </a:t>
            </a: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[6, 7, 8, 9]  — to end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(numbers[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])      </a:t>
            </a: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[0, 1, 2, ... 9]  — full copy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[</a:t>
            </a:r>
            <a:r>
              <a:rPr lang="en-US" sz="1400" b="0" dirty="0" err="1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start:stop:step</a:t>
            </a: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]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(numbers[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])    </a:t>
            </a: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[0, 2, 4, 6, 8]  — every 2nd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(numbers[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])   </a:t>
            </a: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[9, 8, 7, ... 0]  — reversed!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Visual: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[0, 1, 2, 3, 4, 5, 6, 7, 8, 9]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       ^     ^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      [2:5] -&gt; takes index 2, 3, 4 -&gt; [2, 3, 4]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🛠️ Common List Methods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solidFill>
            <a:srgbClr val="1E1E1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fruits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"apple"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"banana"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Adding items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fruits</a:t>
            </a:r>
            <a:r>
              <a:rPr lang="en-US" sz="14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"cherry"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        </a:t>
            </a: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Add to end -&gt; [..., "cherry"]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fruits</a:t>
            </a:r>
            <a:r>
              <a:rPr lang="en-US" sz="14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"blueberry"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Insert at index 1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Removing items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fruits</a:t>
            </a:r>
            <a:r>
              <a:rPr lang="en-US" sz="14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remove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"banana"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        </a:t>
            </a: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Remove by value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last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fruits</a:t>
            </a:r>
            <a:r>
              <a:rPr lang="en-US" sz="14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()            </a:t>
            </a: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Remove &amp; return last item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item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fruits</a:t>
            </a:r>
            <a:r>
              <a:rPr lang="en-US" sz="14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           </a:t>
            </a: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Remove &amp; return at index 0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Other useful methods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numbers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sz="14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sort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()                 </a:t>
            </a: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Sort in place -&gt; [1, 1, 2, 3, 4, 5, 6, 9]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sz="14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reverse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()              </a:t>
            </a: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Reverse in place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(numbers))            </a:t>
            </a: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8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sz="14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))        </a:t>
            </a: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2 — how many times 1 appears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sz="14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))        </a:t>
            </a: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4 — index of value 5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🔁 Looping Through Lists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solidFill>
            <a:srgbClr val="1E1E1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fruits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"apple"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"banana"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"cherry"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"date"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Simple loop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fruit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fruits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(fruit)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Loop with index using enumerate()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fruit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enumerate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(fruits)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fruit</a:t>
            </a:r>
            <a:r>
              <a:rPr lang="en-US" sz="14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0: apple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1: banana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2: cherry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3: date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Loop and modify (use range + </a:t>
            </a:r>
            <a:r>
              <a:rPr lang="en-US" sz="1400" b="0" dirty="0" err="1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numbers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(numbers))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numbers[</a:t>
            </a: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numbers[</a:t>
            </a: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2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(numbers)   </a:t>
            </a: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[2, 4, 6, 8, 10]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✨ List Comprehensions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44444"/>
                </a:solidFill>
              </a:rPr>
              <a:t>A concise way to create or transform lists: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10515600" cy="4297680"/>
          </a:xfrm>
          <a:prstGeom prst="rect">
            <a:avLst/>
          </a:prstGeom>
          <a:solidFill>
            <a:srgbClr val="1E1E1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Traditional way: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squares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[]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n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squares</a:t>
            </a:r>
            <a:r>
              <a:rPr lang="en-US" sz="14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(n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List comprehension — same result in one line!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squares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[n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n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)]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(squares)   </a:t>
            </a: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[1, 4, 9, 16, 25]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With a condition (filter):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evens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[n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n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n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(evens)     </a:t>
            </a: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[0, 2, 4, 6, 8, 10, 12, 14, 16, 18]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Transform strings: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words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"world"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"python"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upper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word</a:t>
            </a:r>
            <a:r>
              <a:rPr lang="en-US" sz="14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upper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word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words]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(upper)     </a:t>
            </a: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['HELLO', 'WORLD', 'PYTHON']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With a condition (filter) and transformation: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short_words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word</a:t>
            </a:r>
            <a:r>
              <a:rPr lang="en-US" sz="14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upper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word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words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(word)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short_words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['HELLO', 'WORLD'] 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🔒 Tuples — Immutable Sequences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444444"/>
                </a:solidFill>
              </a:rPr>
              <a:t>Tuples are like lists, but cannot be changed after creation.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10515600" cy="3291840"/>
          </a:xfrm>
          <a:prstGeom prst="rect">
            <a:avLst/>
          </a:prstGeom>
          <a:solidFill>
            <a:srgbClr val="1E1E1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Creating tuples (use parentheses)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point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rgb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128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single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   </a:t>
            </a: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&lt;- Note the comma! (42) is just an int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Accessing elements — same as lists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(point[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])   </a:t>
            </a: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3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rgb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])    </a:t>
            </a: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0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Unpacking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y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point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4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"x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4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, y=</a:t>
            </a:r>
            <a:r>
              <a:rPr lang="en-US" sz="14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4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   </a:t>
            </a: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x=3, y=7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lat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lon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44.4268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26.1025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Bucharest coordinates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53949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F3964"/>
                </a:solidFill>
              </a:rPr>
              <a:t>When to use tuples vs. lists: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06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444444"/>
                </a:solidFill>
              </a:rPr>
              <a:t>  • Tuple: Fixed data (coordinates, RGB, days of week)</a:t>
            </a:r>
          </a:p>
          <a:p>
            <a:r>
              <a:rPr sz="1700">
                <a:solidFill>
                  <a:srgbClr val="444444"/>
                </a:solidFill>
              </a:rPr>
              <a:t>  • List: Data that will change (shopping cart, user list)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📖 Dictionaries — Key-Value Pairs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solidFill>
            <a:srgbClr val="1E1E1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Creating a dictionary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student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"Alice"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"age"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"grade"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"courses"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"Math"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"Physics"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Accessing values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(student[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])      </a:t>
            </a: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"Alice"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sz="14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"age"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))   </a:t>
            </a: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20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sz="14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gpa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))  </a:t>
            </a: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0.0 (default if key missing)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Adding / updating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student[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"email"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"alice@example.com"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Add new key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student[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"age"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21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                    </a:t>
            </a: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Update existing key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Deleting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del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student[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"grade"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removed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sz="14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"age"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sz="14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"age"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))   </a:t>
            </a: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None (age key removed)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(removed)             </a:t>
            </a: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21 (value of removed key)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🔍 Dictionary Methods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solidFill>
            <a:srgbClr val="1E1E1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person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"Bob"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"age"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"city"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"Paris"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Keys, values, items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US" sz="14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keys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())    </a:t>
            </a: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sz="1400" b="0" dirty="0" err="1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dict_keys</a:t>
            </a: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(['name', 'age', 'city'])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US" sz="14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())  </a:t>
            </a: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sz="1400" b="0" dirty="0" err="1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dict_values</a:t>
            </a: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(['Bob', 30, 'Paris'])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US" sz="14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items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())   </a:t>
            </a: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sz="1400" b="0" dirty="0" err="1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dict_items</a:t>
            </a: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([('name', 'Bob'), ...])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Looping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key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person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(key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"-&gt;"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person[key])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key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value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US" sz="14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items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sz="14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Check if key exists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person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"Name is:"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person[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])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🏗️ Nested Data Structures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44444"/>
                </a:solidFill>
              </a:rPr>
              <a:t>Combine lists and dicts for complex data: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10515600" cy="4480560"/>
          </a:xfrm>
          <a:prstGeom prst="rect">
            <a:avLst/>
          </a:prstGeom>
          <a:solidFill>
            <a:srgbClr val="1E1E1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List of dictionaries (common pattern!)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students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[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"Alice"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"grade"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92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"Bob"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"grade"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85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"Carol"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"grade"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97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Access nested data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(students[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])   </a:t>
            </a: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"Alice"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(students[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"grade"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])  </a:t>
            </a: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97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Loop through list of </a:t>
            </a:r>
            <a:r>
              <a:rPr lang="en-US" sz="1400" b="0" dirty="0" err="1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dicts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student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students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student[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'name'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4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student[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'grade'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4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Dictionary of lists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gradebook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"Alice"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85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92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"Bob"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  [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78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82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4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(gradebook[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"Alice"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]) </a:t>
            </a:r>
            <a:r>
              <a:rPr lang="en-US" sz="14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(gradebook[</a:t>
            </a:r>
            <a:r>
              <a:rPr lang="en-US" sz="14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"Alice"</a:t>
            </a:r>
            <a: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]))  </a:t>
            </a:r>
            <a:r>
              <a:rPr lang="en-US" sz="1400" b="0" dirty="0">
                <a:solidFill>
                  <a:srgbClr val="676F7D"/>
                </a:solidFill>
                <a:effectLst/>
                <a:latin typeface="Consolas" panose="020B0609020204030204" pitchFamily="49" charset="0"/>
              </a:rPr>
              <a:t># Average</a:t>
            </a: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1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🎯 Practice 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70C0"/>
                </a:solidFill>
              </a:rPr>
              <a:t>Exercise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1051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44444"/>
                </a:solidFill>
              </a:rPr>
              <a:t>Create a list of 5 of your favorite movies. Print them numbered (1. Movie Name).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0487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70C0"/>
                </a:solidFill>
              </a:rPr>
              <a:t>Exercise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5234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44444"/>
                </a:solidFill>
              </a:rPr>
              <a:t>Use a list comprehension to create a list of all numbers divisible by 3 between 1 and 50.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4670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70C0"/>
                </a:solidFill>
              </a:rPr>
              <a:t>Exercise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69417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44444"/>
                </a:solidFill>
              </a:rPr>
              <a:t>Create a dictionary for a contact (name, phone, email, city). Print each field on its own 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8853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70C0"/>
                </a:solidFill>
              </a:rPr>
              <a:t>Exercise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63600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44444"/>
                </a:solidFill>
              </a:rPr>
              <a:t>Given scores = [78, 92, 85, 90, 88, 76], calculate the average without using sum() (use a loop).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3036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70C0"/>
                </a:solidFill>
              </a:rPr>
              <a:t>Exercise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577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44444"/>
                </a:solidFill>
              </a:rPr>
              <a:t>Write a function most_common(lst) that returns the most frequent item in a list.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 dirty="0">
                <a:solidFill>
                  <a:srgbClr val="FFFFFF"/>
                </a:solidFill>
              </a:rPr>
              <a:t>📝 Assignment </a:t>
            </a:r>
            <a:r>
              <a:rPr lang="en-US" sz="3600" b="1" dirty="0">
                <a:solidFill>
                  <a:srgbClr val="FFFFFF"/>
                </a:solidFill>
              </a:rPr>
              <a:t>3</a:t>
            </a:r>
            <a:r>
              <a:rPr sz="3600" b="1" dirty="0">
                <a:solidFill>
                  <a:srgbClr val="FFFFFF"/>
                </a:solidFill>
              </a:rPr>
              <a:t>: Student Gradebook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C55612"/>
                </a:solidFill>
              </a:rPr>
              <a:t>Due: Before Session </a:t>
            </a:r>
            <a:r>
              <a:rPr lang="en-US" sz="2000" b="1" i="0" dirty="0">
                <a:solidFill>
                  <a:srgbClr val="C55612"/>
                </a:solidFill>
              </a:rPr>
              <a:t>4</a:t>
            </a:r>
            <a:endParaRPr sz="2000" b="1" i="0" dirty="0">
              <a:solidFill>
                <a:srgbClr val="C5561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874519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44444"/>
                </a:solidFill>
              </a:rPr>
              <a:t>Create a program that: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dirty="0">
                <a:solidFill>
                  <a:srgbClr val="444444"/>
                </a:solidFill>
              </a:rPr>
              <a:t>  1. Stores student names and their grades in a dictionary</a:t>
            </a:r>
          </a:p>
          <a:p>
            <a:r>
              <a:rPr sz="1700" dirty="0">
                <a:solidFill>
                  <a:srgbClr val="444444"/>
                </a:solidFill>
              </a:rPr>
              <a:t>  2. Lets the user: add a student, view all students, look up a student's grade, calculate the class average</a:t>
            </a:r>
          </a:p>
          <a:p>
            <a:r>
              <a:rPr sz="1700" dirty="0">
                <a:solidFill>
                  <a:srgbClr val="444444"/>
                </a:solidFill>
              </a:rPr>
              <a:t>  3. Uses a menu-driven loop</a:t>
            </a:r>
          </a:p>
          <a:p>
            <a:r>
              <a:rPr sz="1700" dirty="0">
                <a:solidFill>
                  <a:srgbClr val="444444"/>
                </a:solidFill>
              </a:rPr>
              <a:t>  4. Validates user input (what if the student doesn't exist?)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519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70C0"/>
                </a:solidFill>
              </a:rPr>
              <a:t>⭐ Bonus: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63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solidFill>
                  <a:srgbClr val="444444"/>
                </a:solidFill>
              </a:rPr>
              <a:t>  • Store multiple grades per student</a:t>
            </a:r>
          </a:p>
          <a:p>
            <a:r>
              <a:rPr sz="1600" dirty="0">
                <a:solidFill>
                  <a:srgbClr val="444444"/>
                </a:solidFill>
              </a:rPr>
              <a:t>  • Find highest/lowest scoring student</a:t>
            </a:r>
          </a:p>
          <a:p>
            <a:r>
              <a:rPr sz="1600" dirty="0">
                <a:solidFill>
                  <a:srgbClr val="444444"/>
                </a:solidFill>
              </a:rPr>
              <a:t>  • Show a grade distribution (A/B/C/D/F count)</a:t>
            </a:r>
          </a:p>
          <a:p>
            <a:r>
              <a:rPr sz="1600" dirty="0">
                <a:solidFill>
                  <a:srgbClr val="444444"/>
                </a:solidFill>
              </a:rPr>
              <a:t>  • Allow removing a student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🎉 Session 4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F3964"/>
                </a:solidFill>
              </a:rPr>
              <a:t>  ✅  Lists: creation, indexing, slicing, methods</a:t>
            </a:r>
          </a:p>
          <a:p>
            <a:r>
              <a:rPr sz="2100">
                <a:solidFill>
                  <a:srgbClr val="1F3964"/>
                </a:solidFill>
              </a:rPr>
              <a:t>  ✅  Looping through lists with for and enumerate()</a:t>
            </a:r>
          </a:p>
          <a:p>
            <a:r>
              <a:rPr sz="2100">
                <a:solidFill>
                  <a:srgbClr val="1F3964"/>
                </a:solidFill>
              </a:rPr>
              <a:t>  ✅  List comprehensions for concise list creation</a:t>
            </a:r>
          </a:p>
          <a:p>
            <a:r>
              <a:rPr sz="2100">
                <a:solidFill>
                  <a:srgbClr val="1F3964"/>
                </a:solidFill>
              </a:rPr>
              <a:t>  ✅  Tuples: immutable, use for fixed data</a:t>
            </a:r>
          </a:p>
          <a:p>
            <a:r>
              <a:rPr sz="2100">
                <a:solidFill>
                  <a:srgbClr val="1F3964"/>
                </a:solidFill>
              </a:rPr>
              <a:t>  ✅  Dictionaries: key-value pairs, CRUD operations</a:t>
            </a:r>
          </a:p>
          <a:p>
            <a:r>
              <a:rPr sz="2100">
                <a:solidFill>
                  <a:srgbClr val="1F3964"/>
                </a:solidFill>
              </a:rPr>
              <a:t>  ✅  Iterating dicts with .keys(), .values(), .items()</a:t>
            </a:r>
          </a:p>
          <a:p>
            <a:r>
              <a:rPr sz="2100">
                <a:solidFill>
                  <a:srgbClr val="1F3964"/>
                </a:solidFill>
              </a:rPr>
              <a:t>  ✅  Nested structures: list of dicts, dict of lists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5156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 dirty="0">
                <a:solidFill>
                  <a:srgbClr val="0070C0"/>
                </a:solidFill>
              </a:rPr>
              <a:t>See you in Session </a:t>
            </a:r>
            <a:r>
              <a:rPr lang="en-US" sz="2600" b="1" i="0" dirty="0">
                <a:solidFill>
                  <a:srgbClr val="0070C0"/>
                </a:solidFill>
              </a:rPr>
              <a:t>4</a:t>
            </a:r>
            <a:r>
              <a:rPr sz="2600" b="1" i="0" dirty="0">
                <a:solidFill>
                  <a:srgbClr val="0070C0"/>
                </a:solidFill>
              </a:rPr>
              <a:t> — the final session!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1997</Words>
  <Application>Microsoft Office PowerPoint</Application>
  <PresentationFormat>Custom</PresentationFormat>
  <Paragraphs>249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Comanescu Catalin</cp:lastModifiedBy>
  <cp:revision>19</cp:revision>
  <dcterms:created xsi:type="dcterms:W3CDTF">2013-01-27T09:14:16Z</dcterms:created>
  <dcterms:modified xsi:type="dcterms:W3CDTF">2026-05-06T01:55:37Z</dcterms:modified>
  <cp:category/>
</cp:coreProperties>
</file>