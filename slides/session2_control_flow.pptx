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🔀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FD7F5"/>
                </a:solidFill>
              </a:rPr>
              <a:t>Session 2: Making Decisions &amp; Repeating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566160"/>
            <a:ext cx="6702552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7F5"/>
                </a:solidFill>
              </a:rPr>
              <a:t>Duration: 1 hour 40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0C8FF"/>
                </a:solidFill>
              </a:rPr>
              <a:t>Get ready to make your programs think and repeat! 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📋 What We'll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3964"/>
                </a:solidFill>
              </a:rPr>
              <a:t>  1.  Quick Recap Quiz</a:t>
            </a:r>
          </a:p>
          <a:p>
            <a:r>
              <a:rPr sz="2200">
                <a:solidFill>
                  <a:srgbClr val="0070C0"/>
                </a:solidFill>
              </a:rPr>
              <a:t>  2.  Comparison Operators</a:t>
            </a:r>
          </a:p>
          <a:p>
            <a:r>
              <a:rPr sz="2200">
                <a:solidFill>
                  <a:srgbClr val="1F3964"/>
                </a:solidFill>
              </a:rPr>
              <a:t>  3.  if, elif, else statements</a:t>
            </a:r>
          </a:p>
          <a:p>
            <a:r>
              <a:rPr sz="2200">
                <a:solidFill>
                  <a:srgbClr val="0070C0"/>
                </a:solidFill>
              </a:rPr>
              <a:t>  4.  Logical Operators: and, or, not</a:t>
            </a:r>
          </a:p>
          <a:p>
            <a:r>
              <a:rPr sz="2200">
                <a:solidFill>
                  <a:srgbClr val="1F3964"/>
                </a:solidFill>
              </a:rPr>
              <a:t>  5.  while loops</a:t>
            </a:r>
          </a:p>
          <a:p>
            <a:r>
              <a:rPr sz="2200">
                <a:solidFill>
                  <a:srgbClr val="0070C0"/>
                </a:solidFill>
              </a:rPr>
              <a:t>  6.  for loops &amp; range()</a:t>
            </a:r>
          </a:p>
          <a:p>
            <a:r>
              <a:rPr sz="2200">
                <a:solidFill>
                  <a:srgbClr val="1F3964"/>
                </a:solidFill>
              </a:rPr>
              <a:t>  7.  break and continue</a:t>
            </a:r>
          </a:p>
          <a:p>
            <a:r>
              <a:rPr sz="2200">
                <a:solidFill>
                  <a:srgbClr val="0070C0"/>
                </a:solidFill>
              </a:rPr>
              <a:t>  8.  Live Coding: FizzBuzz &amp; Guessing Game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🧠 Quick Recap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Answer these in your head (or type them out!):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444444"/>
                </a:solidFill>
              </a:rPr>
              <a:t>1. What does  type("hello")  return?</a:t>
            </a:r>
          </a:p>
          <a:p>
            <a:r>
              <a:rPr sz="2000">
                <a:solidFill>
                  <a:srgbClr val="444444"/>
                </a:solidFill>
              </a:rPr>
              <a:t>2. What is the result of  10 % 3 ?</a:t>
            </a:r>
          </a:p>
          <a:p>
            <a:r>
              <a:rPr sz="2000">
                <a:solidFill>
                  <a:srgbClr val="444444"/>
                </a:solidFill>
              </a:rPr>
              <a:t>3. What does  input()  always return?</a:t>
            </a:r>
          </a:p>
          <a:p>
            <a:r>
              <a:rPr sz="2000">
                <a:solidFill>
                  <a:srgbClr val="444444"/>
                </a:solidFill>
              </a:rPr>
              <a:t>4. Fix this code: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9144000" cy="11887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age = input("Your age: 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next_year = age + 1   # ← This crashes! Why?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⚖️ Comparison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These return  True  or  False 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265176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x = 10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y = 5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print(x == y)   # False  — Equal to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print(x != y)   # True   — Not equal to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print(x &gt; y)    # True   — Greater than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print(x &lt; y)    # False  — Less than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print(x &gt;= 10)  # True   — Greater than or equal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print(x &lt;= 9)   # False  — Less than or equal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0515600" cy="16459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Works with strings too!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name = "Alice"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print(name == "Alice")   # True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print(name == "alice")   # False  ← case-sensitive!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🔀 if / elif /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303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3964"/>
                </a:solidFill>
                <a:latin typeface="Courier New"/>
              </a:rPr>
              <a:t>              ┌─────────────┐</a:t>
            </a:r>
          </a:p>
          <a:p>
            <a:r>
              <a:rPr sz="1300">
                <a:solidFill>
                  <a:srgbClr val="1F3964"/>
                </a:solidFill>
                <a:latin typeface="Courier New"/>
              </a:rPr>
              <a:t>              │  condition? │</a:t>
            </a:r>
          </a:p>
          <a:p>
            <a:r>
              <a:rPr sz="1300">
                <a:solidFill>
                  <a:srgbClr val="1F3964"/>
                </a:solidFill>
                <a:latin typeface="Courier New"/>
              </a:rPr>
              <a:t>              └─────┬──────┘</a:t>
            </a:r>
          </a:p>
          <a:p>
            <a:r>
              <a:rPr sz="1300">
                <a:solidFill>
                  <a:srgbClr val="1F3964"/>
                </a:solidFill>
                <a:latin typeface="Courier New"/>
              </a:rPr>
              <a:t>                     │</a:t>
            </a:r>
          </a:p>
          <a:p>
            <a:r>
              <a:rPr sz="1300">
                <a:solidFill>
                  <a:srgbClr val="1F3964"/>
                </a:solidFill>
                <a:latin typeface="Courier New"/>
              </a:rPr>
              <a:t>         True ◄─────┴─────► False</a:t>
            </a:r>
          </a:p>
          <a:p>
            <a:r>
              <a:rPr sz="1300">
                <a:solidFill>
                  <a:srgbClr val="1F3964"/>
                </a:solidFill>
                <a:latin typeface="Courier New"/>
              </a:rPr>
              <a:t>         │                   │</a:t>
            </a:r>
          </a:p>
          <a:p>
            <a:r>
              <a:rPr sz="1300">
                <a:solidFill>
                  <a:srgbClr val="1F3964"/>
                </a:solidFill>
                <a:latin typeface="Courier New"/>
              </a:rPr>
              <a:t>   ┌─────▼────┐     ┌─────▼────┐</a:t>
            </a:r>
          </a:p>
          <a:p>
            <a:r>
              <a:rPr sz="1300">
                <a:solidFill>
                  <a:srgbClr val="1F3964"/>
                </a:solidFill>
                <a:latin typeface="Courier New"/>
              </a:rPr>
              <a:t>   │ do this    │     │  do that   │</a:t>
            </a:r>
          </a:p>
          <a:p>
            <a:r>
              <a:rPr sz="1300">
                <a:solidFill>
                  <a:srgbClr val="1F3964"/>
                </a:solidFill>
                <a:latin typeface="Courier New"/>
              </a:rPr>
              <a:t>   └────────────┘     └────────────┘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417320"/>
            <a:ext cx="5212080" cy="32004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age = int(input("Enter your age: "))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if age &lt; 13: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print("You are a child.")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elif age &lt; 18: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print("You are a teenager.")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elif age &lt; 65: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print("You are an adult.")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else: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print("You are a senior.")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🔀 More if / elif / else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Grade classifier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score = int(input("Enter your score: "))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if score &gt;= 90: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grade = "A"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elif score &gt;= 80: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grade = "B"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elif score &gt;= 70: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grade = "C"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elif score &gt;= 60: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grade = "D"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else: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grade = "F"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print(f"Your grade is: {grade}")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★ Key rule: Conditions are checked top to bottom — first True wins!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🧩 Logical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Combine multiple conditions: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6400800" cy="34747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and — both must be True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age = 20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has_id = True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print(age &gt;= 18 and has_id)   # True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or — at least one must be True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is_weekend = False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is_holiday = True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print(is_weekend or is_holiday)   # True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not — reverses True/False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is_raining = False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print(not is_raining)   #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964"/>
                </a:solidFill>
              </a:rPr>
              <a:t>Truth Table for  and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286000"/>
            <a:ext cx="4389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  <a:latin typeface="Courier New"/>
              </a:rPr>
              <a:t>  A       B     A and B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True    True    True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True    False   False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False   True    False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False   False  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🔄 Truth Table for `or` and `not`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964"/>
                </a:solidFill>
              </a:rPr>
              <a:t>or: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  <a:latin typeface="Courier New"/>
              </a:rPr>
              <a:t>  A       B     A or B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True    True    True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True    False   True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False   True    True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False   False  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964"/>
                </a:solidFill>
              </a:rPr>
              <a:t>not: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  <a:latin typeface="Courier New"/>
              </a:rPr>
              <a:t>  A        not A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True     False</a:t>
            </a:r>
          </a:p>
          <a:p>
            <a:r>
              <a:rPr sz="1400">
                <a:solidFill>
                  <a:srgbClr val="444444"/>
                </a:solidFill>
                <a:latin typeface="Courier New"/>
              </a:rPr>
              <a:t>  False    True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5486400" cy="16459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Combining operators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x = 15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print(x &gt; 10 and x &lt; 20)    # True — between 10 and 20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print(not (x == 15))         #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🔁 while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  while  loop repeats as long as a condition is  True 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6400800" cy="34747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count = 1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while count &lt;= 5: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print(f"Count: {count}")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count += 1   # Don't forget this! (infinite loop otherwise)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Output: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Count: 1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Count: 2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Count: 3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Count: 4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Count: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920240"/>
            <a:ext cx="4114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3964"/>
                </a:solidFill>
                <a:latin typeface="Courier New"/>
              </a:rPr>
              <a:t>┌─────────────────┐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│  count &lt;= 5?    │ ◄────┐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└────────┬────────┘      │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         │ True          │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    ┌────▼────┐          │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    │ print   ├──────────┘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    │ count+= │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    └─────────┘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         │ False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         ▼</a:t>
            </a:r>
          </a:p>
          <a:p>
            <a:r>
              <a:rPr sz="1400">
                <a:solidFill>
                  <a:srgbClr val="1F3964"/>
                </a:solidFill>
                <a:latin typeface="Courier New"/>
              </a:rPr>
              <a:t>       (done)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⛔ break and continue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46634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break — exit the loop immediately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count = 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while True:          # "infinite" loop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count += 1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if count == 5: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break        # Stop when count reaches 5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print(f"Stopped at {count}")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continue — skip to next iteration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i in range(10):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if i % 2 == 0: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continue     # Skip even numbers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print(i)         # Prints: 1, 3, 5, 7,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🔂 for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  for  loop iterates over a sequence.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448056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range(stop) — 0 to stop-1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i in range(5):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print(i)   # 0, 1, 2, 3, 4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range(start, stop)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i in range(1, 6):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print(i)   # 1, 2, 3, 4, 5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range(start, stop, step)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i in range(0, 11, 2):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print(i)   # 0, 2, 4, 6, 8, 10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Iterate over a string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letter in "Python":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print(letter)   # P, y, t, h, o, 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🎯 FizzBuzz — Classic Coding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Print numbers 1 to 30. But: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444444"/>
                </a:solidFill>
              </a:rPr>
              <a:t>•  If divisible by 3  →  print "Fizz"</a:t>
            </a:r>
          </a:p>
          <a:p>
            <a:r>
              <a:rPr sz="1900">
                <a:solidFill>
                  <a:srgbClr val="444444"/>
                </a:solidFill>
              </a:rPr>
              <a:t>•  If divisible by 5  →  print "Buzz"</a:t>
            </a:r>
          </a:p>
          <a:p>
            <a:r>
              <a:rPr sz="1900">
                <a:solidFill>
                  <a:srgbClr val="444444"/>
                </a:solidFill>
              </a:rPr>
              <a:t>•  If divisible by both  →  print "FizzBuzz"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34640"/>
            <a:ext cx="10515600" cy="2743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for number in range(1, 31):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if number % 3 == 0 and number % 5 == 0: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print("FizzBuzz")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elif number % 3 == 0: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print("Fizz")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elif number % 5 == 0: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print("Buzz")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else: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print(number)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70C0"/>
                </a:solidFill>
              </a:rPr>
              <a:t>Output: 1 2 Fizz 4 Buzz Fizz 7 8 Fizz Buzz 11 Fizz 13 14 FizzBuzz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🎮 Live Demo: Number Guessing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import random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secret = random.randint(1, 10)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attempts = 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print("I'm thinking of a number between 1 and 10...")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while True: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guess = int(input("Your guess: "))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attempts += 1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if guess &lt; secret: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print("Too low! Try again.")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elif guess &gt; secret: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print("Too high! Try again.")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else: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print(f"🎉 Correct! You got it in {attempts} attempts!")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break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🎯 Practice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964"/>
                </a:solidFill>
              </a:rPr>
              <a:t>Try these on your own: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0C0"/>
                </a:solidFill>
              </a:rPr>
              <a:t>Exercise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Write a program that prints all even numbers from 2 to 20.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0C0"/>
                </a:solidFill>
              </a:rPr>
              <a:t>Exercise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Ask the user for a password. Keep asking until they type "python123".
  Then print "Access granted!".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0C0"/>
                </a:solidFill>
              </a:rPr>
              <a:t>Exercise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Print a multiplication table for a number the user enters.
  e.g. 5 x 1 = 5,  5 x 2 = 10, …  5 x 10 =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0C0"/>
                </a:solidFill>
              </a:rPr>
              <a:t>Exercise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Count how many vowels are in a word entered by the user.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📝 Assignment 2: Number Guessing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5612"/>
                </a:solidFill>
              </a:rPr>
              <a:t>Due: Before Session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Write a program that: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44444"/>
                </a:solidFill>
              </a:rPr>
              <a:t>  1. Generates a random number between 1 and 100  (import random)</a:t>
            </a:r>
          </a:p>
          <a:p>
            <a:r>
              <a:rPr sz="1800">
                <a:solidFill>
                  <a:srgbClr val="444444"/>
                </a:solidFill>
              </a:rPr>
              <a:t>  2. Asks the user to guess the number repeatedly</a:t>
            </a:r>
          </a:p>
          <a:p>
            <a:r>
              <a:rPr sz="1800">
                <a:solidFill>
                  <a:srgbClr val="444444"/>
                </a:solidFill>
              </a:rPr>
              <a:t>  3. Gives hints: "Too high!" or "Too low!"</a:t>
            </a:r>
          </a:p>
          <a:p>
            <a:r>
              <a:rPr sz="1800">
                <a:solidFill>
                  <a:srgbClr val="444444"/>
                </a:solidFill>
              </a:rPr>
              <a:t>  4. Counts the number of attempts and prints it when 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</a:rPr>
              <a:t>⭐ Bonus: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0070C0"/>
                </a:solidFill>
              </a:rPr>
              <a:t>  • Add a maximum of 10 attempts; if exceeded, reveal the answer</a:t>
            </a:r>
          </a:p>
          <a:p>
            <a:r>
              <a:rPr sz="1700" i="1">
                <a:solidFill>
                  <a:srgbClr val="0070C0"/>
                </a:solidFill>
              </a:rPr>
              <a:t>  • Add difficulty levels: Easy (1-50), Medium (1-100), Hard (1-500)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📁 Start with:  starter-code/assignment2_starter.py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📄 Full details:  assignments/assignment2_guessing_game.md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🎉 Session 2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F3964"/>
                </a:solidFill>
              </a:rPr>
              <a:t>  ✅  Comparison operators:  ==, !=, &lt;, &gt;, &lt;=, &gt;=</a:t>
            </a:r>
          </a:p>
          <a:p>
            <a:r>
              <a:rPr sz="2100">
                <a:solidFill>
                  <a:srgbClr val="1F3964"/>
                </a:solidFill>
              </a:rPr>
              <a:t>  ✅  if, elif, else — conditional branching</a:t>
            </a:r>
          </a:p>
          <a:p>
            <a:r>
              <a:rPr sz="2100">
                <a:solidFill>
                  <a:srgbClr val="1F3964"/>
                </a:solidFill>
              </a:rPr>
              <a:t>  ✅  Logical operators:  and, or, not</a:t>
            </a:r>
          </a:p>
          <a:p>
            <a:r>
              <a:rPr sz="2100">
                <a:solidFill>
                  <a:srgbClr val="1F3964"/>
                </a:solidFill>
              </a:rPr>
              <a:t>  ✅  while loops — repeat while condition is True</a:t>
            </a:r>
          </a:p>
          <a:p>
            <a:r>
              <a:rPr sz="2100">
                <a:solidFill>
                  <a:srgbClr val="1F3964"/>
                </a:solidFill>
              </a:rPr>
              <a:t>  ✅  for loops — iterate over sequences</a:t>
            </a:r>
          </a:p>
          <a:p>
            <a:r>
              <a:rPr sz="2100">
                <a:solidFill>
                  <a:srgbClr val="1F3964"/>
                </a:solidFill>
              </a:rPr>
              <a:t>  ✅  range() — generate number sequences</a:t>
            </a:r>
          </a:p>
          <a:p>
            <a:r>
              <a:rPr sz="2100">
                <a:solidFill>
                  <a:srgbClr val="1F3964"/>
                </a:solidFill>
              </a:rPr>
              <a:t>  ✅  break — exit a loop early</a:t>
            </a:r>
          </a:p>
          <a:p>
            <a:r>
              <a:rPr sz="2100">
                <a:solidFill>
                  <a:srgbClr val="1F3964"/>
                </a:solidFill>
              </a:rPr>
              <a:t>  ✅  continue — skip to next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C0"/>
                </a:solidFill>
              </a:rPr>
              <a:t>See you in Session 3!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