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🔧 Functions &amp; Modular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FD7F5"/>
                </a:solidFill>
              </a:rPr>
              <a:t>Session 3: Writing Reusable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566160"/>
            <a:ext cx="6702552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7F5"/>
                </a:solidFill>
              </a:rPr>
              <a:t>Duration: 1 hour 40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0C8FF"/>
                </a:solidFill>
              </a:rPr>
              <a:t>Write it once, use it everywhere! ♻️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📋 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3964"/>
                </a:solidFill>
              </a:rPr>
              <a:t>  1.  Recap &amp; Assignment 2 Review</a:t>
            </a:r>
          </a:p>
          <a:p>
            <a:r>
              <a:rPr sz="2200">
                <a:solidFill>
                  <a:srgbClr val="0070C0"/>
                </a:solidFill>
              </a:rPr>
              <a:t>  2.  Why Functions? The DRY Principle</a:t>
            </a:r>
          </a:p>
          <a:p>
            <a:r>
              <a:rPr sz="2200">
                <a:solidFill>
                  <a:srgbClr val="1F3964"/>
                </a:solidFill>
              </a:rPr>
              <a:t>  3.  Defining Functions: def, parameters, return</a:t>
            </a:r>
          </a:p>
          <a:p>
            <a:r>
              <a:rPr sz="2200">
                <a:solidFill>
                  <a:srgbClr val="0070C0"/>
                </a:solidFill>
              </a:rPr>
              <a:t>  4.  Default Parameters &amp; Keyword Arguments</a:t>
            </a:r>
          </a:p>
          <a:p>
            <a:r>
              <a:rPr sz="2200">
                <a:solidFill>
                  <a:srgbClr val="1F3964"/>
                </a:solidFill>
              </a:rPr>
              <a:t>  5.  Variable Scope: local vs. global</a:t>
            </a:r>
          </a:p>
          <a:p>
            <a:r>
              <a:rPr sz="2200">
                <a:solidFill>
                  <a:srgbClr val="0070C0"/>
                </a:solidFill>
              </a:rPr>
              <a:t>  6.  Built-in Functions Cheat Sheet</a:t>
            </a:r>
          </a:p>
          <a:p>
            <a:r>
              <a:rPr sz="2200">
                <a:solidFill>
                  <a:srgbClr val="1F3964"/>
                </a:solidFill>
              </a:rPr>
              <a:t>  7.  Importing Modules: math, random</a:t>
            </a:r>
          </a:p>
          <a:p>
            <a:r>
              <a:rPr sz="2200">
                <a:solidFill>
                  <a:srgbClr val="0070C0"/>
                </a:solidFill>
              </a:rPr>
              <a:t>  8. 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🧠 Recap &amp; Assignment 2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Quick check — what does each snippet output?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448056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What does this output?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for i in range(3, 10, 3):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print(i)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What does this do?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count = 0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while count &lt; 5: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if count == 3: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    break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count += 1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print(count)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Fix the bug: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numbers = "12345"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for n in numbers: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print(n * 2)    # What's the issue?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🤔 Why Functions? The DRY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964"/>
                </a:solidFill>
              </a:rPr>
              <a:t>DRY = Don't Repeat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55612"/>
                </a:solidFill>
              </a:rPr>
              <a:t>❌ Without functions — repetitive: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120640" cy="25603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print("=" * 30)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print("  Welcome to the Game!")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print("=" * 30)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... lots of code ...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print("=" * 30)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print("  Game Over!")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print("=" * 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A33"/>
                </a:solidFill>
              </a:rPr>
              <a:t>✅ With functions — clean: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5120640" cy="25603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def print_banner(message):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print("=" * 30)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print(f"  {message}")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print("=" * 30)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print_banner("Welcome to the Game!")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... lots of code ...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print_banner("Game Over!")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70C0"/>
                </a:solidFill>
              </a:rPr>
              <a:t>Functions make code reusable, readable, and easier to maintain.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🔧 Anatomy of a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  keyword  name      parameters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    ↓       ↓          ↓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greet(name, greeting="Hello"):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"""This is a docstring — explains what the function does."""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message = f"{greeting}, {name}!"   # function body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return message                      # return value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     ↑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 return keyword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Calling the function: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result = greet("Alice")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print(result)           # Hello, Alice!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result2 = greet("Bob", "Hi")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print(result2)          # Hi, Bob!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📥 Parameters vs. Arguments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def add(a, b):       # a and b are PARAMETERS (in definition)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return a + b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result = add(3, 5)   # 3 and 5 are ARGUMENTS (in call)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Multiple parameters: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03320"/>
            <a:ext cx="10515600" cy="2743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def describe_pet(name, animal_type, age):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print(f"{name} is a {age}-year-old {animal_type}.")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describe_pet("Rex", "dog", 3)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Rex is a 3-year-old dog.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What if the function has no return?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def say_hi(name):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print(f"Hi {name}!")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# implicitly returns None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value = say_hi("Alice")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print(value)   # None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⚙️ Default Parameters &amp; Keyword Arguments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Default parameters — used if argument is not provided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power(base, exponent=2):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return base ** exponent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print(power(3))      # 9  — uses default exponent=2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print(power(3, 3))   # 27 — overrides default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Keyword arguments — order doesn't matter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create_profile(name, age, city="Unknown"):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print(f"{name}, {age}, from {city}")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create_profile("Alice", 25)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create_profile(age=30, name="Bob", city="Paris")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create_profile("Carol", city="Tokyo", age=22)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🔭 Variable Scope: Local vs.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347472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total = 0   # Global variable — accessible everywhere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def add_to_total(amount):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global total          # Declare we're using the global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total += amount       # Modify global variable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def calculate():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result = 100          # Local variable — only inside this function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print(result)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calculate()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print(result)  ← ERROR! result is local to calculate()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add_to_total(50)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print(total)   #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74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3964"/>
                </a:solidFill>
              </a:rPr>
              <a:t>Best practice: avoid global — return values instead!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532120"/>
            <a:ext cx="10515600" cy="10972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def add(a, b):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   return a + b          # Return instead of using global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total = add(10, 20)      # Assign the returned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📚 Built-in Functions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D4D4D4"/>
                </a:solidFill>
                <a:latin typeface="Courier New"/>
              </a:rPr>
              <a:t># Math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abs(-5)           # 5      — absolute value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round(3.7)        # 4      — round to nearest int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round(3.14159, 2) # 3.14   — round to 2 decimal places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max(1, 5, 3)      # 5      — maximum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min(1, 5, 3)      # 1      — minimum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sum([1, 2, 3])    # 6      — sum of list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Type &amp; Info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type("hello")     # &lt;class 'str'&gt;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len("Python")     # 6      — length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len([1, 2, 3])    # 3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# Conversion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int("42")         # 42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float("3.14")     # 3.14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str(100)          # "100"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bool(0)           # False</a:t>
            </a:r>
          </a:p>
          <a:p>
            <a:r>
              <a:rPr sz="1300">
                <a:solidFill>
                  <a:srgbClr val="D4D4D4"/>
                </a:solidFill>
                <a:latin typeface="Courier New"/>
              </a:rPr>
              <a:t>list("abc")       # ['a', 'b', 'c']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📦 Importing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# Import the whole module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import math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print(math.pi)           # 3.141592653589793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print(math.sqrt(16))     # 4.0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print(math.floor(3.7))   # 3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print(math.ceil(3.2))    # 4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print(math.factorial(5)) # 120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Import specific things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from random import randint, choice, shuffle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number = randint(1, 10)   # Random int between 1 and 10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item = choice(["a", "b", "c"])  # Random item from 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🎲 The random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import random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Random integer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random.randint(1, 6)       # Simulates a dice roll: 1-6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Random float between 0 and 1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random.random()            # e.g., 0.7234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Random choice from a sequence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fruits = ["apple", "banana", "cherry"]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random.choice(fruits)      # e.g., "banana"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Shuffle a list (modifies in place)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cards = [1, 2, 3, 4, 5]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random.shuffle(cards)      # e.g., [3, 1, 5, 2, 4]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Sample without replacement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random.sample(range(50), 6)  # Pick 6 lottery numbers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🧩 Functions Calling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D4D4D4"/>
                </a:solidFill>
                <a:latin typeface="Courier New"/>
              </a:rPr>
              <a:t>def square(n):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return n ** 2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sum_of_squares(a, b):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return square(a) + square(b)   # calls square() twice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print(sum_of_squares(3, 4))  # 9 + 16 = 25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# A complete example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celsius_to_fahrenheit(c):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return c * 9 / 5 + 32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def temperature_report(city, temp_c):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temp_f = celsius_to_fahrenheit(temp_c)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   print(f"{city}: {temp_c}°C = {temp_f:.1f}°F")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temperature_report("Bucharest", 25)  # Bucharest: 25°C = 77.0°F</a:t>
            </a:r>
          </a:p>
          <a:p>
            <a:r>
              <a:rPr sz="1400">
                <a:solidFill>
                  <a:srgbClr val="D4D4D4"/>
                </a:solidFill>
                <a:latin typeface="Courier New"/>
              </a:rPr>
              <a:t>temperature_report("London", 15)     # London: 15°C = 59.0°F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🎯 Practice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964"/>
                </a:solidFill>
              </a:rPr>
              <a:t>Try these on your own: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function is_even(n) that returns True if n is even.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function celsius_to_kelvin(c) that converts Celsius to Kelvin. (K = C + 273.15)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function count_vowels(text) that counts how many vowels are in a string.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57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function roll_dice(sides=6) that simulates rolling a dice with a given number of sides (default: 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217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function bmi(weight_kg, height_m) that calculates Body Mass Index: weight / height².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📝 Assignment 3: Calculator with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55612"/>
                </a:solidFill>
              </a:rPr>
              <a:t>Due: Before Session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Build a command-line calculator that: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44444"/>
                </a:solidFill>
              </a:rPr>
              <a:t>  1. Has separate functions: add(), subtract(), multiply(), divide()</a:t>
            </a:r>
          </a:p>
          <a:p>
            <a:r>
              <a:rPr sz="1800">
                <a:solidFill>
                  <a:srgbClr val="444444"/>
                </a:solidFill>
              </a:rPr>
              <a:t>  2. Shows a menu to the user and asks them to pick an operation</a:t>
            </a:r>
          </a:p>
          <a:p>
            <a:r>
              <a:rPr sz="1800">
                <a:solidFill>
                  <a:srgbClr val="444444"/>
                </a:solidFill>
              </a:rPr>
              <a:t>  3. Handles division by zero gracefully</a:t>
            </a:r>
          </a:p>
          <a:p>
            <a:r>
              <a:rPr sz="1800">
                <a:solidFill>
                  <a:srgbClr val="444444"/>
                </a:solidFill>
              </a:rPr>
              <a:t>  4. Loops until the user types "quit"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⭐ Bonus: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  • Add power() and square_root() functions using the math module</a:t>
            </a:r>
          </a:p>
          <a:p>
            <a:r>
              <a:rPr sz="1700">
                <a:solidFill>
                  <a:srgbClr val="444444"/>
                </a:solidFill>
              </a:rPr>
              <a:t>  • Add a history of calculations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📁 Start with: starter-code/assignment3_starter.py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📄 Full details: assignments/assignment3_calculator.md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🎉 Session 3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F3964"/>
                </a:solidFill>
              </a:rPr>
              <a:t>  ✅  Why functions make code better (DRY principle)</a:t>
            </a:r>
          </a:p>
          <a:p>
            <a:r>
              <a:rPr sz="2100">
                <a:solidFill>
                  <a:srgbClr val="1F3964"/>
                </a:solidFill>
              </a:rPr>
              <a:t>  ✅  Defining functions with  def</a:t>
            </a:r>
          </a:p>
          <a:p>
            <a:r>
              <a:rPr sz="2100">
                <a:solidFill>
                  <a:srgbClr val="1F3964"/>
                </a:solidFill>
              </a:rPr>
              <a:t>  ✅  Parameters, arguments, and  return</a:t>
            </a:r>
          </a:p>
          <a:p>
            <a:r>
              <a:rPr sz="2100">
                <a:solidFill>
                  <a:srgbClr val="1F3964"/>
                </a:solidFill>
              </a:rPr>
              <a:t>  ✅  Default parameters &amp; keyword arguments</a:t>
            </a:r>
          </a:p>
          <a:p>
            <a:r>
              <a:rPr sz="2100">
                <a:solidFill>
                  <a:srgbClr val="1F3964"/>
                </a:solidFill>
              </a:rPr>
              <a:t>  ✅  Local vs. global scope</a:t>
            </a:r>
          </a:p>
          <a:p>
            <a:r>
              <a:rPr sz="2100">
                <a:solidFill>
                  <a:srgbClr val="1F3964"/>
                </a:solidFill>
              </a:rPr>
              <a:t>  ✅  Useful built-in functions</a:t>
            </a:r>
          </a:p>
          <a:p>
            <a:r>
              <a:rPr sz="2100">
                <a:solidFill>
                  <a:srgbClr val="1F3964"/>
                </a:solidFill>
              </a:rPr>
              <a:t>  ✅  Importing and using  math  and 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</a:rPr>
              <a:t>See you in Session 4!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