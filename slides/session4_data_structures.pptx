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📦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BFD7F5"/>
                </a:solidFill>
              </a:rPr>
              <a:t>Session 4: Lists, Tuples &amp; Dictionaries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566160"/>
            <a:ext cx="6702552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FD7F5"/>
                </a:solidFill>
              </a:rPr>
              <a:t>Duration: 1 hour 40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📋 What We'll Cover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3964"/>
                </a:solidFill>
              </a:rPr>
              <a:t>  1.  Recap &amp; Assignment 3 Review</a:t>
            </a:r>
          </a:p>
          <a:p>
            <a:r>
              <a:rPr sz="2200">
                <a:solidFill>
                  <a:srgbClr val="0070C0"/>
                </a:solidFill>
              </a:rPr>
              <a:t>  2.  Lists: creation, indexing, slicing, methods</a:t>
            </a:r>
          </a:p>
          <a:p>
            <a:r>
              <a:rPr sz="2200">
                <a:solidFill>
                  <a:srgbClr val="1F3964"/>
                </a:solidFill>
              </a:rPr>
              <a:t>  3.  Looping through lists</a:t>
            </a:r>
          </a:p>
          <a:p>
            <a:r>
              <a:rPr sz="2200">
                <a:solidFill>
                  <a:srgbClr val="0070C0"/>
                </a:solidFill>
              </a:rPr>
              <a:t>  4.  List comprehensions (intro)</a:t>
            </a:r>
          </a:p>
          <a:p>
            <a:r>
              <a:rPr sz="2200">
                <a:solidFill>
                  <a:srgbClr val="1F3964"/>
                </a:solidFill>
              </a:rPr>
              <a:t>  5.  Tuples — immutable sequences</a:t>
            </a:r>
          </a:p>
          <a:p>
            <a:r>
              <a:rPr sz="2200">
                <a:solidFill>
                  <a:srgbClr val="0070C0"/>
                </a:solidFill>
              </a:rPr>
              <a:t>  6.  Dictionaries: key-value pairs, methods</a:t>
            </a:r>
          </a:p>
          <a:p>
            <a:r>
              <a:rPr sz="2200">
                <a:solidFill>
                  <a:srgbClr val="1F3964"/>
                </a:solidFill>
              </a:rPr>
              <a:t>  7.  Nested data structures</a:t>
            </a:r>
          </a:p>
          <a:p>
            <a:r>
              <a:rPr sz="2200">
                <a:solidFill>
                  <a:srgbClr val="0070C0"/>
                </a:solidFill>
              </a:rPr>
              <a:t>  8.  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🧠 Recap &amp; Assignment 3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Quick check: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515600" cy="420624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# What does this print?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def mystery(x, y=10):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return x * 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print(mystery(3))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print(mystery(3, 5))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What's the scope issue here?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def double():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result = x * 2   # Is this okay?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 = 5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double()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📋 Lists — Ordered Collections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A list is an ordered, changeable collection of items.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51560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# Creating lists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fruits = ["apple", "banana", "cherry"]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numbers = [1, 2, 3, 4, 5]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mixed = [42, "hello", True, 3.14]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empty = []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Indexing — starts at 0!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  Index:  0        1         2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fruits = ["apple", "banana", "cherry"]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print(fruits[0])    # "apple"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print(fruits[1])    # "banana"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print(fruits[-1])   # "cherry"  &lt;- negative index from end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print(fruits[-2])   # "banana"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✂️ List Slicing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numbers = [0, 1, 2, 3, 4, 5, 6, 7, 8, 9]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[start:stop]  — stop is NOT included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print(numbers[2:5])    # [2, 3, 4]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print(numbers[:4])     # [0, 1, 2, 3]  — from beginning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print(numbers[6:])     # [6, 7, 8, 9]  — to end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print(numbers[:])      # [0, 1, 2, ... 9]  — full copy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[start:stop:step]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print(numbers[::2])    # [0, 2, 4, 6, 8]  — every 2nd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print(numbers[::-1])   # [9, 8, 7, ... 0]  — reversed!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Visual: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[0, 1, 2, 3, 4, 5, 6, 7, 8, 9]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 ^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[2:5] -&gt; takes index 2, 3, 4 -&gt; [2, 3, 4]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🛠️ Common List Methods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fruits = ["apple", "banana"]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Adding items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fruits.append("cherry")        # Add to end -&gt; [..., "cherry"]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fruits.insert(1, "blueberry")  # Insert at index 1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Removing items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fruits.remove("banana")        # Remove by value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last = fruits.pop()            # Remove &amp; return last item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item = fruits.pop(0)           # Remove &amp; return at index 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Other useful methods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numbers = [3, 1, 4, 1, 5, 9, 2, 6]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numbers.sort()                 # Sort in place -&gt; [1, 1, 2, 3, 4, 5, 6, 9]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numbers.reverse()              # Reverse in place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print(len(numbers))            # 8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print(numbers.count(1))        # 2 — how many times 1 appears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print(numbers.index(5))        # 4 — index of value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🔁 Looping Through Lists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fruits = ["apple", "banana", "cherry", "date"]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Simple loop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for fruit in fruits: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print(fruit)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Loop with index using enumerate()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for i, fruit in enumerate(fruits):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print(f"{i}: {fruit}")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0: apple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1: banana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2: cherry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Loop and modify (use range + len)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numbers = [1, 2, 3, 4, 5]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for i in range(len(numbers)):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numbers[i] = numbers[i] * 2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print(numbers)   # [2, 4, 6, 8, 10]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✨ List Comprehensions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A concise way to create or transform lists: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51560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# Traditional way: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squares = []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for n in range(1, 6):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squares.append(n ** 2)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List comprehension — same result in one line!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squares = [n ** 2 for n in range(1, 6)]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print(squares)   # [1, 4, 9, 16, 25]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With a condition (filter):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evens = [n for n in range(20) if n % 2 == 0]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print(evens)     # [0, 2, 4, 6, 8, 10, 12, 14, 16, 18]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Transform strings: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words = ["hello", "world", "python"]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upper = [word.upper() for word in words]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print(upper)     # ['HELLO', 'WORLD', 'PYTHON']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🔒 Tuples — Immutable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Tuples are like lists, but cannot be changed after creation.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515600" cy="329184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# Creating tuples (use parentheses)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point = (3, 7)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rgb = (255, 128, 0)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single = (42,)   # &lt;- Note the comma! (42) is just an int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Accessing elements — same as lists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print(point[0])   # 3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print(rgb[-1])    # 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Unpacking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x, y = point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print(f"x={x}, y={y}")   # x=3, y=7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lat, lon = 44.4268, 26.1025   # Bucharest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F3964"/>
                </a:solidFill>
              </a:rPr>
              <a:t>When to use tuples vs. lists: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  • Tuple: Fixed data (coordinates, RGB, days of week)</a:t>
            </a:r>
          </a:p>
          <a:p>
            <a:r>
              <a:rPr sz="1700">
                <a:solidFill>
                  <a:srgbClr val="444444"/>
                </a:solidFill>
              </a:rPr>
              <a:t>  • List: Data that will change (shopping cart, user list)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📖 Dictionaries — Key-Value 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# Creating a dictionary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student = {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"name": "Alice",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"age": 20,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"grade": "A",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"courses": ["Math", "Physics"]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}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Accessing values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print(student["name"])      # "Alice"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print(student.get("age"))   # 20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print(student.get("gpa", 0.0))  # 0.0 (default if key missing)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Adding / updating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student["email"] = "alice@example.com"  # Add new key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student["age"] = 21                     # Update existing key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Deleting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del student["grade"]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removed = student.pop("age")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🔍 Dictionary Methods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person = {"name": "Bob", "age": 30, "city": "Paris"}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Keys, values, items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print(person.keys())    # dict_keys(['name', 'age', 'city'])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print(person.values())  # dict_values(['Bob', 30, 'Paris'])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print(person.items())   # dict_items([('name', 'Bob'), ...])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Looping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for key in person: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print(key, "-&gt;", person[key])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for key, value in person.items():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print(f"{key}: {value}")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Check if key exists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if "name" in person: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print("Name is:", person["name"])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🏗️ Nested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Combine lists and dicts for complex data: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515600" cy="448056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# List of dictionaries (common pattern!)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students = [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{"name": "Alice", "grade": 92},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{"name": "Bob",   "grade": 85},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{"name": "Carol", "grade": 97},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]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Access nested data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print(students[0]["name"])   # "Alice"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print(students[2]["grade"])  # 97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Loop through list of dicts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for student in students: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print(f"{student['name']}: {student['grade']}")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Dictionary of lists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gradebook = {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"Alice": [90, 85, 92],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"Bob":   [78, 82, 80],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}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print(sum(gradebook["Alice"]) / len(gradebook["Alice"]))  # Average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🎯 Practice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70C0"/>
                </a:solidFill>
              </a:rPr>
              <a:t>Exercise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105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44444"/>
                </a:solidFill>
              </a:rPr>
              <a:t>Create a list of 5 of your favorite movies. Print them numbered (1. Movie Name).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048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70C0"/>
                </a:solidFill>
              </a:rPr>
              <a:t>Exercise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523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44444"/>
                </a:solidFill>
              </a:rPr>
              <a:t>Use a list comprehension to create a list of all numbers divisible by 3 between 1 and 50.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4670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70C0"/>
                </a:solidFill>
              </a:rPr>
              <a:t>Exercise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9417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44444"/>
                </a:solidFill>
              </a:rPr>
              <a:t>Create a dictionary for a contact (name, phone, email, city). Print each field on its own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885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70C0"/>
                </a:solidFill>
              </a:rPr>
              <a:t>Exercise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360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44444"/>
                </a:solidFill>
              </a:rPr>
              <a:t>Given scores = [78, 92, 85, 90, 88, 76], calculate the average without using sum() (use a loop).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70C0"/>
                </a:solidFill>
              </a:rPr>
              <a:t>Exercise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44444"/>
                </a:solidFill>
              </a:rPr>
              <a:t>Write a function most_common(lst) that returns the most frequent item in a list.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📝 Assignment 4: Student Gradebook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55612"/>
                </a:solidFill>
              </a:rPr>
              <a:t>Due: Before Session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Create a program that: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  1. Stores student names and their grades in a dictionary</a:t>
            </a:r>
          </a:p>
          <a:p>
            <a:r>
              <a:rPr sz="1700">
                <a:solidFill>
                  <a:srgbClr val="444444"/>
                </a:solidFill>
              </a:rPr>
              <a:t>  2. Lets the user: add a student, view all students, look up a student's grade, calculate the class average</a:t>
            </a:r>
          </a:p>
          <a:p>
            <a:r>
              <a:rPr sz="1700">
                <a:solidFill>
                  <a:srgbClr val="444444"/>
                </a:solidFill>
              </a:rPr>
              <a:t>  3. Uses a menu-driven loop</a:t>
            </a:r>
          </a:p>
          <a:p>
            <a:r>
              <a:rPr sz="1700">
                <a:solidFill>
                  <a:srgbClr val="444444"/>
                </a:solidFill>
              </a:rPr>
              <a:t>  4. Validates user input (what if the student doesn't exist?)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0C0"/>
                </a:solidFill>
              </a:rPr>
              <a:t>⭐ Bonus: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44444"/>
                </a:solidFill>
              </a:rPr>
              <a:t>  • Store multiple grades per student (dict of lists)</a:t>
            </a:r>
          </a:p>
          <a:p>
            <a:r>
              <a:rPr sz="1600">
                <a:solidFill>
                  <a:srgbClr val="444444"/>
                </a:solidFill>
              </a:rPr>
              <a:t>  • Find highest/lowest scoring student</a:t>
            </a:r>
          </a:p>
          <a:p>
            <a:r>
              <a:rPr sz="1600">
                <a:solidFill>
                  <a:srgbClr val="444444"/>
                </a:solidFill>
              </a:rPr>
              <a:t>  • Show a grade distribution (A/B/C/D/F count)</a:t>
            </a:r>
          </a:p>
          <a:p>
            <a:r>
              <a:rPr sz="1600">
                <a:solidFill>
                  <a:srgbClr val="444444"/>
                </a:solidFill>
              </a:rPr>
              <a:t>  • Allow removing a student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44444"/>
                </a:solidFill>
              </a:rPr>
              <a:t>📁 Start with: starter-code/assignment4_starter.py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44444"/>
                </a:solidFill>
              </a:rPr>
              <a:t>📄 Full details: assignments/assignment4_gradebook.md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🎉 Session 4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>
                <a:solidFill>
                  <a:srgbClr val="1F3964"/>
                </a:solidFill>
              </a:rPr>
              <a:t>  ✅  Lists: creation, indexing, slicing, methods</a:t>
            </a:r>
          </a:p>
          <a:p>
            <a:r>
              <a:rPr sz="2100">
                <a:solidFill>
                  <a:srgbClr val="1F3964"/>
                </a:solidFill>
              </a:rPr>
              <a:t>  ✅  Looping through lists with for and enumerate()</a:t>
            </a:r>
          </a:p>
          <a:p>
            <a:r>
              <a:rPr sz="2100">
                <a:solidFill>
                  <a:srgbClr val="1F3964"/>
                </a:solidFill>
              </a:rPr>
              <a:t>  ✅  List comprehensions for concise list creation</a:t>
            </a:r>
          </a:p>
          <a:p>
            <a:r>
              <a:rPr sz="2100">
                <a:solidFill>
                  <a:srgbClr val="1F3964"/>
                </a:solidFill>
              </a:rPr>
              <a:t>  ✅  Tuples: immutable, use for fixed data</a:t>
            </a:r>
          </a:p>
          <a:p>
            <a:r>
              <a:rPr sz="2100">
                <a:solidFill>
                  <a:srgbClr val="1F3964"/>
                </a:solidFill>
              </a:rPr>
              <a:t>  ✅  Dictionaries: key-value pairs, CRUD operations</a:t>
            </a:r>
          </a:p>
          <a:p>
            <a:r>
              <a:rPr sz="2100">
                <a:solidFill>
                  <a:srgbClr val="1F3964"/>
                </a:solidFill>
              </a:rPr>
              <a:t>  ✅  Iterating dicts with .keys(), .values(), .items()</a:t>
            </a:r>
          </a:p>
          <a:p>
            <a:r>
              <a:rPr sz="2100">
                <a:solidFill>
                  <a:srgbClr val="1F3964"/>
                </a:solidFill>
              </a:rPr>
              <a:t>  ✅  Nested structures: list of dicts, dict of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C0"/>
                </a:solidFill>
              </a:rPr>
              <a:t>See you in Session 5 — the final session!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