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74" r:id="rId9"/>
    <p:sldId id="276" r:id="rId10"/>
    <p:sldId id="275" r:id="rId11"/>
    <p:sldId id="277" r:id="rId12"/>
    <p:sldId id="278" r:id="rId13"/>
    <p:sldId id="268" r:id="rId14"/>
    <p:sldId id="283" r:id="rId15"/>
    <p:sldId id="264" r:id="rId16"/>
    <p:sldId id="265" r:id="rId17"/>
    <p:sldId id="263" r:id="rId18"/>
    <p:sldId id="284" r:id="rId19"/>
    <p:sldId id="285" r:id="rId20"/>
    <p:sldId id="267" r:id="rId21"/>
    <p:sldId id="266" r:id="rId22"/>
    <p:sldId id="280" r:id="rId23"/>
    <p:sldId id="273" r:id="rId24"/>
    <p:sldId id="281" r:id="rId25"/>
    <p:sldId id="287" r:id="rId26"/>
    <p:sldId id="282" r:id="rId27"/>
    <p:sldId id="288" r:id="rId28"/>
    <p:sldId id="289" r:id="rId29"/>
    <p:sldId id="269" r:id="rId30"/>
    <p:sldId id="270" r:id="rId31"/>
    <p:sldId id="272" r:id="rId32"/>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82C34"/>
    <a:srgbClr val="0070C0"/>
    <a:srgbClr val="1F3964"/>
    <a:srgbClr val="1E1E1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293" autoAdjust="0"/>
  </p:normalViewPr>
  <p:slideViewPr>
    <p:cSldViewPr snapToGrid="0" snapToObjects="1">
      <p:cViewPr varScale="1">
        <p:scale>
          <a:sx n="131" d="100"/>
          <a:sy n="131" d="100"/>
        </p:scale>
        <p:origin x="1416"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35B96D-C2E4-4315-8A4B-2D29F17B7F6A}" type="datetimeFigureOut">
              <a:rPr lang="en-US" smtClean="0"/>
              <a:t>4/21/2026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A58271-BFEB-4F2D-99C4-070D6C5BEA32}" type="slidenum">
              <a:rPr lang="en-US" smtClean="0"/>
              <a:t>‹#›</a:t>
            </a:fld>
            <a:endParaRPr lang="en-US"/>
          </a:p>
        </p:txBody>
      </p:sp>
    </p:spTree>
    <p:extLst>
      <p:ext uri="{BB962C8B-B14F-4D97-AF65-F5344CB8AC3E}">
        <p14:creationId xmlns:p14="http://schemas.microsoft.com/office/powerpoint/2010/main" val="715940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google.com/search?q=PEMDAS&amp;oq=PEMDAS+%2F+BODMAS&amp;gs_lcrp=EgZjaHJvbWUyBggAEEUYOTIICAEQABgWGB4yCAgCEAAYFhgeMggIAxAAGBYYHjIICAQQABgWGB4yCAgFEAAYFhgeMggIBhAAGBYYHjIKCAcQABgKGBYYHjIICAgQABgWGB4yCAgJEAAYFhge0gEIMTA0N2owajeoAgCwAgA&amp;sourceid=chrome&amp;ie=UTF-8&amp;ved=2ahUKEwjh3frm4v6TAxV-3gIHHdgcCSAQgK4QegYIAQgAEAk" TargetMode="External"/><Relationship Id="rId2" Type="http://schemas.openxmlformats.org/officeDocument/2006/relationships/slide" Target="../slides/slide15.xml"/><Relationship Id="rId1" Type="http://schemas.openxmlformats.org/officeDocument/2006/relationships/notesMaster" Target="../notesMasters/notesMaster1.xml"/><Relationship Id="rId4" Type="http://schemas.openxmlformats.org/officeDocument/2006/relationships/hyperlink" Target="https://www.google.com/search?q=BODMAS&amp;oq=PEMDAS+%2F+BODMAS&amp;gs_lcrp=EgZjaHJvbWUyBggAEEUYOTIICAEQABgWGB4yCAgCEAAYFhgeMggIAxAAGBYYHjIICAQQABgWGB4yCAgFEAAYFhgeMggIBhAAGBYYHjIKCAcQABgKGBYYHjIICAgQABgWGB4yCAgJEAAYFhge0gEIMTA0N2owajeoAgCwAgA&amp;sourceid=chrome&amp;ie=UTF-8&amp;ved=2ahUKEwjh3frm4v6TAxV-3gIHHdgcCSAQgK4QegYIAQgAEAs"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Question 1</a:t>
            </a:r>
          </a:p>
          <a:p>
            <a:r>
              <a:rPr lang="en-US" sz="1200" b="0" kern="1200" dirty="0">
                <a:solidFill>
                  <a:schemeClr val="tx1"/>
                </a:solidFill>
                <a:effectLst/>
                <a:latin typeface="+mn-lt"/>
                <a:ea typeface="+mn-ea"/>
                <a:cs typeface="+mn-cs"/>
              </a:rPr>
              <a:t>What best describes programming as a process?</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pPr marL="228600" indent="-228600">
              <a:buFont typeface="+mj-lt"/>
              <a:buAutoNum type="arabicPeriod"/>
            </a:pPr>
            <a:r>
              <a:rPr lang="en-US" sz="1200" b="0" kern="1200" dirty="0">
                <a:solidFill>
                  <a:schemeClr val="tx1"/>
                </a:solidFill>
                <a:effectLst/>
                <a:latin typeface="+mn-lt"/>
                <a:ea typeface="+mn-ea"/>
                <a:cs typeface="+mn-cs"/>
              </a:rPr>
              <a:t>A physical activity involving hardware manipulation</a:t>
            </a:r>
          </a:p>
          <a:p>
            <a:pPr marL="228600" indent="-228600">
              <a:buFont typeface="+mj-lt"/>
              <a:buAutoNum type="arabicPeriod"/>
            </a:pPr>
            <a:r>
              <a:rPr lang="en-US" sz="1200" b="0" kern="1200" dirty="0">
                <a:solidFill>
                  <a:schemeClr val="tx1"/>
                </a:solidFill>
                <a:effectLst/>
                <a:latin typeface="+mn-lt"/>
                <a:ea typeface="+mn-ea"/>
                <a:cs typeface="+mn-cs"/>
              </a:rPr>
              <a:t>A random set of commands given to a computer</a:t>
            </a:r>
          </a:p>
          <a:p>
            <a:pPr marL="228600" indent="-228600">
              <a:buFont typeface="+mj-lt"/>
              <a:buAutoNum type="arabicPeriod"/>
            </a:pPr>
            <a:r>
              <a:rPr lang="en-US" sz="1200" b="0" kern="1200" dirty="0">
                <a:solidFill>
                  <a:schemeClr val="tx1"/>
                </a:solidFill>
                <a:effectLst/>
                <a:latin typeface="+mn-lt"/>
                <a:ea typeface="+mn-ea"/>
                <a:cs typeface="+mn-cs"/>
              </a:rPr>
              <a:t>A sequence of instructions executed by a computer</a:t>
            </a:r>
          </a:p>
          <a:p>
            <a:pPr marL="228600" indent="-228600">
              <a:buFont typeface="+mj-lt"/>
              <a:buAutoNum type="arabicPeriod"/>
            </a:pPr>
            <a:r>
              <a:rPr lang="en-US" sz="1200" b="0" kern="1200" dirty="0">
                <a:solidFill>
                  <a:schemeClr val="tx1"/>
                </a:solidFill>
                <a:effectLst/>
                <a:latin typeface="+mn-lt"/>
                <a:ea typeface="+mn-ea"/>
                <a:cs typeface="+mn-cs"/>
              </a:rPr>
              <a:t>A language only understood by humans</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Question 2</a:t>
            </a:r>
          </a:p>
          <a:p>
            <a:r>
              <a:rPr lang="en-US" sz="1200" b="0" kern="1200" dirty="0">
                <a:solidFill>
                  <a:schemeClr val="tx1"/>
                </a:solidFill>
                <a:effectLst/>
                <a:latin typeface="+mn-lt"/>
                <a:ea typeface="+mn-ea"/>
                <a:cs typeface="+mn-cs"/>
              </a:rPr>
              <a:t>What is the role of main memory in a computer's hardware architecture?</a:t>
            </a:r>
          </a:p>
          <a:p>
            <a:endParaRPr lang="en-US" sz="1200" b="0" kern="1200" dirty="0">
              <a:solidFill>
                <a:schemeClr val="tx1"/>
              </a:solidFill>
              <a:effectLst/>
              <a:latin typeface="+mn-lt"/>
              <a:ea typeface="+mn-ea"/>
              <a:cs typeface="+mn-cs"/>
            </a:endParaRPr>
          </a:p>
          <a:p>
            <a:pPr marL="228600" indent="-228600">
              <a:buFont typeface="+mj-lt"/>
              <a:buAutoNum type="arabicPeriod"/>
            </a:pPr>
            <a:r>
              <a:rPr lang="en-US" sz="1200" b="0" kern="1200" dirty="0">
                <a:solidFill>
                  <a:schemeClr val="tx1"/>
                </a:solidFill>
                <a:effectLst/>
                <a:latin typeface="+mn-lt"/>
                <a:ea typeface="+mn-ea"/>
                <a:cs typeface="+mn-cs"/>
              </a:rPr>
              <a:t>To execute instructions</a:t>
            </a:r>
          </a:p>
          <a:p>
            <a:pPr marL="228600" indent="-228600">
              <a:buFont typeface="+mj-lt"/>
              <a:buAutoNum type="arabicPeriod"/>
            </a:pPr>
            <a:r>
              <a:rPr lang="en-US" sz="1200" b="0" kern="1200" dirty="0">
                <a:solidFill>
                  <a:schemeClr val="tx1"/>
                </a:solidFill>
                <a:effectLst/>
                <a:latin typeface="+mn-lt"/>
                <a:ea typeface="+mn-ea"/>
                <a:cs typeface="+mn-cs"/>
              </a:rPr>
              <a:t>To permanently store data files and applications</a:t>
            </a:r>
          </a:p>
          <a:p>
            <a:pPr marL="228600" indent="-228600">
              <a:buFont typeface="+mj-lt"/>
              <a:buAutoNum type="arabicPeriod"/>
            </a:pPr>
            <a:r>
              <a:rPr lang="en-US" sz="1200" b="0" kern="1200" dirty="0">
                <a:solidFill>
                  <a:schemeClr val="tx1"/>
                </a:solidFill>
                <a:effectLst/>
                <a:latin typeface="+mn-lt"/>
                <a:ea typeface="+mn-ea"/>
                <a:cs typeface="+mn-cs"/>
              </a:rPr>
              <a:t>To store data that is actively being used by the CPU</a:t>
            </a:r>
          </a:p>
          <a:p>
            <a:pPr marL="228600" indent="-228600">
              <a:buFont typeface="+mj-lt"/>
              <a:buAutoNum type="arabicPeriod"/>
            </a:pPr>
            <a:r>
              <a:rPr lang="en-US" sz="1200" b="0" kern="1200" dirty="0">
                <a:solidFill>
                  <a:schemeClr val="tx1"/>
                </a:solidFill>
                <a:effectLst/>
                <a:latin typeface="+mn-lt"/>
                <a:ea typeface="+mn-ea"/>
                <a:cs typeface="+mn-cs"/>
              </a:rPr>
              <a:t>To connect the CPU to external devices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Question 3</a:t>
            </a:r>
          </a:p>
          <a:p>
            <a:r>
              <a:rPr lang="en-US" sz="1200" b="0" kern="1200" dirty="0">
                <a:solidFill>
                  <a:schemeClr val="tx1"/>
                </a:solidFill>
                <a:effectLst/>
                <a:latin typeface="+mn-lt"/>
                <a:ea typeface="+mn-ea"/>
                <a:cs typeface="+mn-cs"/>
              </a:rPr>
              <a:t>What is one common challenge beginners face when learning Python?</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pPr marL="228600" indent="-228600">
              <a:buFont typeface="+mj-lt"/>
              <a:buAutoNum type="arabicPeriod"/>
            </a:pPr>
            <a:r>
              <a:rPr lang="en-US" sz="1200" b="0" kern="1200" dirty="0">
                <a:solidFill>
                  <a:schemeClr val="tx1"/>
                </a:solidFill>
                <a:effectLst/>
                <a:latin typeface="+mn-lt"/>
                <a:ea typeface="+mn-ea"/>
                <a:cs typeface="+mn-cs"/>
              </a:rPr>
              <a:t>Configuring Python to run on a quantum computer</a:t>
            </a:r>
          </a:p>
          <a:p>
            <a:pPr marL="228600" indent="-228600">
              <a:buFont typeface="+mj-lt"/>
              <a:buAutoNum type="arabicPeriod"/>
            </a:pPr>
            <a:r>
              <a:rPr lang="en-US" sz="1200" b="0" kern="1200" dirty="0">
                <a:solidFill>
                  <a:schemeClr val="tx1"/>
                </a:solidFill>
                <a:effectLst/>
                <a:latin typeface="+mn-lt"/>
                <a:ea typeface="+mn-ea"/>
                <a:cs typeface="+mn-cs"/>
              </a:rPr>
              <a:t>Understanding indentation and its role in Python syntax</a:t>
            </a:r>
          </a:p>
          <a:p>
            <a:pPr marL="228600" indent="-228600">
              <a:buFont typeface="+mj-lt"/>
              <a:buAutoNum type="arabicPeriod"/>
            </a:pPr>
            <a:r>
              <a:rPr lang="en-US" sz="1200" b="0" kern="1200" dirty="0">
                <a:solidFill>
                  <a:schemeClr val="tx1"/>
                </a:solidFill>
                <a:effectLst/>
                <a:latin typeface="+mn-lt"/>
                <a:ea typeface="+mn-ea"/>
                <a:cs typeface="+mn-cs"/>
              </a:rPr>
              <a:t>Writing code without using any variables</a:t>
            </a:r>
          </a:p>
          <a:p>
            <a:pPr marL="228600" indent="-228600">
              <a:buFont typeface="+mj-lt"/>
              <a:buAutoNum type="arabicPeriod"/>
            </a:pPr>
            <a:r>
              <a:rPr lang="en-US" sz="1200" b="0" kern="1200" dirty="0">
                <a:solidFill>
                  <a:schemeClr val="tx1"/>
                </a:solidFill>
                <a:effectLst/>
                <a:latin typeface="+mn-lt"/>
                <a:ea typeface="+mn-ea"/>
                <a:cs typeface="+mn-cs"/>
              </a:rPr>
              <a:t>Memorizing all Python libraries</a:t>
            </a:r>
          </a:p>
          <a:p>
            <a:endParaRPr lang="en-US" dirty="0"/>
          </a:p>
        </p:txBody>
      </p:sp>
      <p:sp>
        <p:nvSpPr>
          <p:cNvPr id="4" name="Slide Number Placeholder 3"/>
          <p:cNvSpPr>
            <a:spLocks noGrp="1"/>
          </p:cNvSpPr>
          <p:nvPr>
            <p:ph type="sldNum" sz="quarter" idx="5"/>
          </p:nvPr>
        </p:nvSpPr>
        <p:spPr/>
        <p:txBody>
          <a:bodyPr/>
          <a:lstStyle/>
          <a:p>
            <a:fld id="{9CA58271-BFEB-4F2D-99C4-070D6C5BEA32}" type="slidenum">
              <a:rPr lang="en-US" smtClean="0"/>
              <a:t>2</a:t>
            </a:fld>
            <a:endParaRPr lang="en-US"/>
          </a:p>
        </p:txBody>
      </p:sp>
    </p:spTree>
    <p:extLst>
      <p:ext uri="{BB962C8B-B14F-4D97-AF65-F5344CB8AC3E}">
        <p14:creationId xmlns:p14="http://schemas.microsoft.com/office/powerpoint/2010/main" val="3760122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 general-purpose language (GPL) is </a:t>
            </a:r>
            <a:r>
              <a:rPr lang="en-US" dirty="0"/>
              <a:t>a programming language designed to create software across a wide variety of application domains, rather than being limited to one specific area</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Unlike domain-specific languages (DSLs) like SQL or HTML, GPLs are versatile, offering general constructs to build applications such as web servers, desktop tools, and complex systems.</a:t>
            </a:r>
            <a:endParaRPr lang="en-US" dirty="0"/>
          </a:p>
        </p:txBody>
      </p:sp>
      <p:sp>
        <p:nvSpPr>
          <p:cNvPr id="4" name="Slide Number Placeholder 3"/>
          <p:cNvSpPr>
            <a:spLocks noGrp="1"/>
          </p:cNvSpPr>
          <p:nvPr>
            <p:ph type="sldNum" sz="quarter" idx="5"/>
          </p:nvPr>
        </p:nvSpPr>
        <p:spPr/>
        <p:txBody>
          <a:bodyPr/>
          <a:lstStyle/>
          <a:p>
            <a:fld id="{9CA58271-BFEB-4F2D-99C4-070D6C5BEA32}" type="slidenum">
              <a:rPr lang="en-US" smtClean="0"/>
              <a:t>3</a:t>
            </a:fld>
            <a:endParaRPr lang="en-US"/>
          </a:p>
        </p:txBody>
      </p:sp>
    </p:spTree>
    <p:extLst>
      <p:ext uri="{BB962C8B-B14F-4D97-AF65-F5344CB8AC3E}">
        <p14:creationId xmlns:p14="http://schemas.microsoft.com/office/powerpoint/2010/main" val="33957769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 Development: Python powers backend systems for websites. Frameworks such as Django and Flask allow for fast, secure development and handling of database interactions.</a:t>
            </a:r>
          </a:p>
          <a:p>
            <a:r>
              <a:rPr lang="en-US" dirty="0"/>
              <a:t>AI &amp; Machine Learning: Developers use Python to build artificial intelligence, machine learning models, and deep learning algorithms for tasks like predictions, object recognition, and natural language processing (NLP).</a:t>
            </a:r>
          </a:p>
          <a:p>
            <a:r>
              <a:rPr lang="en-US" dirty="0"/>
              <a:t>Data Analysis &amp; Visualization: Python is a dominant language in data science. It is used to analyze complex datasets, create visualizations (graphs, plots), and perform numerical calculations using libraries like NumPy and Pandas.</a:t>
            </a:r>
          </a:p>
          <a:p>
            <a:r>
              <a:rPr lang="en-US" dirty="0"/>
              <a:t>Game Development: While not used for heavy 3D titles, it’s great for 2D games and rapid prototyping with the </a:t>
            </a:r>
            <a:r>
              <a:rPr lang="en-US" dirty="0" err="1"/>
              <a:t>Pygame</a:t>
            </a:r>
            <a:r>
              <a:rPr lang="en-US" dirty="0"/>
              <a:t> library.</a:t>
            </a:r>
          </a:p>
          <a:p>
            <a:endParaRPr lang="en-US" dirty="0"/>
          </a:p>
          <a:p>
            <a:endParaRPr lang="en-US" dirty="0"/>
          </a:p>
          <a:p>
            <a:r>
              <a:rPr lang="en-US" dirty="0"/>
              <a:t>Real-World Examples</a:t>
            </a:r>
          </a:p>
          <a:p>
            <a:r>
              <a:rPr lang="en-US" dirty="0"/>
              <a:t>Field 	Real-World Use Case</a:t>
            </a:r>
          </a:p>
          <a:p>
            <a:r>
              <a:rPr lang="en-US" dirty="0"/>
              <a:t>Space	NASA uses it for data processing and astrophysics.</a:t>
            </a:r>
          </a:p>
          <a:p>
            <a:r>
              <a:rPr lang="en-US" dirty="0"/>
              <a:t>Finance	Banks use it for algorithmic trading and risk analysis.</a:t>
            </a:r>
          </a:p>
          <a:p>
            <a:r>
              <a:rPr lang="en-US" dirty="0"/>
              <a:t>VFX	Programs like Blender and DaVinci Resolve use it for scripting custom tools.</a:t>
            </a:r>
          </a:p>
          <a:p>
            <a:r>
              <a:rPr lang="en-US" dirty="0"/>
              <a:t>Cybersecurity	Used for ethical hacking, penetration testing, and digital forensics.</a:t>
            </a:r>
          </a:p>
          <a:p>
            <a:r>
              <a:rPr lang="en-US" dirty="0"/>
              <a:t>CERN               Scientists at the European Organization for Nuclear Research used Python to process data from the Large Hadron Collider, playing a key role in the discovery of the Higgs boson particle.</a:t>
            </a:r>
          </a:p>
          <a:p>
            <a:r>
              <a:rPr lang="en-US" dirty="0"/>
              <a:t>Medical           Pharmaceutical companies like AstraZeneca use Python to speed up drug discovery. Researchers at MIT recently used Python-based neural networks to discover a powerful new antibiotic named </a:t>
            </a:r>
            <a:r>
              <a:rPr lang="en-US" dirty="0" err="1"/>
              <a:t>Halicin</a:t>
            </a:r>
            <a:r>
              <a:rPr lang="en-US" dirty="0"/>
              <a:t>.</a:t>
            </a:r>
          </a:p>
          <a:p>
            <a:endParaRPr lang="en-US" dirty="0"/>
          </a:p>
          <a:p>
            <a:endParaRPr lang="en-US" dirty="0"/>
          </a:p>
          <a:p>
            <a:r>
              <a:rPr lang="en-US" dirty="0"/>
              <a:t>Python is a highly versatile language, and there’s a lot you can do with it. However, you can’t do everything. There are things Python isn’t well-suited for.</a:t>
            </a:r>
          </a:p>
          <a:p>
            <a:r>
              <a:rPr lang="en-US" dirty="0"/>
              <a:t>As an interpreted language, Python has trouble interacting with low-level hardware. You’d have a problem if you wanted to write a device driver or an operating system with Python.</a:t>
            </a:r>
          </a:p>
          <a:p>
            <a:r>
              <a:rPr lang="en-US" dirty="0"/>
              <a:t>You’re better off sticking with C or C++ for low-level applications.</a:t>
            </a:r>
          </a:p>
          <a:p>
            <a:endParaRPr lang="en-US" dirty="0"/>
          </a:p>
          <a:p>
            <a:r>
              <a:rPr lang="en-US" sz="1200" b="0" i="0" kern="1200" dirty="0">
                <a:solidFill>
                  <a:schemeClr val="tx1"/>
                </a:solidFill>
                <a:effectLst/>
                <a:latin typeface="+mn-lt"/>
                <a:ea typeface="+mn-ea"/>
                <a:cs typeface="+mn-cs"/>
              </a:rPr>
              <a:t>To learn Python effectively, focus on </a:t>
            </a:r>
            <a:r>
              <a:rPr lang="en-US" sz="1200" b="1" i="0" kern="1200" dirty="0">
                <a:solidFill>
                  <a:schemeClr val="tx1"/>
                </a:solidFill>
                <a:effectLst/>
                <a:latin typeface="+mn-lt"/>
                <a:ea typeface="+mn-ea"/>
                <a:cs typeface="+mn-cs"/>
              </a:rPr>
              <a:t>fundamental programming principles</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basic syntax</a:t>
            </a:r>
            <a:r>
              <a:rPr lang="en-US" sz="1200" b="0" i="0" kern="1200" dirty="0">
                <a:solidFill>
                  <a:schemeClr val="tx1"/>
                </a:solidFill>
                <a:effectLst/>
                <a:latin typeface="+mn-lt"/>
                <a:ea typeface="+mn-ea"/>
                <a:cs typeface="+mn-cs"/>
              </a:rPr>
              <a:t> first. Decide if your goal is general programming, data science, or web development, as this will guide your course choice. Beginners should start with </a:t>
            </a:r>
            <a:r>
              <a:rPr lang="en-US" sz="1200" b="1" i="0" kern="1200" dirty="0">
                <a:solidFill>
                  <a:schemeClr val="tx1"/>
                </a:solidFill>
                <a:effectLst/>
                <a:latin typeface="+mn-lt"/>
                <a:ea typeface="+mn-ea"/>
                <a:cs typeface="+mn-cs"/>
              </a:rPr>
              <a:t>introductory courses</a:t>
            </a:r>
            <a:r>
              <a:rPr lang="en-US" sz="1200" b="0" i="0" kern="1200" dirty="0">
                <a:solidFill>
                  <a:schemeClr val="tx1"/>
                </a:solidFill>
                <a:effectLst/>
                <a:latin typeface="+mn-lt"/>
                <a:ea typeface="+mn-ea"/>
                <a:cs typeface="+mn-cs"/>
              </a:rPr>
              <a:t> that cover core concepts like variables, control flow, and functions. If you aim to use Python for data analysis or AI, build foundational skills in data handling and libraries. Consider your available time and preferred learning style to pick a course that fits your schedule and depth of study. To learn Python effectively, focus on fundamental programming principles and basic syntax first. Decide if your goal is general programming, data science, or web development, as this will guide your course choice. Beginners should start with introductory courses that cover core concepts like variables, control flow, and functions. If you aim to use Python for data analysis or AI, build foundational skills in data handling and libraries. Consider your available time and preferred learning style to pick a course that fits your schedule and depth of study.</a:t>
            </a:r>
            <a:endParaRPr lang="en-US" dirty="0"/>
          </a:p>
          <a:p>
            <a:endParaRPr lang="en-US" dirty="0"/>
          </a:p>
          <a:p>
            <a:r>
              <a:rPr lang="en-US" dirty="0"/>
              <a:t>However, even that might not be true for much longer. </a:t>
            </a:r>
          </a:p>
          <a:p>
            <a:r>
              <a:rPr lang="en-US" dirty="0"/>
              <a:t>As a testament to Python’s flexibility, there are people out there who are working on projects that extend Python’s usability to low-level interactions.</a:t>
            </a:r>
          </a:p>
          <a:p>
            <a:r>
              <a:rPr lang="en-US" dirty="0" err="1"/>
              <a:t>MicroPython</a:t>
            </a:r>
            <a:r>
              <a:rPr lang="en-US" dirty="0"/>
              <a:t> and </a:t>
            </a:r>
            <a:r>
              <a:rPr lang="en-US" dirty="0" err="1"/>
              <a:t>CircuitPython</a:t>
            </a:r>
            <a:r>
              <a:rPr lang="en-US" dirty="0"/>
              <a:t> are just some of these projects designing low-level capabilities for Python.</a:t>
            </a:r>
          </a:p>
        </p:txBody>
      </p:sp>
      <p:sp>
        <p:nvSpPr>
          <p:cNvPr id="4" name="Slide Number Placeholder 3"/>
          <p:cNvSpPr>
            <a:spLocks noGrp="1"/>
          </p:cNvSpPr>
          <p:nvPr>
            <p:ph type="sldNum" sz="quarter" idx="5"/>
          </p:nvPr>
        </p:nvSpPr>
        <p:spPr/>
        <p:txBody>
          <a:bodyPr/>
          <a:lstStyle/>
          <a:p>
            <a:fld id="{9CA58271-BFEB-4F2D-99C4-070D6C5BEA32}" type="slidenum">
              <a:rPr lang="en-US" smtClean="0"/>
              <a:t>4</a:t>
            </a:fld>
            <a:endParaRPr lang="en-US"/>
          </a:p>
        </p:txBody>
      </p:sp>
    </p:spTree>
    <p:extLst>
      <p:ext uri="{BB962C8B-B14F-4D97-AF65-F5344CB8AC3E}">
        <p14:creationId xmlns:p14="http://schemas.microsoft.com/office/powerpoint/2010/main" val="10600169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Popular IDEs and Editors</a:t>
            </a:r>
          </a:p>
          <a:p>
            <a:r>
              <a:rPr lang="en-US" dirty="0"/>
              <a:t>Visual Studio Code (VS Code): A highly popular, free, and open-source editor from Microsoft. It is lightweight but becomes a powerful IDE with the Python extension, which adds support for debugging, linting, and IntelliSense.</a:t>
            </a:r>
          </a:p>
          <a:p>
            <a:r>
              <a:rPr lang="en-US" dirty="0"/>
              <a:t>PyCharm: A dedicated Python IDE by JetBrains. The Community edition is free, while the Professional version includes tools for web frameworks like Django and Flask.</a:t>
            </a:r>
          </a:p>
          <a:p>
            <a:r>
              <a:rPr lang="en-US" dirty="0"/>
              <a:t>IDLE: The default, minimal IDE that comes bundled with Python installations. It is extremely lightweight and useful for quick scripts.</a:t>
            </a:r>
          </a:p>
        </p:txBody>
      </p:sp>
      <p:sp>
        <p:nvSpPr>
          <p:cNvPr id="4" name="Slide Number Placeholder 3"/>
          <p:cNvSpPr>
            <a:spLocks noGrp="1"/>
          </p:cNvSpPr>
          <p:nvPr>
            <p:ph type="sldNum" sz="quarter" idx="5"/>
          </p:nvPr>
        </p:nvSpPr>
        <p:spPr/>
        <p:txBody>
          <a:bodyPr/>
          <a:lstStyle/>
          <a:p>
            <a:fld id="{9CA58271-BFEB-4F2D-99C4-070D6C5BEA32}" type="slidenum">
              <a:rPr lang="en-US" smtClean="0"/>
              <a:t>5</a:t>
            </a:fld>
            <a:endParaRPr lang="en-US"/>
          </a:p>
        </p:txBody>
      </p:sp>
    </p:spTree>
    <p:extLst>
      <p:ext uri="{BB962C8B-B14F-4D97-AF65-F5344CB8AC3E}">
        <p14:creationId xmlns:p14="http://schemas.microsoft.com/office/powerpoint/2010/main" val="17305791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Interactive</a:t>
            </a:r>
          </a:p>
          <a:p>
            <a:r>
              <a:rPr lang="en-US" dirty="0"/>
              <a:t> -  You type directly to Python one line at a time and it responds</a:t>
            </a:r>
          </a:p>
          <a:p>
            <a:r>
              <a:rPr lang="en-US" dirty="0"/>
              <a:t>Script</a:t>
            </a:r>
          </a:p>
          <a:p>
            <a:r>
              <a:rPr lang="en-US" dirty="0"/>
              <a:t> -  You enter a sequence of statements (lines) into a file using a text  editor and tell Python to execute the statements in the file</a:t>
            </a:r>
          </a:p>
          <a:p>
            <a:endParaRPr lang="en-US" dirty="0"/>
          </a:p>
          <a:p>
            <a:endParaRPr lang="en-US" dirty="0"/>
          </a:p>
          <a:p>
            <a:r>
              <a:rPr lang="en-US" dirty="0"/>
              <a:t>Interactive Python is good for experiments and programs of 3-4 lines long.</a:t>
            </a:r>
          </a:p>
          <a:p>
            <a:r>
              <a:rPr lang="en-US" dirty="0"/>
              <a:t>Most programs are much longer, so we type them into a file and tell Python to run the commands in the file.</a:t>
            </a:r>
          </a:p>
          <a:p>
            <a:r>
              <a:rPr lang="en-US" dirty="0"/>
              <a:t>In a sense, we are “giving Python a script”.</a:t>
            </a:r>
          </a:p>
          <a:p>
            <a:r>
              <a:rPr lang="en-US" dirty="0"/>
              <a:t>As a convention, we add “.</a:t>
            </a:r>
            <a:r>
              <a:rPr lang="en-US" dirty="0" err="1"/>
              <a:t>py</a:t>
            </a:r>
            <a:r>
              <a:rPr lang="en-US" dirty="0"/>
              <a:t>” as the suffix on the end of these files to indicate they contain Python.</a:t>
            </a:r>
          </a:p>
          <a:p>
            <a:endParaRPr lang="en-US" dirty="0"/>
          </a:p>
          <a:p>
            <a:endParaRPr lang="en-US" dirty="0"/>
          </a:p>
          <a:p>
            <a:r>
              <a:rPr lang="en-US" dirty="0"/>
              <a:t>Great! Let's dive into The Programmer's Role. To start, what do you think a programmer does on a daily basis?</a:t>
            </a:r>
          </a:p>
          <a:p>
            <a:r>
              <a:rPr lang="en-US" sz="1200" b="0" i="0" kern="1200" dirty="0">
                <a:solidFill>
                  <a:schemeClr val="tx1"/>
                </a:solidFill>
                <a:effectLst/>
                <a:latin typeface="+mn-lt"/>
                <a:ea typeface="+mn-ea"/>
                <a:cs typeface="+mn-cs"/>
              </a:rPr>
              <a:t>Writing programs is definitely a core part of a programmer's job. But what else might they do besides just typing code?</a:t>
            </a:r>
          </a:p>
          <a:p>
            <a:r>
              <a:rPr lang="en-US" sz="1200" b="0" i="0" kern="1200" dirty="0">
                <a:solidFill>
                  <a:schemeClr val="tx1"/>
                </a:solidFill>
                <a:effectLst/>
                <a:latin typeface="+mn-lt"/>
                <a:ea typeface="+mn-ea"/>
                <a:cs typeface="+mn-cs"/>
              </a:rPr>
              <a:t>Think about the whole process of creating software or an application. What other activities might be involved?</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 crucial part of a programmer's work-&gt; the high-level design and structure of a system.</a:t>
            </a:r>
          </a:p>
          <a:p>
            <a:r>
              <a:rPr lang="en-US" sz="1200" b="0" i="0" kern="1200" dirty="0">
                <a:solidFill>
                  <a:schemeClr val="tx1"/>
                </a:solidFill>
                <a:effectLst/>
                <a:latin typeface="+mn-lt"/>
                <a:ea typeface="+mn-ea"/>
                <a:cs typeface="+mn-cs"/>
              </a:rPr>
              <a:t>Problem-solving is at the heart of what programmers do! They're constantly analyzing challenges and devising solutions.</a:t>
            </a:r>
          </a:p>
          <a:p>
            <a:endParaRPr lang="en-US" dirty="0"/>
          </a:p>
        </p:txBody>
      </p:sp>
      <p:sp>
        <p:nvSpPr>
          <p:cNvPr id="4" name="Slide Number Placeholder 3"/>
          <p:cNvSpPr>
            <a:spLocks noGrp="1"/>
          </p:cNvSpPr>
          <p:nvPr>
            <p:ph type="sldNum" sz="quarter" idx="5"/>
          </p:nvPr>
        </p:nvSpPr>
        <p:spPr/>
        <p:txBody>
          <a:bodyPr/>
          <a:lstStyle/>
          <a:p>
            <a:fld id="{9CA58271-BFEB-4F2D-99C4-070D6C5BEA32}" type="slidenum">
              <a:rPr lang="en-US" smtClean="0"/>
              <a:t>6</a:t>
            </a:fld>
            <a:endParaRPr lang="en-US"/>
          </a:p>
        </p:txBody>
      </p:sp>
    </p:spTree>
    <p:extLst>
      <p:ext uri="{BB962C8B-B14F-4D97-AF65-F5344CB8AC3E}">
        <p14:creationId xmlns:p14="http://schemas.microsoft.com/office/powerpoint/2010/main" val="23761025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dirty="0" err="1"/>
              <a:t>foobar</a:t>
            </a:r>
            <a:r>
              <a:rPr lang="en-US" dirty="0"/>
              <a:t>"  # a string literal</a:t>
            </a:r>
          </a:p>
          <a:p>
            <a:r>
              <a:rPr lang="en-US" dirty="0"/>
              <a:t>b"\0\0\7"  # a bytes literal </a:t>
            </a:r>
          </a:p>
          <a:p>
            <a:r>
              <a:rPr lang="en-US" dirty="0"/>
              <a:t>42  # an integer literal</a:t>
            </a:r>
          </a:p>
          <a:p>
            <a:r>
              <a:rPr lang="en-US" dirty="0"/>
              <a:t>7.0  # a float literal</a:t>
            </a:r>
          </a:p>
          <a:p>
            <a:r>
              <a:rPr lang="en-US" dirty="0"/>
              <a:t>16j  # an imaginary literal</a:t>
            </a:r>
          </a:p>
          <a:p>
            <a:r>
              <a:rPr lang="en-US" dirty="0"/>
              <a:t>True  # a </a:t>
            </a:r>
            <a:r>
              <a:rPr lang="en-US" dirty="0" err="1"/>
              <a:t>boolean</a:t>
            </a:r>
            <a:r>
              <a:rPr lang="en-US" dirty="0"/>
              <a:t> literal</a:t>
            </a:r>
          </a:p>
          <a:p>
            <a:r>
              <a:rPr lang="en-US" dirty="0"/>
              <a:t>None  # the None literal</a:t>
            </a:r>
          </a:p>
          <a:p>
            <a:r>
              <a:rPr lang="en-US" dirty="0"/>
              <a:t>[1, 2, 3]  # a list literal (made of integer literals)</a:t>
            </a:r>
          </a:p>
          <a:p>
            <a:r>
              <a:rPr lang="en-US" dirty="0"/>
              <a:t>('x', 'y', 'z')  # a tuple literal (made with string literals)</a:t>
            </a:r>
          </a:p>
          <a:p>
            <a:r>
              <a:rPr lang="en-US" dirty="0"/>
              <a:t>{ 'a': 1, 'b': 2 }  # a dictionary literal</a:t>
            </a:r>
          </a:p>
          <a:p>
            <a:r>
              <a:rPr lang="en-US" dirty="0"/>
              <a:t>{ 1, 2, 3 }  # a set literal</a:t>
            </a:r>
          </a:p>
          <a:p>
            <a:endParaRPr lang="en-US" dirty="0"/>
          </a:p>
          <a:p>
            <a:r>
              <a:rPr lang="en-US" sz="1200" b="0" kern="1200" dirty="0">
                <a:solidFill>
                  <a:schemeClr val="tx1"/>
                </a:solidFill>
                <a:effectLst/>
                <a:latin typeface="+mn-lt"/>
                <a:ea typeface="+mn-ea"/>
                <a:cs typeface="+mn-cs"/>
              </a:rPr>
              <a:t>print(255)</a:t>
            </a:r>
          </a:p>
          <a:p>
            <a:r>
              <a:rPr lang="en-US" sz="1200" b="0" kern="1200" dirty="0">
                <a:solidFill>
                  <a:schemeClr val="tx1"/>
                </a:solidFill>
                <a:effectLst/>
                <a:latin typeface="+mn-lt"/>
                <a:ea typeface="+mn-ea"/>
                <a:cs typeface="+mn-cs"/>
              </a:rPr>
              <a:t>print(0b11111111)</a:t>
            </a:r>
          </a:p>
          <a:p>
            <a:r>
              <a:rPr lang="en-US" sz="1200" b="0" kern="1200" dirty="0">
                <a:solidFill>
                  <a:schemeClr val="tx1"/>
                </a:solidFill>
                <a:effectLst/>
                <a:latin typeface="+mn-lt"/>
                <a:ea typeface="+mn-ea"/>
                <a:cs typeface="+mn-cs"/>
              </a:rPr>
              <a:t>print(0o377)</a:t>
            </a:r>
          </a:p>
          <a:p>
            <a:r>
              <a:rPr lang="en-US" sz="1200" b="0" kern="1200" dirty="0">
                <a:solidFill>
                  <a:schemeClr val="tx1"/>
                </a:solidFill>
                <a:effectLst/>
                <a:latin typeface="+mn-lt"/>
                <a:ea typeface="+mn-ea"/>
                <a:cs typeface="+mn-cs"/>
              </a:rPr>
              <a:t>print(0xFF)</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print(10_000_000)</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print(7.5)</a:t>
            </a:r>
          </a:p>
          <a:p>
            <a:r>
              <a:rPr lang="en-US" sz="1200" b="0" kern="1200" dirty="0">
                <a:solidFill>
                  <a:schemeClr val="tx1"/>
                </a:solidFill>
                <a:effectLst/>
                <a:latin typeface="+mn-lt"/>
                <a:ea typeface="+mn-ea"/>
                <a:cs typeface="+mn-cs"/>
              </a:rPr>
              <a:t>print(1.0e-3)</a:t>
            </a:r>
          </a:p>
          <a:p>
            <a:r>
              <a:rPr lang="en-US" sz="1200" b="0" kern="1200" dirty="0">
                <a:solidFill>
                  <a:schemeClr val="tx1"/>
                </a:solidFill>
                <a:effectLst/>
                <a:latin typeface="+mn-lt"/>
                <a:ea typeface="+mn-ea"/>
                <a:cs typeface="+mn-cs"/>
              </a:rPr>
              <a:t>print(3 + 4j)</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print([1, 2, 3])</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print(True)</a:t>
            </a:r>
          </a:p>
          <a:p>
            <a:r>
              <a:rPr lang="en-US" sz="1200" b="0" kern="1200" dirty="0">
                <a:solidFill>
                  <a:schemeClr val="tx1"/>
                </a:solidFill>
                <a:effectLst/>
                <a:latin typeface="+mn-lt"/>
                <a:ea typeface="+mn-ea"/>
                <a:cs typeface="+mn-cs"/>
              </a:rPr>
              <a:t>print(False)</a:t>
            </a:r>
          </a:p>
          <a:p>
            <a:r>
              <a:rPr lang="en-US" sz="1200" b="0" kern="1200" dirty="0">
                <a:solidFill>
                  <a:schemeClr val="tx1"/>
                </a:solidFill>
                <a:effectLst/>
                <a:latin typeface="+mn-lt"/>
                <a:ea typeface="+mn-ea"/>
                <a:cs typeface="+mn-cs"/>
              </a:rPr>
              <a:t>print(None)</a:t>
            </a:r>
          </a:p>
          <a:p>
            <a:endParaRPr lang="en-US" dirty="0"/>
          </a:p>
        </p:txBody>
      </p:sp>
      <p:sp>
        <p:nvSpPr>
          <p:cNvPr id="4" name="Slide Number Placeholder 3"/>
          <p:cNvSpPr>
            <a:spLocks noGrp="1"/>
          </p:cNvSpPr>
          <p:nvPr>
            <p:ph type="sldNum" sz="quarter" idx="5"/>
          </p:nvPr>
        </p:nvSpPr>
        <p:spPr/>
        <p:txBody>
          <a:bodyPr/>
          <a:lstStyle/>
          <a:p>
            <a:fld id="{9CA58271-BFEB-4F2D-99C4-070D6C5BEA32}" type="slidenum">
              <a:rPr lang="en-US" smtClean="0"/>
              <a:t>7</a:t>
            </a:fld>
            <a:endParaRPr lang="en-US"/>
          </a:p>
        </p:txBody>
      </p:sp>
    </p:spTree>
    <p:extLst>
      <p:ext uri="{BB962C8B-B14F-4D97-AF65-F5344CB8AC3E}">
        <p14:creationId xmlns:p14="http://schemas.microsoft.com/office/powerpoint/2010/main" val="42083211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Snake case (</a:t>
            </a:r>
            <a:r>
              <a:rPr lang="en-US" dirty="0" err="1"/>
              <a:t>snake_case</a:t>
            </a:r>
            <a:r>
              <a:rPr lang="en-US" dirty="0"/>
              <a:t>) and camel case (camelCase) are popular naming conventions used to combine multiple words into a single identifier, as spaces are invalid in programming code.</a:t>
            </a:r>
          </a:p>
          <a:p>
            <a:r>
              <a:rPr lang="en-US" dirty="0"/>
              <a:t>Snake case uses underscores to separate words, favored in Python and Rust, while camel case capitalizes new words, common in JavaScript and Java. </a:t>
            </a:r>
          </a:p>
        </p:txBody>
      </p:sp>
      <p:sp>
        <p:nvSpPr>
          <p:cNvPr id="4" name="Slide Number Placeholder 3"/>
          <p:cNvSpPr>
            <a:spLocks noGrp="1"/>
          </p:cNvSpPr>
          <p:nvPr>
            <p:ph type="sldNum" sz="quarter" idx="5"/>
          </p:nvPr>
        </p:nvSpPr>
        <p:spPr/>
        <p:txBody>
          <a:bodyPr/>
          <a:lstStyle/>
          <a:p>
            <a:fld id="{9CA58271-BFEB-4F2D-99C4-070D6C5BEA32}" type="slidenum">
              <a:rPr lang="en-US" smtClean="0"/>
              <a:t>11</a:t>
            </a:fld>
            <a:endParaRPr lang="en-US"/>
          </a:p>
        </p:txBody>
      </p:sp>
    </p:spTree>
    <p:extLst>
      <p:ext uri="{BB962C8B-B14F-4D97-AF65-F5344CB8AC3E}">
        <p14:creationId xmlns:p14="http://schemas.microsoft.com/office/powerpoint/2010/main" val="11356432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3992B-B87A-A888-AA4B-21C555140C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D283D2-67A8-FE96-8DD2-F9A798085F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19006E-3DF3-3A7F-CA78-C1B64BDF82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7B616B-E10F-B595-8D40-2F7E54CCB61A}"/>
              </a:ext>
            </a:extLst>
          </p:cNvPr>
          <p:cNvSpPr>
            <a:spLocks noGrp="1"/>
          </p:cNvSpPr>
          <p:nvPr>
            <p:ph type="sldNum" sz="quarter" idx="5"/>
          </p:nvPr>
        </p:nvSpPr>
        <p:spPr/>
        <p:txBody>
          <a:bodyPr/>
          <a:lstStyle/>
          <a:p>
            <a:fld id="{9CA58271-BFEB-4F2D-99C4-070D6C5BEA32}" type="slidenum">
              <a:rPr lang="en-US" smtClean="0"/>
              <a:t>12</a:t>
            </a:fld>
            <a:endParaRPr lang="en-US"/>
          </a:p>
        </p:txBody>
      </p:sp>
    </p:spTree>
    <p:extLst>
      <p:ext uri="{BB962C8B-B14F-4D97-AF65-F5344CB8AC3E}">
        <p14:creationId xmlns:p14="http://schemas.microsoft.com/office/powerpoint/2010/main" val="6772203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E7978-27C2-F078-3C29-4F46DA3DD0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4D8216-B40A-BD2F-A6C5-E50DB7EDCE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383C0B-73A3-5573-E62A-6E802F23E3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6DBDFC-80BE-0B0A-4565-1AA4846CD3A5}"/>
              </a:ext>
            </a:extLst>
          </p:cNvPr>
          <p:cNvSpPr>
            <a:spLocks noGrp="1"/>
          </p:cNvSpPr>
          <p:nvPr>
            <p:ph type="sldNum" sz="quarter" idx="5"/>
          </p:nvPr>
        </p:nvSpPr>
        <p:spPr/>
        <p:txBody>
          <a:bodyPr/>
          <a:lstStyle/>
          <a:p>
            <a:fld id="{9CA58271-BFEB-4F2D-99C4-070D6C5BEA32}" type="slidenum">
              <a:rPr lang="en-US" smtClean="0"/>
              <a:t>14</a:t>
            </a:fld>
            <a:endParaRPr lang="en-US"/>
          </a:p>
        </p:txBody>
      </p:sp>
    </p:spTree>
    <p:extLst>
      <p:ext uri="{BB962C8B-B14F-4D97-AF65-F5344CB8AC3E}">
        <p14:creationId xmlns:p14="http://schemas.microsoft.com/office/powerpoint/2010/main" val="5264115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PEMDAS </a:t>
            </a:r>
            <a:r>
              <a:rPr lang="en-US" sz="1200" b="0" i="0" kern="1200" dirty="0" err="1">
                <a:solidFill>
                  <a:schemeClr val="tx1"/>
                </a:solidFill>
                <a:effectLst/>
                <a:latin typeface="+mn-lt"/>
                <a:ea typeface="+mn-ea"/>
                <a:cs typeface="+mn-cs"/>
              </a:rPr>
              <a:t>și</a:t>
            </a:r>
            <a:r>
              <a:rPr lang="en-US" sz="1200" b="0" i="0" kern="1200" dirty="0">
                <a:solidFill>
                  <a:schemeClr val="tx1"/>
                </a:solidFill>
                <a:effectLst/>
                <a:latin typeface="+mn-lt"/>
                <a:ea typeface="+mn-ea"/>
                <a:cs typeface="+mn-cs"/>
              </a:rPr>
              <a:t> BODMAS sunt </a:t>
            </a:r>
            <a:r>
              <a:rPr lang="en-US" sz="1200" b="0" i="0" kern="1200" dirty="0" err="1">
                <a:solidFill>
                  <a:schemeClr val="tx1"/>
                </a:solidFill>
                <a:effectLst/>
                <a:latin typeface="+mn-lt"/>
                <a:ea typeface="+mn-ea"/>
                <a:cs typeface="+mn-cs"/>
              </a:rPr>
              <a:t>acronime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utilizate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pentru</a:t>
            </a:r>
            <a:r>
              <a:rPr lang="en-US" sz="1200" b="0" i="0" kern="1200" dirty="0">
                <a:solidFill>
                  <a:schemeClr val="tx1"/>
                </a:solidFill>
                <a:effectLst/>
                <a:latin typeface="+mn-lt"/>
                <a:ea typeface="+mn-ea"/>
                <a:cs typeface="+mn-cs"/>
              </a:rPr>
              <a:t> a </a:t>
            </a:r>
            <a:r>
              <a:rPr lang="en-US" sz="1200" b="0" i="0" kern="1200" dirty="0" err="1">
                <a:solidFill>
                  <a:schemeClr val="tx1"/>
                </a:solidFill>
                <a:effectLst/>
                <a:latin typeface="+mn-lt"/>
                <a:ea typeface="+mn-ea"/>
                <a:cs typeface="+mn-cs"/>
              </a:rPr>
              <a:t>memora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ordinea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operațiilor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matematice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paranteze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exponenți</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puteri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înmulțire</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împărțire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adunare</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scădere</a:t>
            </a:r>
            <a:r>
              <a:rPr lang="en-US" sz="1200" b="0" i="0" kern="1200" dirty="0">
                <a:solidFill>
                  <a:schemeClr val="tx1"/>
                </a:solidFill>
                <a:effectLst/>
                <a:latin typeface="+mn-lt"/>
                <a:ea typeface="+mn-ea"/>
                <a:cs typeface="+mn-cs"/>
              </a:rPr>
              <a:t>).</a:t>
            </a:r>
          </a:p>
          <a:p>
            <a:r>
              <a:rPr lang="en-US" sz="1200" b="0" i="0" kern="1200" dirty="0" err="1">
                <a:solidFill>
                  <a:schemeClr val="tx1"/>
                </a:solidFill>
                <a:effectLst/>
                <a:latin typeface="+mn-lt"/>
                <a:ea typeface="+mn-ea"/>
                <a:cs typeface="+mn-cs"/>
              </a:rPr>
              <a:t>Deși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folosesc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termeni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diferiți</a:t>
            </a:r>
            <a:r>
              <a:rPr lang="en-US" sz="1200" b="0" i="0" kern="1200" dirty="0">
                <a:solidFill>
                  <a:schemeClr val="tx1"/>
                </a:solidFill>
                <a:effectLst/>
                <a:latin typeface="+mn-lt"/>
                <a:ea typeface="+mn-ea"/>
                <a:cs typeface="+mn-cs"/>
              </a:rPr>
              <a:t> (ex: </a:t>
            </a:r>
            <a:r>
              <a:rPr lang="en-US" sz="1200" b="0" i="0" kern="1200" dirty="0" err="1">
                <a:solidFill>
                  <a:schemeClr val="tx1"/>
                </a:solidFill>
                <a:effectLst/>
                <a:latin typeface="+mn-lt"/>
                <a:ea typeface="+mn-ea"/>
                <a:cs typeface="+mn-cs"/>
              </a:rPr>
              <a:t>Paranteze</a:t>
            </a:r>
            <a:r>
              <a:rPr lang="en-US" sz="1200" b="0" i="0" kern="1200" dirty="0">
                <a:solidFill>
                  <a:schemeClr val="tx1"/>
                </a:solidFill>
                <a:effectLst/>
                <a:latin typeface="+mn-lt"/>
                <a:ea typeface="+mn-ea"/>
                <a:cs typeface="+mn-cs"/>
              </a:rPr>
              <a:t> vs Brackets), </a:t>
            </a:r>
            <a:r>
              <a:rPr lang="en-US" sz="1200" b="0" i="0" kern="1200" dirty="0" err="1">
                <a:solidFill>
                  <a:schemeClr val="tx1"/>
                </a:solidFill>
                <a:effectLst/>
                <a:latin typeface="+mn-lt"/>
                <a:ea typeface="+mn-ea"/>
                <a:cs typeface="+mn-cs"/>
              </a:rPr>
              <a:t>ambele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urmează</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aceleași</a:t>
            </a:r>
            <a:r>
              <a:rPr lang="en-US" sz="1200" b="0" i="0" kern="1200" dirty="0">
                <a:solidFill>
                  <a:schemeClr val="tx1"/>
                </a:solidFill>
                <a:effectLst/>
                <a:latin typeface="+mn-lt"/>
                <a:ea typeface="+mn-ea"/>
                <a:cs typeface="+mn-cs"/>
              </a:rPr>
              <a:t> reguli </a:t>
            </a:r>
            <a:r>
              <a:rPr lang="en-US" sz="1200" b="0" i="0" kern="1200" dirty="0" err="1">
                <a:solidFill>
                  <a:schemeClr val="tx1"/>
                </a:solidFill>
                <a:effectLst/>
                <a:latin typeface="+mn-lt"/>
                <a:ea typeface="+mn-ea"/>
                <a:cs typeface="+mn-cs"/>
              </a:rPr>
              <a:t>fundamentale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operațiile</a:t>
            </a:r>
            <a:r>
              <a:rPr lang="en-US" sz="1200" b="0" i="0" kern="1200" dirty="0">
                <a:solidFill>
                  <a:schemeClr val="tx1"/>
                </a:solidFill>
                <a:effectLst/>
                <a:latin typeface="+mn-lt"/>
                <a:ea typeface="+mn-ea"/>
                <a:cs typeface="+mn-cs"/>
              </a:rPr>
              <a:t> de </a:t>
            </a:r>
            <a:r>
              <a:rPr lang="en-US" sz="1200" b="0" i="0" kern="1200" dirty="0" err="1">
                <a:solidFill>
                  <a:schemeClr val="tx1"/>
                </a:solidFill>
                <a:effectLst/>
                <a:latin typeface="+mn-lt"/>
                <a:ea typeface="+mn-ea"/>
                <a:cs typeface="+mn-cs"/>
              </a:rPr>
              <a:t>același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nivel</a:t>
            </a:r>
            <a:r>
              <a:rPr lang="en-US" sz="1200" b="0" i="0" kern="1200" dirty="0">
                <a:solidFill>
                  <a:schemeClr val="tx1"/>
                </a:solidFill>
                <a:effectLst/>
                <a:latin typeface="+mn-lt"/>
                <a:ea typeface="+mn-ea"/>
                <a:cs typeface="+mn-cs"/>
              </a:rPr>
              <a:t> se </a:t>
            </a:r>
            <a:r>
              <a:rPr lang="en-US" sz="1200" b="0" i="0" kern="1200" dirty="0" err="1">
                <a:solidFill>
                  <a:schemeClr val="tx1"/>
                </a:solidFill>
                <a:effectLst/>
                <a:latin typeface="+mn-lt"/>
                <a:ea typeface="+mn-ea"/>
                <a:cs typeface="+mn-cs"/>
              </a:rPr>
              <a:t>rezolvă</a:t>
            </a:r>
            <a:r>
              <a:rPr lang="en-US" sz="1200" b="0" i="0" kern="1200" dirty="0">
                <a:solidFill>
                  <a:schemeClr val="tx1"/>
                </a:solidFill>
                <a:effectLst/>
                <a:latin typeface="+mn-lt"/>
                <a:ea typeface="+mn-ea"/>
                <a:cs typeface="+mn-cs"/>
              </a:rPr>
              <a:t> de la </a:t>
            </a:r>
            <a:r>
              <a:rPr lang="en-US" sz="1200" b="0" i="0" kern="1200" dirty="0" err="1">
                <a:solidFill>
                  <a:schemeClr val="tx1"/>
                </a:solidFill>
                <a:effectLst/>
                <a:latin typeface="+mn-lt"/>
                <a:ea typeface="+mn-ea"/>
                <a:cs typeface="+mn-cs"/>
              </a:rPr>
              <a:t>stânga</a:t>
            </a:r>
            <a:r>
              <a:rPr lang="en-US" sz="1200" b="0" i="0" kern="1200" dirty="0">
                <a:solidFill>
                  <a:schemeClr val="tx1"/>
                </a:solidFill>
                <a:effectLst/>
                <a:latin typeface="+mn-lt"/>
                <a:ea typeface="+mn-ea"/>
                <a:cs typeface="+mn-cs"/>
              </a:rPr>
              <a:t> la </a:t>
            </a:r>
            <a:r>
              <a:rPr lang="en-US" sz="1200" b="0" i="0" kern="1200" dirty="0" err="1">
                <a:solidFill>
                  <a:schemeClr val="tx1"/>
                </a:solidFill>
                <a:effectLst/>
                <a:latin typeface="+mn-lt"/>
                <a:ea typeface="+mn-ea"/>
                <a:cs typeface="+mn-cs"/>
              </a:rPr>
              <a:t>dreapta</a:t>
            </a:r>
            <a:r>
              <a:rPr lang="en-US" sz="1200" b="0" i="0" kern="1200" dirty="0">
                <a:solidFill>
                  <a:schemeClr val="tx1"/>
                </a:solidFill>
                <a:effectLst/>
                <a:latin typeface="+mn-lt"/>
                <a:ea typeface="+mn-ea"/>
                <a:cs typeface="+mn-cs"/>
              </a:rPr>
              <a:t>. </a:t>
            </a:r>
          </a:p>
          <a:p>
            <a:r>
              <a:rPr lang="en-US" sz="1200" b="1" i="0" kern="1200" dirty="0">
                <a:solidFill>
                  <a:schemeClr val="tx1"/>
                </a:solidFill>
                <a:effectLst/>
                <a:latin typeface="+mn-lt"/>
                <a:ea typeface="+mn-ea"/>
                <a:cs typeface="+mn-cs"/>
              </a:rPr>
              <a:t>Ce </a:t>
            </a:r>
            <a:r>
              <a:rPr lang="en-US" sz="1200" b="1" i="0" kern="1200" dirty="0" err="1">
                <a:solidFill>
                  <a:schemeClr val="tx1"/>
                </a:solidFill>
                <a:effectLst/>
                <a:latin typeface="+mn-lt"/>
                <a:ea typeface="+mn-ea"/>
                <a:cs typeface="+mn-cs"/>
              </a:rPr>
              <a:t>înseamnă</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acronimele</a:t>
            </a:r>
            <a:r>
              <a:rPr lang="en-US" sz="1200" b="1" i="0" kern="120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hlinkClick r:id="rId3"/>
              </a:rPr>
              <a:t>PEMDAS</a:t>
            </a:r>
            <a:r>
              <a:rPr lang="en-US" sz="1200" b="1" i="0" kern="1200" dirty="0">
                <a:solidFill>
                  <a:schemeClr val="tx1"/>
                </a:solidFill>
                <a:effectLst/>
                <a:latin typeface="+mn-lt"/>
                <a:ea typeface="+mn-ea"/>
                <a:cs typeface="+mn-cs"/>
              </a:rPr>
              <a:t> (SUA/</a:t>
            </a:r>
            <a:r>
              <a:rPr lang="en-US" sz="1200" b="1" i="0" kern="1200" dirty="0" err="1">
                <a:solidFill>
                  <a:schemeClr val="tx1"/>
                </a:solidFill>
                <a:effectLst/>
                <a:latin typeface="+mn-lt"/>
                <a:ea typeface="+mn-ea"/>
                <a:cs typeface="+mn-cs"/>
              </a:rPr>
              <a:t>Franța</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P-</a:t>
            </a:r>
            <a:r>
              <a:rPr lang="en-US" sz="1200" b="0" i="0" kern="1200" dirty="0" err="1">
                <a:solidFill>
                  <a:schemeClr val="tx1"/>
                </a:solidFill>
                <a:effectLst/>
                <a:latin typeface="+mn-lt"/>
                <a:ea typeface="+mn-ea"/>
                <a:cs typeface="+mn-cs"/>
              </a:rPr>
              <a:t>Paranteze</a:t>
            </a:r>
            <a:r>
              <a:rPr lang="en-US" sz="1200" b="0" i="0" kern="1200" dirty="0">
                <a:solidFill>
                  <a:schemeClr val="tx1"/>
                </a:solidFill>
                <a:effectLst/>
                <a:latin typeface="+mn-lt"/>
                <a:ea typeface="+mn-ea"/>
                <a:cs typeface="+mn-cs"/>
              </a:rPr>
              <a:t>, E-</a:t>
            </a:r>
            <a:r>
              <a:rPr lang="en-US" sz="1200" b="0" i="0" kern="1200" dirty="0" err="1">
                <a:solidFill>
                  <a:schemeClr val="tx1"/>
                </a:solidFill>
                <a:effectLst/>
                <a:latin typeface="+mn-lt"/>
                <a:ea typeface="+mn-ea"/>
                <a:cs typeface="+mn-cs"/>
              </a:rPr>
              <a:t>Expoenți</a:t>
            </a:r>
            <a:r>
              <a:rPr lang="en-US" sz="1200" b="0" i="0" kern="1200" dirty="0">
                <a:solidFill>
                  <a:schemeClr val="tx1"/>
                </a:solidFill>
                <a:effectLst/>
                <a:latin typeface="+mn-lt"/>
                <a:ea typeface="+mn-ea"/>
                <a:cs typeface="+mn-cs"/>
              </a:rPr>
              <a:t>, M-</a:t>
            </a:r>
            <a:r>
              <a:rPr lang="en-US" sz="1200" b="0" i="0" kern="1200" dirty="0" err="1">
                <a:solidFill>
                  <a:schemeClr val="tx1"/>
                </a:solidFill>
                <a:effectLst/>
                <a:latin typeface="+mn-lt"/>
                <a:ea typeface="+mn-ea"/>
                <a:cs typeface="+mn-cs"/>
              </a:rPr>
              <a:t>Înmulțire</a:t>
            </a:r>
            <a:r>
              <a:rPr lang="en-US" sz="1200" b="0" i="0" kern="1200" dirty="0">
                <a:solidFill>
                  <a:schemeClr val="tx1"/>
                </a:solidFill>
                <a:effectLst/>
                <a:latin typeface="+mn-lt"/>
                <a:ea typeface="+mn-ea"/>
                <a:cs typeface="+mn-cs"/>
              </a:rPr>
              <a:t>, D-</a:t>
            </a:r>
            <a:r>
              <a:rPr lang="en-US" sz="1200" b="0" i="0" kern="1200" dirty="0" err="1">
                <a:solidFill>
                  <a:schemeClr val="tx1"/>
                </a:solidFill>
                <a:effectLst/>
                <a:latin typeface="+mn-lt"/>
                <a:ea typeface="+mn-ea"/>
                <a:cs typeface="+mn-cs"/>
              </a:rPr>
              <a:t>Împărțire</a:t>
            </a:r>
            <a:r>
              <a:rPr lang="en-US" sz="1200" b="0" i="0" kern="1200" dirty="0">
                <a:solidFill>
                  <a:schemeClr val="tx1"/>
                </a:solidFill>
                <a:effectLst/>
                <a:latin typeface="+mn-lt"/>
                <a:ea typeface="+mn-ea"/>
                <a:cs typeface="+mn-cs"/>
              </a:rPr>
              <a:t>, A-</a:t>
            </a:r>
            <a:r>
              <a:rPr lang="en-US" sz="1200" b="0" i="0" kern="1200" dirty="0" err="1">
                <a:solidFill>
                  <a:schemeClr val="tx1"/>
                </a:solidFill>
                <a:effectLst/>
                <a:latin typeface="+mn-lt"/>
                <a:ea typeface="+mn-ea"/>
                <a:cs typeface="+mn-cs"/>
              </a:rPr>
              <a:t>Adunare</a:t>
            </a:r>
            <a:r>
              <a:rPr lang="en-US" sz="1200" b="0" i="0" kern="1200" dirty="0">
                <a:solidFill>
                  <a:schemeClr val="tx1"/>
                </a:solidFill>
                <a:effectLst/>
                <a:latin typeface="+mn-lt"/>
                <a:ea typeface="+mn-ea"/>
                <a:cs typeface="+mn-cs"/>
              </a:rPr>
              <a:t>, S-</a:t>
            </a:r>
            <a:r>
              <a:rPr lang="en-US" sz="1200" b="0" i="0" kern="1200" dirty="0" err="1">
                <a:solidFill>
                  <a:schemeClr val="tx1"/>
                </a:solidFill>
                <a:effectLst/>
                <a:latin typeface="+mn-lt"/>
                <a:ea typeface="+mn-ea"/>
                <a:cs typeface="+mn-cs"/>
              </a:rPr>
              <a:t>Scădere</a:t>
            </a:r>
            <a:r>
              <a:rPr lang="en-US" sz="1200" b="0" i="0" kern="1200" dirty="0">
                <a:solidFill>
                  <a:schemeClr val="tx1"/>
                </a:solidFill>
                <a:effectLst/>
                <a:latin typeface="+mn-lt"/>
                <a:ea typeface="+mn-ea"/>
                <a:cs typeface="+mn-cs"/>
              </a:rPr>
              <a:t>.</a:t>
            </a:r>
          </a:p>
          <a:p>
            <a:r>
              <a:rPr lang="en-US" sz="1200" b="1" i="0" kern="1200" dirty="0">
                <a:solidFill>
                  <a:schemeClr val="tx1"/>
                </a:solidFill>
                <a:effectLst/>
                <a:latin typeface="+mn-lt"/>
                <a:ea typeface="+mn-ea"/>
                <a:cs typeface="+mn-cs"/>
                <a:hlinkClick r:id="rId4"/>
              </a:rPr>
              <a:t>BODMAS</a:t>
            </a:r>
            <a:r>
              <a:rPr lang="en-US" sz="1200" b="1" i="0" kern="1200" dirty="0">
                <a:solidFill>
                  <a:schemeClr val="tx1"/>
                </a:solidFill>
                <a:effectLst/>
                <a:latin typeface="+mn-lt"/>
                <a:ea typeface="+mn-ea"/>
                <a:cs typeface="+mn-cs"/>
              </a:rPr>
              <a:t> (UK/Commonwealth):</a:t>
            </a:r>
            <a:r>
              <a:rPr lang="en-US" sz="1200" b="0" i="0" kern="1200" dirty="0">
                <a:solidFill>
                  <a:schemeClr val="tx1"/>
                </a:solidFill>
                <a:effectLst/>
                <a:latin typeface="+mn-lt"/>
                <a:ea typeface="+mn-ea"/>
                <a:cs typeface="+mn-cs"/>
              </a:rPr>
              <a:t> B-Brackets (</a:t>
            </a:r>
            <a:r>
              <a:rPr lang="en-US" sz="1200" b="0" i="0" kern="1200" dirty="0" err="1">
                <a:solidFill>
                  <a:schemeClr val="tx1"/>
                </a:solidFill>
                <a:effectLst/>
                <a:latin typeface="+mn-lt"/>
                <a:ea typeface="+mn-ea"/>
                <a:cs typeface="+mn-cs"/>
              </a:rPr>
              <a:t>Paranteze</a:t>
            </a:r>
            <a:r>
              <a:rPr lang="en-US" sz="1200" b="0" i="0" kern="1200" dirty="0">
                <a:solidFill>
                  <a:schemeClr val="tx1"/>
                </a:solidFill>
                <a:effectLst/>
                <a:latin typeface="+mn-lt"/>
                <a:ea typeface="+mn-ea"/>
                <a:cs typeface="+mn-cs"/>
              </a:rPr>
              <a:t>), O-Orders (Puteri/</a:t>
            </a:r>
            <a:r>
              <a:rPr lang="en-US" sz="1200" b="0" i="0" kern="1200" dirty="0" err="1">
                <a:solidFill>
                  <a:schemeClr val="tx1"/>
                </a:solidFill>
                <a:effectLst/>
                <a:latin typeface="+mn-lt"/>
                <a:ea typeface="+mn-ea"/>
                <a:cs typeface="+mn-cs"/>
              </a:rPr>
              <a:t>Radicale</a:t>
            </a:r>
            <a:r>
              <a:rPr lang="en-US" sz="1200" b="0" i="0" kern="1200" dirty="0">
                <a:solidFill>
                  <a:schemeClr val="tx1"/>
                </a:solidFill>
                <a:effectLst/>
                <a:latin typeface="+mn-lt"/>
                <a:ea typeface="+mn-ea"/>
                <a:cs typeface="+mn-cs"/>
              </a:rPr>
              <a:t>), D-Division (</a:t>
            </a:r>
            <a:r>
              <a:rPr lang="en-US" sz="1200" b="0" i="0" kern="1200" dirty="0" err="1">
                <a:solidFill>
                  <a:schemeClr val="tx1"/>
                </a:solidFill>
                <a:effectLst/>
                <a:latin typeface="+mn-lt"/>
                <a:ea typeface="+mn-ea"/>
                <a:cs typeface="+mn-cs"/>
              </a:rPr>
              <a:t>Împărțire</a:t>
            </a:r>
            <a:r>
              <a:rPr lang="en-US" sz="1200" b="0" i="0" kern="1200" dirty="0">
                <a:solidFill>
                  <a:schemeClr val="tx1"/>
                </a:solidFill>
                <a:effectLst/>
                <a:latin typeface="+mn-lt"/>
                <a:ea typeface="+mn-ea"/>
                <a:cs typeface="+mn-cs"/>
              </a:rPr>
              <a:t>), M-Multiplication (</a:t>
            </a:r>
            <a:r>
              <a:rPr lang="en-US" sz="1200" b="0" i="0" kern="1200" dirty="0" err="1">
                <a:solidFill>
                  <a:schemeClr val="tx1"/>
                </a:solidFill>
                <a:effectLst/>
                <a:latin typeface="+mn-lt"/>
                <a:ea typeface="+mn-ea"/>
                <a:cs typeface="+mn-cs"/>
              </a:rPr>
              <a:t>Înmulțire</a:t>
            </a:r>
            <a:r>
              <a:rPr lang="en-US" sz="1200" b="0" i="0" kern="1200" dirty="0">
                <a:solidFill>
                  <a:schemeClr val="tx1"/>
                </a:solidFill>
                <a:effectLst/>
                <a:latin typeface="+mn-lt"/>
                <a:ea typeface="+mn-ea"/>
                <a:cs typeface="+mn-cs"/>
              </a:rPr>
              <a:t>), A-Addition (</a:t>
            </a:r>
            <a:r>
              <a:rPr lang="en-US" sz="1200" b="0" i="0" kern="1200" dirty="0" err="1">
                <a:solidFill>
                  <a:schemeClr val="tx1"/>
                </a:solidFill>
                <a:effectLst/>
                <a:latin typeface="+mn-lt"/>
                <a:ea typeface="+mn-ea"/>
                <a:cs typeface="+mn-cs"/>
              </a:rPr>
              <a:t>Adunare</a:t>
            </a:r>
            <a:r>
              <a:rPr lang="en-US" sz="1200" b="0" i="0" kern="1200" dirty="0">
                <a:solidFill>
                  <a:schemeClr val="tx1"/>
                </a:solidFill>
                <a:effectLst/>
                <a:latin typeface="+mn-lt"/>
                <a:ea typeface="+mn-ea"/>
                <a:cs typeface="+mn-cs"/>
              </a:rPr>
              <a:t>), S-Subtraction (</a:t>
            </a:r>
            <a:r>
              <a:rPr lang="en-US" sz="1200" b="0" i="0" kern="1200" dirty="0" err="1">
                <a:solidFill>
                  <a:schemeClr val="tx1"/>
                </a:solidFill>
                <a:effectLst/>
                <a:latin typeface="+mn-lt"/>
                <a:ea typeface="+mn-ea"/>
                <a:cs typeface="+mn-cs"/>
              </a:rPr>
              <a:t>Scădere</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Reguli </a:t>
            </a:r>
            <a:r>
              <a:rPr lang="en-US" sz="1200" b="1" i="0" kern="1200" dirty="0" err="1">
                <a:solidFill>
                  <a:schemeClr val="tx1"/>
                </a:solidFill>
                <a:effectLst/>
                <a:latin typeface="+mn-lt"/>
                <a:ea typeface="+mn-ea"/>
                <a:cs typeface="+mn-cs"/>
              </a:rPr>
              <a:t>cheie</a:t>
            </a:r>
            <a:r>
              <a:rPr lang="en-US" sz="1200" b="1" i="0" kern="1200" dirty="0">
                <a:solidFill>
                  <a:schemeClr val="tx1"/>
                </a:solidFill>
                <a:effectLst/>
                <a:latin typeface="+mn-lt"/>
                <a:ea typeface="+mn-ea"/>
                <a:cs typeface="+mn-cs"/>
              </a:rPr>
              <a:t> de </a:t>
            </a:r>
            <a:r>
              <a:rPr lang="en-US" sz="1200" b="1" i="0" kern="1200" dirty="0" err="1">
                <a:solidFill>
                  <a:schemeClr val="tx1"/>
                </a:solidFill>
                <a:effectLst/>
                <a:latin typeface="+mn-lt"/>
                <a:ea typeface="+mn-ea"/>
                <a:cs typeface="+mn-cs"/>
              </a:rPr>
              <a:t>aplicare</a:t>
            </a:r>
            <a:r>
              <a:rPr lang="en-US" sz="1200" b="1" i="0" kern="120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r>
              <a:rPr lang="en-US" sz="1200" b="1" i="0" kern="1200" dirty="0" err="1">
                <a:solidFill>
                  <a:schemeClr val="tx1"/>
                </a:solidFill>
                <a:effectLst/>
                <a:latin typeface="+mn-lt"/>
                <a:ea typeface="+mn-ea"/>
                <a:cs typeface="+mn-cs"/>
              </a:rPr>
              <a:t>Paranteze</a:t>
            </a:r>
            <a:r>
              <a:rPr lang="en-US" sz="1200" b="1" i="0" kern="1200" dirty="0">
                <a:solidFill>
                  <a:schemeClr val="tx1"/>
                </a:solidFill>
                <a:effectLst/>
                <a:latin typeface="+mn-lt"/>
                <a:ea typeface="+mn-ea"/>
                <a:cs typeface="+mn-cs"/>
              </a:rPr>
              <a:t> (P/B):</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Rezolvați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mai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întâi</a:t>
            </a:r>
            <a:r>
              <a:rPr lang="en-US" sz="1200" b="0" i="0" kern="1200" dirty="0">
                <a:solidFill>
                  <a:schemeClr val="tx1"/>
                </a:solidFill>
                <a:effectLst/>
                <a:latin typeface="+mn-lt"/>
                <a:ea typeface="+mn-ea"/>
                <a:cs typeface="+mn-cs"/>
              </a:rPr>
              <a:t> tot </a:t>
            </a:r>
            <a:r>
              <a:rPr lang="en-US" sz="1200" b="0" i="0" kern="1200" dirty="0" err="1">
                <a:solidFill>
                  <a:schemeClr val="tx1"/>
                </a:solidFill>
                <a:effectLst/>
                <a:latin typeface="+mn-lt"/>
                <a:ea typeface="+mn-ea"/>
                <a:cs typeface="+mn-cs"/>
              </a:rPr>
              <a:t>ce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este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în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paranteze</a:t>
            </a:r>
            <a:r>
              <a:rPr lang="en-US" sz="1200" b="0" i="0" kern="1200" dirty="0">
                <a:solidFill>
                  <a:schemeClr val="tx1"/>
                </a:solidFill>
                <a:effectLst/>
                <a:latin typeface="+mn-lt"/>
                <a:ea typeface="+mn-ea"/>
                <a:cs typeface="+mn-cs"/>
              </a:rPr>
              <a:t>.</a:t>
            </a:r>
          </a:p>
          <a:p>
            <a:r>
              <a:rPr lang="en-US" sz="1200" b="1" i="0" kern="1200" dirty="0" err="1">
                <a:solidFill>
                  <a:schemeClr val="tx1"/>
                </a:solidFill>
                <a:effectLst/>
                <a:latin typeface="+mn-lt"/>
                <a:ea typeface="+mn-ea"/>
                <a:cs typeface="+mn-cs"/>
              </a:rPr>
              <a:t>Exponenți</a:t>
            </a:r>
            <a:r>
              <a:rPr lang="en-US" sz="1200" b="1" i="0" kern="1200" dirty="0">
                <a:solidFill>
                  <a:schemeClr val="tx1"/>
                </a:solidFill>
                <a:effectLst/>
                <a:latin typeface="+mn-lt"/>
                <a:ea typeface="+mn-ea"/>
                <a:cs typeface="+mn-cs"/>
              </a:rPr>
              <a:t>/</a:t>
            </a:r>
            <a:r>
              <a:rPr lang="en-US" sz="1200" b="1" i="0" kern="1200" dirty="0" err="1">
                <a:solidFill>
                  <a:schemeClr val="tx1"/>
                </a:solidFill>
                <a:effectLst/>
                <a:latin typeface="+mn-lt"/>
                <a:ea typeface="+mn-ea"/>
                <a:cs typeface="+mn-cs"/>
              </a:rPr>
              <a:t>Ordin</a:t>
            </a:r>
            <a:r>
              <a:rPr lang="en-US" sz="1200" b="1" i="0" kern="1200" dirty="0">
                <a:solidFill>
                  <a:schemeClr val="tx1"/>
                </a:solidFill>
                <a:effectLst/>
                <a:latin typeface="+mn-lt"/>
                <a:ea typeface="+mn-ea"/>
                <a:cs typeface="+mn-cs"/>
              </a:rPr>
              <a:t> (E/O):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Calculați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puterile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și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radicalii</a:t>
            </a:r>
            <a:r>
              <a:rPr lang="en-US" sz="1200" b="0" i="0" kern="1200" dirty="0">
                <a:solidFill>
                  <a:schemeClr val="tx1"/>
                </a:solidFill>
                <a:effectLst/>
                <a:latin typeface="+mn-lt"/>
                <a:ea typeface="+mn-ea"/>
                <a:cs typeface="+mn-cs"/>
              </a:rPr>
              <a:t>.</a:t>
            </a:r>
          </a:p>
          <a:p>
            <a:r>
              <a:rPr lang="en-US" sz="1200" b="1" i="0" kern="1200" dirty="0" err="1">
                <a:solidFill>
                  <a:schemeClr val="tx1"/>
                </a:solidFill>
                <a:effectLst/>
                <a:latin typeface="+mn-lt"/>
                <a:ea typeface="+mn-ea"/>
                <a:cs typeface="+mn-cs"/>
              </a:rPr>
              <a:t>Înmulțire</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și</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Împărțire</a:t>
            </a:r>
            <a:r>
              <a:rPr lang="en-US" sz="1200" b="1" i="0" kern="1200" dirty="0">
                <a:solidFill>
                  <a:schemeClr val="tx1"/>
                </a:solidFill>
                <a:effectLst/>
                <a:latin typeface="+mn-lt"/>
                <a:ea typeface="+mn-ea"/>
                <a:cs typeface="+mn-cs"/>
              </a:rPr>
              <a:t> (M&amp;D):</a:t>
            </a:r>
            <a:r>
              <a:rPr lang="en-US" sz="1200" b="0" i="0" kern="1200" dirty="0">
                <a:solidFill>
                  <a:schemeClr val="tx1"/>
                </a:solidFill>
                <a:effectLst/>
                <a:latin typeface="+mn-lt"/>
                <a:ea typeface="+mn-ea"/>
                <a:cs typeface="+mn-cs"/>
              </a:rPr>
              <a:t> Au </a:t>
            </a:r>
            <a:r>
              <a:rPr lang="en-US" sz="1200" b="0" i="0" kern="1200" dirty="0" err="1">
                <a:solidFill>
                  <a:schemeClr val="tx1"/>
                </a:solidFill>
                <a:effectLst/>
                <a:latin typeface="+mn-lt"/>
                <a:ea typeface="+mn-ea"/>
                <a:cs typeface="+mn-cs"/>
              </a:rPr>
              <a:t>prioritate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egală</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Important:</a:t>
            </a:r>
            <a:r>
              <a:rPr lang="en-US" sz="1200" b="0" i="0" kern="1200" dirty="0">
                <a:solidFill>
                  <a:schemeClr val="tx1"/>
                </a:solidFill>
                <a:effectLst/>
                <a:latin typeface="+mn-lt"/>
                <a:ea typeface="+mn-ea"/>
                <a:cs typeface="+mn-cs"/>
              </a:rPr>
              <a:t> Se </a:t>
            </a:r>
            <a:r>
              <a:rPr lang="en-US" sz="1200" b="0" i="0" kern="1200" dirty="0" err="1">
                <a:solidFill>
                  <a:schemeClr val="tx1"/>
                </a:solidFill>
                <a:effectLst/>
                <a:latin typeface="+mn-lt"/>
                <a:ea typeface="+mn-ea"/>
                <a:cs typeface="+mn-cs"/>
              </a:rPr>
              <a:t>calculează</a:t>
            </a:r>
            <a:r>
              <a:rPr lang="en-US" sz="1200" b="0" i="0" kern="1200" dirty="0">
                <a:solidFill>
                  <a:schemeClr val="tx1"/>
                </a:solidFill>
                <a:effectLst/>
                <a:latin typeface="+mn-lt"/>
                <a:ea typeface="+mn-ea"/>
                <a:cs typeface="+mn-cs"/>
              </a:rPr>
              <a:t> de la </a:t>
            </a:r>
            <a:r>
              <a:rPr lang="en-US" sz="1200" b="0" i="0" kern="1200" dirty="0" err="1">
                <a:solidFill>
                  <a:schemeClr val="tx1"/>
                </a:solidFill>
                <a:effectLst/>
                <a:latin typeface="+mn-lt"/>
                <a:ea typeface="+mn-ea"/>
                <a:cs typeface="+mn-cs"/>
              </a:rPr>
              <a:t>stânga</a:t>
            </a:r>
            <a:r>
              <a:rPr lang="en-US" sz="1200" b="0" i="0" kern="1200" dirty="0">
                <a:solidFill>
                  <a:schemeClr val="tx1"/>
                </a:solidFill>
                <a:effectLst/>
                <a:latin typeface="+mn-lt"/>
                <a:ea typeface="+mn-ea"/>
                <a:cs typeface="+mn-cs"/>
              </a:rPr>
              <a:t> la </a:t>
            </a:r>
            <a:r>
              <a:rPr lang="en-US" sz="1200" b="0" i="0" kern="1200" dirty="0" err="1">
                <a:solidFill>
                  <a:schemeClr val="tx1"/>
                </a:solidFill>
                <a:effectLst/>
                <a:latin typeface="+mn-lt"/>
                <a:ea typeface="+mn-ea"/>
                <a:cs typeface="+mn-cs"/>
              </a:rPr>
              <a:t>dreapta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în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ordinea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în</a:t>
            </a:r>
            <a:r>
              <a:rPr lang="en-US" sz="1200" b="0" i="0" kern="1200" dirty="0">
                <a:solidFill>
                  <a:schemeClr val="tx1"/>
                </a:solidFill>
                <a:effectLst/>
                <a:latin typeface="+mn-lt"/>
                <a:ea typeface="+mn-ea"/>
                <a:cs typeface="+mn-cs"/>
              </a:rPr>
              <a:t> care apar.</a:t>
            </a:r>
          </a:p>
          <a:p>
            <a:r>
              <a:rPr lang="en-US" sz="1200" b="1" i="0" kern="1200" dirty="0" err="1">
                <a:solidFill>
                  <a:schemeClr val="tx1"/>
                </a:solidFill>
                <a:effectLst/>
                <a:latin typeface="+mn-lt"/>
                <a:ea typeface="+mn-ea"/>
                <a:cs typeface="+mn-cs"/>
              </a:rPr>
              <a:t>Adunare</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și</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Scădere</a:t>
            </a:r>
            <a:r>
              <a:rPr lang="en-US" sz="1200" b="1" i="0" kern="1200" dirty="0">
                <a:solidFill>
                  <a:schemeClr val="tx1"/>
                </a:solidFill>
                <a:effectLst/>
                <a:latin typeface="+mn-lt"/>
                <a:ea typeface="+mn-ea"/>
                <a:cs typeface="+mn-cs"/>
              </a:rPr>
              <a:t> (A&amp;S):</a:t>
            </a:r>
            <a:r>
              <a:rPr lang="en-US" sz="1200" b="0" i="0" kern="1200" dirty="0">
                <a:solidFill>
                  <a:schemeClr val="tx1"/>
                </a:solidFill>
                <a:effectLst/>
                <a:latin typeface="+mn-lt"/>
                <a:ea typeface="+mn-ea"/>
                <a:cs typeface="+mn-cs"/>
              </a:rPr>
              <a:t> Au </a:t>
            </a:r>
            <a:r>
              <a:rPr lang="en-US" sz="1200" b="0" i="0" kern="1200" dirty="0" err="1">
                <a:solidFill>
                  <a:schemeClr val="tx1"/>
                </a:solidFill>
                <a:effectLst/>
                <a:latin typeface="+mn-lt"/>
                <a:ea typeface="+mn-ea"/>
                <a:cs typeface="+mn-cs"/>
              </a:rPr>
              <a:t>prioritate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egală</a:t>
            </a:r>
            <a:r>
              <a:rPr lang="en-US" sz="1200" b="0" i="0" kern="1200" dirty="0">
                <a:solidFill>
                  <a:schemeClr val="tx1"/>
                </a:solidFill>
                <a:effectLst/>
                <a:latin typeface="+mn-lt"/>
                <a:ea typeface="+mn-ea"/>
                <a:cs typeface="+mn-cs"/>
              </a:rPr>
              <a:t>. Se </a:t>
            </a:r>
            <a:r>
              <a:rPr lang="en-US" sz="1200" b="0" i="0" kern="1200" dirty="0" err="1">
                <a:solidFill>
                  <a:schemeClr val="tx1"/>
                </a:solidFill>
                <a:effectLst/>
                <a:latin typeface="+mn-lt"/>
                <a:ea typeface="+mn-ea"/>
                <a:cs typeface="+mn-cs"/>
              </a:rPr>
              <a:t>calculează</a:t>
            </a:r>
            <a:r>
              <a:rPr lang="en-US" sz="1200" b="0" i="0" kern="1200" dirty="0">
                <a:solidFill>
                  <a:schemeClr val="tx1"/>
                </a:solidFill>
                <a:effectLst/>
                <a:latin typeface="+mn-lt"/>
                <a:ea typeface="+mn-ea"/>
                <a:cs typeface="+mn-cs"/>
              </a:rPr>
              <a:t> de la </a:t>
            </a:r>
            <a:r>
              <a:rPr lang="en-US" sz="1200" b="0" i="0" kern="1200" dirty="0" err="1">
                <a:solidFill>
                  <a:schemeClr val="tx1"/>
                </a:solidFill>
                <a:effectLst/>
                <a:latin typeface="+mn-lt"/>
                <a:ea typeface="+mn-ea"/>
                <a:cs typeface="+mn-cs"/>
              </a:rPr>
              <a:t>stânga</a:t>
            </a:r>
            <a:r>
              <a:rPr lang="en-US" sz="1200" b="0" i="0" kern="1200" dirty="0">
                <a:solidFill>
                  <a:schemeClr val="tx1"/>
                </a:solidFill>
                <a:effectLst/>
                <a:latin typeface="+mn-lt"/>
                <a:ea typeface="+mn-ea"/>
                <a:cs typeface="+mn-cs"/>
              </a:rPr>
              <a:t> la </a:t>
            </a:r>
            <a:r>
              <a:rPr lang="en-US" sz="1200" b="0" i="0" kern="1200" dirty="0" err="1">
                <a:solidFill>
                  <a:schemeClr val="tx1"/>
                </a:solidFill>
                <a:effectLst/>
                <a:latin typeface="+mn-lt"/>
                <a:ea typeface="+mn-ea"/>
                <a:cs typeface="+mn-cs"/>
              </a:rPr>
              <a:t>dreapta</a:t>
            </a:r>
            <a:r>
              <a:rPr lang="en-US" sz="1200" b="0" i="0" kern="1200" dirty="0">
                <a:solidFill>
                  <a:schemeClr val="tx1"/>
                </a:solidFill>
                <a:effectLst/>
                <a:latin typeface="+mn-lt"/>
                <a:ea typeface="+mn-ea"/>
                <a:cs typeface="+mn-cs"/>
              </a:rPr>
              <a:t>. </a:t>
            </a:r>
          </a:p>
          <a:p>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9CA58271-BFEB-4F2D-99C4-070D6C5BEA32}" type="slidenum">
              <a:rPr lang="en-US" smtClean="0"/>
              <a:t>15</a:t>
            </a:fld>
            <a:endParaRPr lang="en-US"/>
          </a:p>
        </p:txBody>
      </p:sp>
    </p:spTree>
    <p:extLst>
      <p:ext uri="{BB962C8B-B14F-4D97-AF65-F5344CB8AC3E}">
        <p14:creationId xmlns:p14="http://schemas.microsoft.com/office/powerpoint/2010/main" val="27184671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1" i="0" kern="1200" dirty="0">
                <a:solidFill>
                  <a:schemeClr val="tx1"/>
                </a:solidFill>
                <a:effectLst/>
                <a:latin typeface="+mn-lt"/>
                <a:ea typeface="+mn-ea"/>
                <a:cs typeface="+mn-cs"/>
              </a:rPr>
              <a:t>Benefits of Dynamic Typing</a:t>
            </a:r>
          </a:p>
          <a:p>
            <a:pPr fontAlgn="base"/>
            <a:r>
              <a:rPr lang="en-US" sz="1200" b="1" i="0" kern="1200" dirty="0">
                <a:solidFill>
                  <a:schemeClr val="tx1"/>
                </a:solidFill>
                <a:effectLst/>
                <a:latin typeface="+mn-lt"/>
                <a:ea typeface="+mn-ea"/>
                <a:cs typeface="+mn-cs"/>
              </a:rPr>
              <a:t>Flexibility</a:t>
            </a:r>
            <a:r>
              <a:rPr lang="en-US" sz="1200" b="0" i="0" kern="1200" dirty="0">
                <a:solidFill>
                  <a:schemeClr val="tx1"/>
                </a:solidFill>
                <a:effectLst/>
                <a:latin typeface="+mn-lt"/>
                <a:ea typeface="+mn-ea"/>
                <a:cs typeface="+mn-cs"/>
              </a:rPr>
              <a:t>: Variables can change types over time which can simplify code during rapid prototyping or when handling data that may vary in type.</a:t>
            </a:r>
          </a:p>
          <a:p>
            <a:pPr fontAlgn="base"/>
            <a:r>
              <a:rPr lang="en-US" sz="1200" b="1" i="0" kern="1200" dirty="0">
                <a:solidFill>
                  <a:schemeClr val="tx1"/>
                </a:solidFill>
                <a:effectLst/>
                <a:latin typeface="+mn-lt"/>
                <a:ea typeface="+mn-ea"/>
                <a:cs typeface="+mn-cs"/>
              </a:rPr>
              <a:t>Ease of Use</a:t>
            </a:r>
            <a:r>
              <a:rPr lang="en-US" sz="1200" b="0" i="0" kern="1200" dirty="0">
                <a:solidFill>
                  <a:schemeClr val="tx1"/>
                </a:solidFill>
                <a:effectLst/>
                <a:latin typeface="+mn-lt"/>
                <a:ea typeface="+mn-ea"/>
                <a:cs typeface="+mn-cs"/>
              </a:rPr>
              <a:t>: Developers don't need to explicitly declare types, which can reduce boilerplate code and make the language more accessible, especially to beginners.</a:t>
            </a:r>
          </a:p>
          <a:p>
            <a:pPr fontAlgn="base"/>
            <a:r>
              <a:rPr lang="en-US" sz="1200" b="1" i="0" kern="1200" dirty="0">
                <a:solidFill>
                  <a:schemeClr val="tx1"/>
                </a:solidFill>
                <a:effectLst/>
                <a:latin typeface="+mn-lt"/>
                <a:ea typeface="+mn-ea"/>
                <a:cs typeface="+mn-cs"/>
              </a:rPr>
              <a:t>Rapid Development</a:t>
            </a:r>
            <a:r>
              <a:rPr lang="en-US" sz="1200" b="0" i="0" kern="1200" dirty="0">
                <a:solidFill>
                  <a:schemeClr val="tx1"/>
                </a:solidFill>
                <a:effectLst/>
                <a:latin typeface="+mn-lt"/>
                <a:ea typeface="+mn-ea"/>
                <a:cs typeface="+mn-cs"/>
              </a:rPr>
              <a:t>: Since types are determined at runtime, developers can iterate quickly without the overhead of static type checks during the coding process.</a:t>
            </a:r>
          </a:p>
          <a:p>
            <a:endParaRPr lang="en-US" dirty="0"/>
          </a:p>
          <a:p>
            <a:endParaRPr lang="en-US" dirty="0"/>
          </a:p>
          <a:p>
            <a:pPr fontAlgn="base"/>
            <a:r>
              <a:rPr lang="en-US" sz="1200" b="1" i="0" kern="1200" dirty="0">
                <a:solidFill>
                  <a:schemeClr val="tx1"/>
                </a:solidFill>
                <a:effectLst/>
                <a:latin typeface="+mn-lt"/>
                <a:ea typeface="+mn-ea"/>
                <a:cs typeface="+mn-cs"/>
              </a:rPr>
              <a:t>Disadvantages of Dynamic Typing</a:t>
            </a:r>
          </a:p>
          <a:p>
            <a:pPr fontAlgn="base"/>
            <a:r>
              <a:rPr lang="en-US" sz="1200" b="1" i="0" kern="1200" dirty="0">
                <a:solidFill>
                  <a:schemeClr val="tx1"/>
                </a:solidFill>
                <a:effectLst/>
                <a:latin typeface="+mn-lt"/>
                <a:ea typeface="+mn-ea"/>
                <a:cs typeface="+mn-cs"/>
              </a:rPr>
              <a:t>Runtime Errors </a:t>
            </a:r>
            <a:r>
              <a:rPr lang="en-US" sz="1200" b="0" i="0" kern="1200" dirty="0">
                <a:solidFill>
                  <a:schemeClr val="tx1"/>
                </a:solidFill>
                <a:effectLst/>
                <a:latin typeface="+mn-lt"/>
                <a:ea typeface="+mn-ea"/>
                <a:cs typeface="+mn-cs"/>
              </a:rPr>
              <a:t>– Type-related issues are detected only at runtime leading to unexpected crashes if incompatible types are used.</a:t>
            </a:r>
          </a:p>
          <a:p>
            <a:pPr fontAlgn="base"/>
            <a:r>
              <a:rPr lang="en-US" sz="1200" b="1" i="0" kern="1200" dirty="0">
                <a:solidFill>
                  <a:schemeClr val="tx1"/>
                </a:solidFill>
                <a:effectLst/>
                <a:latin typeface="+mn-lt"/>
                <a:ea typeface="+mn-ea"/>
                <a:cs typeface="+mn-cs"/>
              </a:rPr>
              <a:t>Reduced Performance</a:t>
            </a:r>
            <a:r>
              <a:rPr lang="en-US" sz="1200" b="0" i="0" kern="1200" dirty="0">
                <a:solidFill>
                  <a:schemeClr val="tx1"/>
                </a:solidFill>
                <a:effectLst/>
                <a:latin typeface="+mn-lt"/>
                <a:ea typeface="+mn-ea"/>
                <a:cs typeface="+mn-cs"/>
              </a:rPr>
              <a:t> – Since types are determined dynamically, Python incurs extra overhead compared to statically typed languages.</a:t>
            </a:r>
          </a:p>
          <a:p>
            <a:pPr fontAlgn="base"/>
            <a:r>
              <a:rPr lang="en-US" sz="1200" b="1" i="0" kern="1200" dirty="0">
                <a:solidFill>
                  <a:schemeClr val="tx1"/>
                </a:solidFill>
                <a:effectLst/>
                <a:latin typeface="+mn-lt"/>
                <a:ea typeface="+mn-ea"/>
                <a:cs typeface="+mn-cs"/>
              </a:rPr>
              <a:t>Code Maintainability Issues</a:t>
            </a:r>
            <a:r>
              <a:rPr lang="en-US" sz="1200" b="0" i="0" kern="1200" dirty="0">
                <a:solidFill>
                  <a:schemeClr val="tx1"/>
                </a:solidFill>
                <a:effectLst/>
                <a:latin typeface="+mn-lt"/>
                <a:ea typeface="+mn-ea"/>
                <a:cs typeface="+mn-cs"/>
              </a:rPr>
              <a:t> – Without explicit types understanding variable types in large codebases can be difficult thereby making debugging harder.</a:t>
            </a:r>
          </a:p>
          <a:p>
            <a:endParaRPr lang="en-US" dirty="0"/>
          </a:p>
        </p:txBody>
      </p:sp>
      <p:sp>
        <p:nvSpPr>
          <p:cNvPr id="4" name="Slide Number Placeholder 3"/>
          <p:cNvSpPr>
            <a:spLocks noGrp="1"/>
          </p:cNvSpPr>
          <p:nvPr>
            <p:ph type="sldNum" sz="quarter" idx="5"/>
          </p:nvPr>
        </p:nvSpPr>
        <p:spPr/>
        <p:txBody>
          <a:bodyPr/>
          <a:lstStyle/>
          <a:p>
            <a:fld id="{9CA58271-BFEB-4F2D-99C4-070D6C5BEA32}" type="slidenum">
              <a:rPr lang="en-US" smtClean="0"/>
              <a:t>19</a:t>
            </a:fld>
            <a:endParaRPr lang="en-US"/>
          </a:p>
        </p:txBody>
      </p:sp>
    </p:spTree>
    <p:extLst>
      <p:ext uri="{BB962C8B-B14F-4D97-AF65-F5344CB8AC3E}">
        <p14:creationId xmlns:p14="http://schemas.microsoft.com/office/powerpoint/2010/main" val="22813945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ACE74-6BCD-672C-46A8-2BB51F8D78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A8D8C8-6CC5-AE83-9038-41A45DDD05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0909BB-298D-5EEE-2A27-3DFB905933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2C5A5D-38B5-7DE2-2213-A79E6666EDFA}"/>
              </a:ext>
            </a:extLst>
          </p:cNvPr>
          <p:cNvSpPr>
            <a:spLocks noGrp="1"/>
          </p:cNvSpPr>
          <p:nvPr>
            <p:ph type="sldNum" sz="quarter" idx="5"/>
          </p:nvPr>
        </p:nvSpPr>
        <p:spPr/>
        <p:txBody>
          <a:bodyPr/>
          <a:lstStyle/>
          <a:p>
            <a:fld id="{9CA58271-BFEB-4F2D-99C4-070D6C5BEA32}" type="slidenum">
              <a:rPr lang="en-US" smtClean="0"/>
              <a:t>23</a:t>
            </a:fld>
            <a:endParaRPr lang="en-US"/>
          </a:p>
        </p:txBody>
      </p:sp>
    </p:spTree>
    <p:extLst>
      <p:ext uri="{BB962C8B-B14F-4D97-AF65-F5344CB8AC3E}">
        <p14:creationId xmlns:p14="http://schemas.microsoft.com/office/powerpoint/2010/main" val="3952269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hyperlink" Target="https://survey.stackoverflow.co/2025/technology" TargetMode="External"/><Relationship Id="rId5" Type="http://schemas.openxmlformats.org/officeDocument/2006/relationships/hyperlink" Target="https://www.tiobe.com/tiobe-index/" TargetMode="External"/><Relationship Id="rId4" Type="http://schemas.openxmlformats.org/officeDocument/2006/relationships/hyperlink" Target="https://spectrum.ieee.org/top-programming-languages-2025"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371600"/>
            <a:ext cx="10360152" cy="892552"/>
          </a:xfrm>
          <a:prstGeom prst="rect">
            <a:avLst/>
          </a:prstGeom>
          <a:noFill/>
        </p:spPr>
        <p:txBody>
          <a:bodyPr wrap="square">
            <a:spAutoFit/>
          </a:bodyPr>
          <a:lstStyle/>
          <a:p>
            <a:pPr algn="ctr"/>
            <a:r>
              <a:rPr lang="en-US" sz="5200" b="1" i="0" dirty="0">
                <a:solidFill>
                  <a:srgbClr val="FFFFFF"/>
                </a:solidFill>
              </a:rPr>
              <a:t>   Welcome to Python!</a:t>
            </a:r>
          </a:p>
        </p:txBody>
      </p:sp>
      <p:sp>
        <p:nvSpPr>
          <p:cNvPr id="4" name="TextBox 3"/>
          <p:cNvSpPr txBox="1"/>
          <p:nvPr/>
        </p:nvSpPr>
        <p:spPr>
          <a:xfrm>
            <a:off x="914400" y="2651760"/>
            <a:ext cx="10360152" cy="731520"/>
          </a:xfrm>
          <a:prstGeom prst="rect">
            <a:avLst/>
          </a:prstGeom>
          <a:noFill/>
        </p:spPr>
        <p:txBody>
          <a:bodyPr wrap="square">
            <a:spAutoFit/>
          </a:bodyPr>
          <a:lstStyle/>
          <a:p>
            <a:pPr algn="ctr"/>
            <a:r>
              <a:rPr sz="2600" b="0" i="0" dirty="0">
                <a:solidFill>
                  <a:srgbClr val="BFD7F5"/>
                </a:solidFill>
              </a:rPr>
              <a:t>Session 1: Introduction to Python &amp; Programming Basics</a:t>
            </a:r>
          </a:p>
        </p:txBody>
      </p:sp>
      <p:sp>
        <p:nvSpPr>
          <p:cNvPr id="5" name="Rectangle 4"/>
          <p:cNvSpPr/>
          <p:nvPr/>
        </p:nvSpPr>
        <p:spPr>
          <a:xfrm>
            <a:off x="2743200" y="3566160"/>
            <a:ext cx="6702552" cy="381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3840480"/>
            <a:ext cx="10360152" cy="548640"/>
          </a:xfrm>
          <a:prstGeom prst="rect">
            <a:avLst/>
          </a:prstGeom>
          <a:noFill/>
        </p:spPr>
        <p:txBody>
          <a:bodyPr wrap="square">
            <a:spAutoFit/>
          </a:bodyPr>
          <a:lstStyle/>
          <a:p>
            <a:pPr algn="ctr"/>
            <a:r>
              <a:rPr sz="2000" b="0" i="0">
                <a:solidFill>
                  <a:srgbClr val="BFD7F5"/>
                </a:solidFill>
              </a:rPr>
              <a:t>Duration: 1 hour 40 minutes</a:t>
            </a:r>
          </a:p>
        </p:txBody>
      </p:sp>
      <p:sp>
        <p:nvSpPr>
          <p:cNvPr id="7" name="TextBox 6"/>
          <p:cNvSpPr txBox="1"/>
          <p:nvPr/>
        </p:nvSpPr>
        <p:spPr>
          <a:xfrm>
            <a:off x="914400" y="4480560"/>
            <a:ext cx="10360152" cy="457200"/>
          </a:xfrm>
          <a:prstGeom prst="rect">
            <a:avLst/>
          </a:prstGeom>
          <a:noFill/>
        </p:spPr>
        <p:txBody>
          <a:bodyPr wrap="square">
            <a:spAutoFit/>
          </a:bodyPr>
          <a:lstStyle/>
          <a:p>
            <a:pPr algn="ctr"/>
            <a:r>
              <a:rPr sz="1800" b="0" i="1">
                <a:solidFill>
                  <a:srgbClr val="A0C8FF"/>
                </a:solidFill>
              </a:rPr>
              <a:t>Your instructor is excited to meet you! 🎉</a:t>
            </a:r>
          </a:p>
        </p:txBody>
      </p:sp>
      <p:pic>
        <p:nvPicPr>
          <p:cNvPr id="9" name="Picture 8">
            <a:extLst>
              <a:ext uri="{FF2B5EF4-FFF2-40B4-BE49-F238E27FC236}">
                <a16:creationId xmlns:a16="http://schemas.microsoft.com/office/drawing/2014/main" id="{69ED64CF-47FD-4DDA-E9C2-96BD1B932EA1}"/>
              </a:ext>
            </a:extLst>
          </p:cNvPr>
          <p:cNvPicPr>
            <a:picLocks noChangeAspect="1"/>
          </p:cNvPicPr>
          <p:nvPr/>
        </p:nvPicPr>
        <p:blipFill>
          <a:blip r:embed="rId2"/>
          <a:stretch>
            <a:fillRect/>
          </a:stretch>
        </p:blipFill>
        <p:spPr>
          <a:xfrm>
            <a:off x="2557095" y="1432386"/>
            <a:ext cx="762174" cy="76217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8016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600" b="1" dirty="0">
                <a:solidFill>
                  <a:srgbClr val="FFFFFF"/>
                </a:solidFill>
              </a:rPr>
              <a:t>📋 What We'll Cover Today</a:t>
            </a:r>
          </a:p>
        </p:txBody>
      </p:sp>
      <p:sp>
        <p:nvSpPr>
          <p:cNvPr id="3" name="TextBox 2"/>
          <p:cNvSpPr txBox="1"/>
          <p:nvPr/>
        </p:nvSpPr>
        <p:spPr>
          <a:xfrm>
            <a:off x="1065212" y="1711811"/>
            <a:ext cx="10058400" cy="3816429"/>
          </a:xfrm>
          <a:prstGeom prst="rect">
            <a:avLst/>
          </a:prstGeom>
          <a:noFill/>
        </p:spPr>
        <p:txBody>
          <a:bodyPr wrap="square">
            <a:spAutoFit/>
          </a:bodyPr>
          <a:lstStyle/>
          <a:p>
            <a:r>
              <a:rPr lang="en-US" sz="2200" dirty="0">
                <a:solidFill>
                  <a:srgbClr val="1F3964"/>
                </a:solidFill>
              </a:rPr>
              <a:t>   1.  What is Python &amp; why learn it?</a:t>
            </a:r>
          </a:p>
          <a:p>
            <a:r>
              <a:rPr lang="en-US" sz="2200" dirty="0">
                <a:solidFill>
                  <a:srgbClr val="0070C0"/>
                </a:solidFill>
              </a:rPr>
              <a:t>   2.  Setting up your environment</a:t>
            </a:r>
          </a:p>
          <a:p>
            <a:r>
              <a:rPr lang="en-US" sz="2200" dirty="0">
                <a:solidFill>
                  <a:srgbClr val="1F3964"/>
                </a:solidFill>
              </a:rPr>
              <a:t>   3.  Hello, World!</a:t>
            </a:r>
          </a:p>
          <a:p>
            <a:r>
              <a:rPr lang="en-US" sz="2200" dirty="0">
                <a:solidFill>
                  <a:srgbClr val="0070C0"/>
                </a:solidFill>
              </a:rPr>
              <a:t>   4.  Literals &amp; Variables</a:t>
            </a:r>
          </a:p>
          <a:p>
            <a:r>
              <a:rPr lang="en-US" sz="2200" dirty="0">
                <a:solidFill>
                  <a:srgbClr val="1F3964"/>
                </a:solidFill>
              </a:rPr>
              <a:t>   5.  Comments in Python</a:t>
            </a:r>
          </a:p>
          <a:p>
            <a:r>
              <a:rPr lang="en-US" sz="2200" dirty="0">
                <a:solidFill>
                  <a:srgbClr val="0070C0"/>
                </a:solidFill>
              </a:rPr>
              <a:t>   6.  Arithmetic &amp; Assignment Operators</a:t>
            </a:r>
          </a:p>
          <a:p>
            <a:r>
              <a:rPr lang="en-US" sz="2200" dirty="0">
                <a:solidFill>
                  <a:srgbClr val="1F3964"/>
                </a:solidFill>
              </a:rPr>
              <a:t>   7.  Data Types</a:t>
            </a:r>
          </a:p>
          <a:p>
            <a:r>
              <a:rPr lang="en-US" sz="2200" dirty="0">
                <a:solidFill>
                  <a:srgbClr val="0070C0"/>
                </a:solidFill>
              </a:rPr>
              <a:t>   8.  Type Conversion</a:t>
            </a:r>
          </a:p>
          <a:p>
            <a:r>
              <a:rPr lang="en-US" sz="2200" dirty="0">
                <a:solidFill>
                  <a:srgbClr val="282C34"/>
                </a:solidFill>
              </a:rPr>
              <a:t>   9.  User Input with input()</a:t>
            </a:r>
          </a:p>
          <a:p>
            <a:r>
              <a:rPr lang="en-US" sz="2200" dirty="0">
                <a:solidFill>
                  <a:srgbClr val="0070C0"/>
                </a:solidFill>
              </a:rPr>
              <a:t> 10.  Comparison Operators</a:t>
            </a:r>
          </a:p>
          <a:p>
            <a:r>
              <a:rPr lang="en-US" sz="2200" dirty="0">
                <a:solidFill>
                  <a:srgbClr val="1F3964"/>
                </a:solidFill>
              </a:rPr>
              <a:t> 11.  if, </a:t>
            </a:r>
            <a:r>
              <a:rPr lang="en-US" sz="2200" dirty="0" err="1">
                <a:solidFill>
                  <a:srgbClr val="1F3964"/>
                </a:solidFill>
              </a:rPr>
              <a:t>elif</a:t>
            </a:r>
            <a:r>
              <a:rPr lang="en-US" sz="2200" dirty="0">
                <a:solidFill>
                  <a:srgbClr val="1F3964"/>
                </a:solidFill>
              </a:rPr>
              <a:t>, else statements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8016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600" b="1">
                <a:solidFill>
                  <a:srgbClr val="FFFFFF"/>
                </a:solidFill>
              </a:rPr>
              <a:t>🌍 What is Python?</a:t>
            </a:r>
          </a:p>
        </p:txBody>
      </p:sp>
      <p:sp>
        <p:nvSpPr>
          <p:cNvPr id="3" name="TextBox 2"/>
          <p:cNvSpPr txBox="1"/>
          <p:nvPr/>
        </p:nvSpPr>
        <p:spPr>
          <a:xfrm>
            <a:off x="450477" y="1463040"/>
            <a:ext cx="5943600" cy="1323439"/>
          </a:xfrm>
          <a:prstGeom prst="rect">
            <a:avLst/>
          </a:prstGeom>
          <a:noFill/>
        </p:spPr>
        <p:txBody>
          <a:bodyPr wrap="square">
            <a:spAutoFit/>
          </a:bodyPr>
          <a:lstStyle/>
          <a:p>
            <a:r>
              <a:rPr sz="2000" dirty="0">
                <a:solidFill>
                  <a:srgbClr val="444444"/>
                </a:solidFill>
              </a:rPr>
              <a:t>• A general-purpose, high-level programming language</a:t>
            </a:r>
          </a:p>
          <a:p>
            <a:r>
              <a:rPr sz="2000" dirty="0">
                <a:solidFill>
                  <a:srgbClr val="444444"/>
                </a:solidFill>
              </a:rPr>
              <a:t>• Created by </a:t>
            </a:r>
            <a:r>
              <a:rPr sz="2000" b="1" dirty="0">
                <a:solidFill>
                  <a:srgbClr val="444444"/>
                </a:solidFill>
              </a:rPr>
              <a:t>Guido van Rossum</a:t>
            </a:r>
            <a:r>
              <a:rPr sz="2000" dirty="0">
                <a:solidFill>
                  <a:srgbClr val="444444"/>
                </a:solidFill>
              </a:rPr>
              <a:t> in 1991</a:t>
            </a:r>
          </a:p>
          <a:p>
            <a:r>
              <a:rPr sz="2000" dirty="0">
                <a:solidFill>
                  <a:srgbClr val="444444"/>
                </a:solidFill>
              </a:rPr>
              <a:t>• Named after </a:t>
            </a:r>
            <a:r>
              <a:rPr sz="2000" dirty="0">
                <a:solidFill>
                  <a:schemeClr val="accent1">
                    <a:lumMod val="75000"/>
                  </a:schemeClr>
                </a:solidFill>
              </a:rPr>
              <a:t>Monty Python's Flying Circus </a:t>
            </a:r>
            <a:r>
              <a:rPr sz="2000" dirty="0">
                <a:solidFill>
                  <a:srgbClr val="444444"/>
                </a:solidFill>
              </a:rPr>
              <a:t>🎭</a:t>
            </a:r>
          </a:p>
          <a:p>
            <a:r>
              <a:rPr sz="2000" dirty="0">
                <a:solidFill>
                  <a:srgbClr val="444444"/>
                </a:solidFill>
              </a:rPr>
              <a:t>• One of the most popular languages in the world</a:t>
            </a:r>
          </a:p>
        </p:txBody>
      </p:sp>
      <p:pic>
        <p:nvPicPr>
          <p:cNvPr id="6" name="Picture 5">
            <a:extLst>
              <a:ext uri="{FF2B5EF4-FFF2-40B4-BE49-F238E27FC236}">
                <a16:creationId xmlns:a16="http://schemas.microsoft.com/office/drawing/2014/main" id="{116BDF23-B695-1DEC-C7C5-AE6B10777D29}"/>
              </a:ext>
            </a:extLst>
          </p:cNvPr>
          <p:cNvPicPr>
            <a:picLocks noChangeAspect="1"/>
          </p:cNvPicPr>
          <p:nvPr/>
        </p:nvPicPr>
        <p:blipFill>
          <a:blip r:embed="rId3"/>
          <a:stretch>
            <a:fillRect/>
          </a:stretch>
        </p:blipFill>
        <p:spPr>
          <a:xfrm>
            <a:off x="6249053" y="1676461"/>
            <a:ext cx="5806208" cy="4790121"/>
          </a:xfrm>
          <a:prstGeom prst="rect">
            <a:avLst/>
          </a:prstGeom>
        </p:spPr>
      </p:pic>
      <p:sp>
        <p:nvSpPr>
          <p:cNvPr id="8" name="TextBox 7">
            <a:extLst>
              <a:ext uri="{FF2B5EF4-FFF2-40B4-BE49-F238E27FC236}">
                <a16:creationId xmlns:a16="http://schemas.microsoft.com/office/drawing/2014/main" id="{B1772481-E447-C26E-D0D1-7EA80ED9E63E}"/>
              </a:ext>
            </a:extLst>
          </p:cNvPr>
          <p:cNvSpPr txBox="1"/>
          <p:nvPr/>
        </p:nvSpPr>
        <p:spPr>
          <a:xfrm>
            <a:off x="204835" y="6319869"/>
            <a:ext cx="6135220" cy="276999"/>
          </a:xfrm>
          <a:prstGeom prst="rect">
            <a:avLst/>
          </a:prstGeom>
          <a:noFill/>
        </p:spPr>
        <p:txBody>
          <a:bodyPr wrap="square">
            <a:spAutoFit/>
          </a:bodyPr>
          <a:lstStyle/>
          <a:p>
            <a:r>
              <a:rPr lang="en-US" sz="1200">
                <a:solidFill>
                  <a:srgbClr val="000000"/>
                </a:solidFill>
                <a:effectLst/>
                <a:latin typeface="Calibri" panose="020F0502020204030204" pitchFamily="34" charset="0"/>
                <a:hlinkClick r:id="rId4"/>
              </a:rPr>
              <a:t>https://spectrum.ieee.org/top-programming-languages-2025</a:t>
            </a:r>
            <a:endParaRPr lang="en-US" sz="1200" dirty="0"/>
          </a:p>
        </p:txBody>
      </p:sp>
      <p:sp>
        <p:nvSpPr>
          <p:cNvPr id="10" name="TextBox 9">
            <a:extLst>
              <a:ext uri="{FF2B5EF4-FFF2-40B4-BE49-F238E27FC236}">
                <a16:creationId xmlns:a16="http://schemas.microsoft.com/office/drawing/2014/main" id="{268297DE-6730-A908-1FFF-686A93495419}"/>
              </a:ext>
            </a:extLst>
          </p:cNvPr>
          <p:cNvSpPr txBox="1"/>
          <p:nvPr/>
        </p:nvSpPr>
        <p:spPr>
          <a:xfrm>
            <a:off x="204835" y="6042870"/>
            <a:ext cx="6135220" cy="276999"/>
          </a:xfrm>
          <a:prstGeom prst="rect">
            <a:avLst/>
          </a:prstGeom>
          <a:noFill/>
        </p:spPr>
        <p:txBody>
          <a:bodyPr wrap="square">
            <a:spAutoFit/>
          </a:bodyPr>
          <a:lstStyle/>
          <a:p>
            <a:r>
              <a:rPr lang="en-US" sz="1200">
                <a:solidFill>
                  <a:srgbClr val="000000"/>
                </a:solidFill>
                <a:effectLst/>
                <a:latin typeface="Calibri" panose="020F0502020204030204" pitchFamily="34" charset="0"/>
                <a:hlinkClick r:id="rId5"/>
              </a:rPr>
              <a:t>https://www.tiobe.com/tiobe-index/</a:t>
            </a:r>
            <a:endParaRPr lang="en-US" sz="1200" dirty="0"/>
          </a:p>
        </p:txBody>
      </p:sp>
      <p:sp>
        <p:nvSpPr>
          <p:cNvPr id="12" name="TextBox 11">
            <a:extLst>
              <a:ext uri="{FF2B5EF4-FFF2-40B4-BE49-F238E27FC236}">
                <a16:creationId xmlns:a16="http://schemas.microsoft.com/office/drawing/2014/main" id="{2EF88987-F3BB-72C2-266B-50DDF28EE120}"/>
              </a:ext>
            </a:extLst>
          </p:cNvPr>
          <p:cNvSpPr txBox="1"/>
          <p:nvPr/>
        </p:nvSpPr>
        <p:spPr>
          <a:xfrm>
            <a:off x="204835" y="5765871"/>
            <a:ext cx="6135220" cy="276999"/>
          </a:xfrm>
          <a:prstGeom prst="rect">
            <a:avLst/>
          </a:prstGeom>
          <a:noFill/>
        </p:spPr>
        <p:txBody>
          <a:bodyPr wrap="square">
            <a:spAutoFit/>
          </a:bodyPr>
          <a:lstStyle/>
          <a:p>
            <a:r>
              <a:rPr lang="en-US" sz="1200">
                <a:solidFill>
                  <a:srgbClr val="000000"/>
                </a:solidFill>
                <a:effectLst/>
                <a:latin typeface="Calibri" panose="020F0502020204030204" pitchFamily="34" charset="0"/>
                <a:hlinkClick r:id="rId6"/>
              </a:rPr>
              <a:t>https://survey.stackoverflow.co/2025/technology</a:t>
            </a:r>
            <a:endParaRPr lang="en-US" sz="1200" dirty="0"/>
          </a:p>
        </p:txBody>
      </p:sp>
      <p:pic>
        <p:nvPicPr>
          <p:cNvPr id="14" name="Picture 13">
            <a:extLst>
              <a:ext uri="{FF2B5EF4-FFF2-40B4-BE49-F238E27FC236}">
                <a16:creationId xmlns:a16="http://schemas.microsoft.com/office/drawing/2014/main" id="{9A0CC52D-84AC-639A-0734-ED94DDCFF0C0}"/>
              </a:ext>
            </a:extLst>
          </p:cNvPr>
          <p:cNvPicPr>
            <a:picLocks noChangeAspect="1"/>
          </p:cNvPicPr>
          <p:nvPr/>
        </p:nvPicPr>
        <p:blipFill>
          <a:blip r:embed="rId7"/>
          <a:stretch>
            <a:fillRect/>
          </a:stretch>
        </p:blipFill>
        <p:spPr>
          <a:xfrm>
            <a:off x="608038" y="2786479"/>
            <a:ext cx="5296698" cy="297939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8016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600" b="1">
                <a:solidFill>
                  <a:srgbClr val="FFFFFF"/>
                </a:solidFill>
              </a:rPr>
              <a:t>🚀 What Can Python Do?</a:t>
            </a:r>
          </a:p>
        </p:txBody>
      </p:sp>
      <p:graphicFrame>
        <p:nvGraphicFramePr>
          <p:cNvPr id="3" name="Table 2"/>
          <p:cNvGraphicFramePr>
            <a:graphicFrameLocks noGrp="1"/>
          </p:cNvGraphicFramePr>
          <p:nvPr>
            <p:extLst>
              <p:ext uri="{D42A27DB-BD31-4B8C-83A1-F6EECF244321}">
                <p14:modId xmlns:p14="http://schemas.microsoft.com/office/powerpoint/2010/main" val="998003697"/>
              </p:ext>
            </p:extLst>
          </p:nvPr>
        </p:nvGraphicFramePr>
        <p:xfrm>
          <a:off x="914400" y="1463040"/>
          <a:ext cx="10360152" cy="3840480"/>
        </p:xfrm>
        <a:graphic>
          <a:graphicData uri="http://schemas.openxmlformats.org/drawingml/2006/table">
            <a:tbl>
              <a:tblPr firstRow="1" bandRow="1">
                <a:tableStyleId>{5C22544A-7EE6-4342-B048-85BDC9FD1C3A}</a:tableStyleId>
              </a:tblPr>
              <a:tblGrid>
                <a:gridCol w="4389120">
                  <a:extLst>
                    <a:ext uri="{9D8B030D-6E8A-4147-A177-3AD203B41FA5}">
                      <a16:colId xmlns:a16="http://schemas.microsoft.com/office/drawing/2014/main" val="20000"/>
                    </a:ext>
                  </a:extLst>
                </a:gridCol>
                <a:gridCol w="5971032">
                  <a:extLst>
                    <a:ext uri="{9D8B030D-6E8A-4147-A177-3AD203B41FA5}">
                      <a16:colId xmlns:a16="http://schemas.microsoft.com/office/drawing/2014/main" val="20001"/>
                    </a:ext>
                  </a:extLst>
                </a:gridCol>
              </a:tblGrid>
              <a:tr h="548640">
                <a:tc>
                  <a:txBody>
                    <a:bodyPr/>
                    <a:lstStyle/>
                    <a:p>
                      <a:pPr algn="ctr"/>
                      <a:r>
                        <a:rPr sz="1800" b="1">
                          <a:solidFill>
                            <a:srgbClr val="FFFFFF"/>
                          </a:solidFill>
                        </a:rPr>
                        <a:t>Field</a:t>
                      </a:r>
                    </a:p>
                  </a:txBody>
                  <a:tcPr>
                    <a:solidFill>
                      <a:srgbClr val="1F3964"/>
                    </a:solidFill>
                  </a:tcPr>
                </a:tc>
                <a:tc>
                  <a:txBody>
                    <a:bodyPr/>
                    <a:lstStyle/>
                    <a:p>
                      <a:pPr algn="ctr"/>
                      <a:r>
                        <a:rPr sz="1800" b="1">
                          <a:solidFill>
                            <a:srgbClr val="FFFFFF"/>
                          </a:solidFill>
                        </a:rPr>
                        <a:t>Examples</a:t>
                      </a:r>
                    </a:p>
                  </a:txBody>
                  <a:tcPr>
                    <a:solidFill>
                      <a:srgbClr val="1F3964"/>
                    </a:solidFill>
                  </a:tcPr>
                </a:tc>
                <a:extLst>
                  <a:ext uri="{0D108BD9-81ED-4DB2-BD59-A6C34878D82A}">
                    <a16:rowId xmlns:a16="http://schemas.microsoft.com/office/drawing/2014/main" val="10000"/>
                  </a:ext>
                </a:extLst>
              </a:tr>
              <a:tr h="548640">
                <a:tc>
                  <a:txBody>
                    <a:bodyPr/>
                    <a:lstStyle/>
                    <a:p>
                      <a:r>
                        <a:rPr sz="1600">
                          <a:solidFill>
                            <a:srgbClr val="444444"/>
                          </a:solidFill>
                        </a:rPr>
                        <a:t>🌐 Web Development</a:t>
                      </a:r>
                    </a:p>
                  </a:txBody>
                  <a:tcPr>
                    <a:solidFill>
                      <a:srgbClr val="F0F4F8"/>
                    </a:solidFill>
                  </a:tcPr>
                </a:tc>
                <a:tc>
                  <a:txBody>
                    <a:bodyPr/>
                    <a:lstStyle/>
                    <a:p>
                      <a:r>
                        <a:rPr sz="1600" dirty="0">
                          <a:solidFill>
                            <a:srgbClr val="444444"/>
                          </a:solidFill>
                        </a:rPr>
                        <a:t>Django</a:t>
                      </a:r>
                      <a:r>
                        <a:rPr lang="en-US" sz="1600" dirty="0">
                          <a:solidFill>
                            <a:srgbClr val="444444"/>
                          </a:solidFill>
                        </a:rPr>
                        <a:t>, Flask, </a:t>
                      </a:r>
                      <a:r>
                        <a:rPr lang="en-US" sz="1600" dirty="0" err="1">
                          <a:solidFill>
                            <a:srgbClr val="444444"/>
                          </a:solidFill>
                        </a:rPr>
                        <a:t>FastAPI</a:t>
                      </a:r>
                      <a:endParaRPr sz="1600" dirty="0">
                        <a:solidFill>
                          <a:srgbClr val="444444"/>
                        </a:solidFill>
                      </a:endParaRPr>
                    </a:p>
                  </a:txBody>
                  <a:tcPr>
                    <a:solidFill>
                      <a:srgbClr val="F0F4F8"/>
                    </a:solidFill>
                  </a:tcPr>
                </a:tc>
                <a:extLst>
                  <a:ext uri="{0D108BD9-81ED-4DB2-BD59-A6C34878D82A}">
                    <a16:rowId xmlns:a16="http://schemas.microsoft.com/office/drawing/2014/main" val="10001"/>
                  </a:ext>
                </a:extLst>
              </a:tr>
              <a:tr h="548640">
                <a:tc>
                  <a:txBody>
                    <a:bodyPr/>
                    <a:lstStyle/>
                    <a:p>
                      <a:r>
                        <a:rPr sz="1600">
                          <a:solidFill>
                            <a:srgbClr val="444444"/>
                          </a:solidFill>
                        </a:rPr>
                        <a:t>🤖 AI &amp; Machine Learning</a:t>
                      </a:r>
                    </a:p>
                  </a:txBody>
                  <a:tcPr>
                    <a:solidFill>
                      <a:srgbClr val="FFFFFF"/>
                    </a:solidFill>
                  </a:tcPr>
                </a:tc>
                <a:tc>
                  <a:txBody>
                    <a:bodyPr/>
                    <a:lstStyle/>
                    <a:p>
                      <a:r>
                        <a:rPr sz="1600" dirty="0">
                          <a:solidFill>
                            <a:srgbClr val="444444"/>
                          </a:solidFill>
                        </a:rPr>
                        <a:t>TensorFlow, </a:t>
                      </a:r>
                      <a:r>
                        <a:rPr lang="en-US" sz="1600" dirty="0" err="1">
                          <a:solidFill>
                            <a:srgbClr val="444444"/>
                          </a:solidFill>
                        </a:rPr>
                        <a:t>PyTorch</a:t>
                      </a:r>
                      <a:r>
                        <a:rPr lang="en-US" sz="1600" dirty="0">
                          <a:solidFill>
                            <a:srgbClr val="444444"/>
                          </a:solidFill>
                        </a:rPr>
                        <a:t>, NLTK, </a:t>
                      </a:r>
                      <a:r>
                        <a:rPr lang="en-US" sz="1600" dirty="0" err="1">
                          <a:solidFill>
                            <a:srgbClr val="444444"/>
                          </a:solidFill>
                        </a:rPr>
                        <a:t>Keras</a:t>
                      </a:r>
                      <a:endParaRPr sz="1600" dirty="0">
                        <a:solidFill>
                          <a:srgbClr val="444444"/>
                        </a:solidFill>
                      </a:endParaRPr>
                    </a:p>
                  </a:txBody>
                  <a:tcPr>
                    <a:solidFill>
                      <a:srgbClr val="FFFFFF"/>
                    </a:solidFill>
                  </a:tcPr>
                </a:tc>
                <a:extLst>
                  <a:ext uri="{0D108BD9-81ED-4DB2-BD59-A6C34878D82A}">
                    <a16:rowId xmlns:a16="http://schemas.microsoft.com/office/drawing/2014/main" val="10002"/>
                  </a:ext>
                </a:extLst>
              </a:tr>
              <a:tr h="548640">
                <a:tc>
                  <a:txBody>
                    <a:bodyPr/>
                    <a:lstStyle/>
                    <a:p>
                      <a:r>
                        <a:rPr sz="1600">
                          <a:solidFill>
                            <a:srgbClr val="444444"/>
                          </a:solidFill>
                        </a:rPr>
                        <a:t>📊 Data Science</a:t>
                      </a:r>
                    </a:p>
                  </a:txBody>
                  <a:tcPr>
                    <a:solidFill>
                      <a:srgbClr val="F0F4F8"/>
                    </a:solidFill>
                  </a:tcPr>
                </a:tc>
                <a:tc>
                  <a:txBody>
                    <a:bodyPr/>
                    <a:lstStyle/>
                    <a:p>
                      <a:r>
                        <a:rPr sz="1600" dirty="0">
                          <a:solidFill>
                            <a:srgbClr val="444444"/>
                          </a:solidFill>
                        </a:rPr>
                        <a:t>Pandas, NumPy</a:t>
                      </a:r>
                    </a:p>
                  </a:txBody>
                  <a:tcPr>
                    <a:solidFill>
                      <a:srgbClr val="F0F4F8"/>
                    </a:solidFill>
                  </a:tcPr>
                </a:tc>
                <a:extLst>
                  <a:ext uri="{0D108BD9-81ED-4DB2-BD59-A6C34878D82A}">
                    <a16:rowId xmlns:a16="http://schemas.microsoft.com/office/drawing/2014/main" val="10003"/>
                  </a:ext>
                </a:extLst>
              </a:tr>
              <a:tr h="548640">
                <a:tc>
                  <a:txBody>
                    <a:bodyPr/>
                    <a:lstStyle/>
                    <a:p>
                      <a:r>
                        <a:rPr sz="1600">
                          <a:solidFill>
                            <a:srgbClr val="444444"/>
                          </a:solidFill>
                        </a:rPr>
                        <a:t>🎮 Game Development</a:t>
                      </a:r>
                    </a:p>
                  </a:txBody>
                  <a:tcPr>
                    <a:solidFill>
                      <a:srgbClr val="FFFFFF"/>
                    </a:solidFill>
                  </a:tcPr>
                </a:tc>
                <a:tc>
                  <a:txBody>
                    <a:bodyPr/>
                    <a:lstStyle/>
                    <a:p>
                      <a:r>
                        <a:rPr sz="1600">
                          <a:solidFill>
                            <a:srgbClr val="444444"/>
                          </a:solidFill>
                        </a:rPr>
                        <a:t>Pygame</a:t>
                      </a:r>
                    </a:p>
                  </a:txBody>
                  <a:tcPr>
                    <a:solidFill>
                      <a:srgbClr val="FFFFFF"/>
                    </a:solidFill>
                  </a:tcPr>
                </a:tc>
                <a:extLst>
                  <a:ext uri="{0D108BD9-81ED-4DB2-BD59-A6C34878D82A}">
                    <a16:rowId xmlns:a16="http://schemas.microsoft.com/office/drawing/2014/main" val="10004"/>
                  </a:ext>
                </a:extLst>
              </a:tr>
              <a:tr h="548640">
                <a:tc>
                  <a:txBody>
                    <a:bodyPr/>
                    <a:lstStyle/>
                    <a:p>
                      <a:r>
                        <a:rPr sz="1600">
                          <a:solidFill>
                            <a:srgbClr val="444444"/>
                          </a:solidFill>
                        </a:rPr>
                        <a:t>🔬 Science &amp; Research</a:t>
                      </a:r>
                    </a:p>
                  </a:txBody>
                  <a:tcPr>
                    <a:solidFill>
                      <a:srgbClr val="F0F4F8"/>
                    </a:solidFill>
                  </a:tcPr>
                </a:tc>
                <a:tc>
                  <a:txBody>
                    <a:bodyPr/>
                    <a:lstStyle/>
                    <a:p>
                      <a:r>
                        <a:rPr sz="1600">
                          <a:solidFill>
                            <a:srgbClr val="444444"/>
                          </a:solidFill>
                        </a:rPr>
                        <a:t>NASA, CERN</a:t>
                      </a:r>
                    </a:p>
                  </a:txBody>
                  <a:tcPr>
                    <a:solidFill>
                      <a:srgbClr val="F0F4F8"/>
                    </a:solidFill>
                  </a:tcPr>
                </a:tc>
                <a:extLst>
                  <a:ext uri="{0D108BD9-81ED-4DB2-BD59-A6C34878D82A}">
                    <a16:rowId xmlns:a16="http://schemas.microsoft.com/office/drawing/2014/main" val="10005"/>
                  </a:ext>
                </a:extLst>
              </a:tr>
              <a:tr h="548640">
                <a:tc>
                  <a:txBody>
                    <a:bodyPr/>
                    <a:lstStyle/>
                    <a:p>
                      <a:r>
                        <a:rPr sz="1600">
                          <a:solidFill>
                            <a:srgbClr val="444444"/>
                          </a:solidFill>
                        </a:rPr>
                        <a:t>🤖 Automation</a:t>
                      </a:r>
                    </a:p>
                  </a:txBody>
                  <a:tcPr>
                    <a:solidFill>
                      <a:srgbClr val="FFFFFF"/>
                    </a:solidFill>
                  </a:tcPr>
                </a:tc>
                <a:tc>
                  <a:txBody>
                    <a:bodyPr/>
                    <a:lstStyle/>
                    <a:p>
                      <a:r>
                        <a:rPr sz="1600" dirty="0">
                          <a:solidFill>
                            <a:srgbClr val="444444"/>
                          </a:solidFill>
                        </a:rPr>
                        <a:t>Scripts, bots, task automation</a:t>
                      </a:r>
                    </a:p>
                  </a:txBody>
                  <a:tcPr>
                    <a:solidFill>
                      <a:srgbClr val="FFFFFF"/>
                    </a:solidFill>
                  </a:tcPr>
                </a:tc>
                <a:extLst>
                  <a:ext uri="{0D108BD9-81ED-4DB2-BD59-A6C34878D82A}">
                    <a16:rowId xmlns:a16="http://schemas.microsoft.com/office/drawing/2014/main" val="10006"/>
                  </a:ext>
                </a:extLst>
              </a:tr>
            </a:tbl>
          </a:graphicData>
        </a:graphic>
      </p:graphicFrame>
      <p:sp>
        <p:nvSpPr>
          <p:cNvPr id="4" name="TextBox 3"/>
          <p:cNvSpPr txBox="1"/>
          <p:nvPr/>
        </p:nvSpPr>
        <p:spPr>
          <a:xfrm>
            <a:off x="914400" y="5577840"/>
            <a:ext cx="10360152" cy="457200"/>
          </a:xfrm>
          <a:prstGeom prst="rect">
            <a:avLst/>
          </a:prstGeom>
          <a:noFill/>
        </p:spPr>
        <p:txBody>
          <a:bodyPr wrap="square">
            <a:spAutoFit/>
          </a:bodyPr>
          <a:lstStyle/>
          <a:p>
            <a:pPr algn="ctr"/>
            <a:r>
              <a:rPr sz="1800" b="1" i="0">
                <a:solidFill>
                  <a:srgbClr val="0070C0"/>
                </a:solidFill>
              </a:rPr>
              <a:t>Python is everywhere — and it's beginner-friendly!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8016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600" b="1">
                <a:solidFill>
                  <a:srgbClr val="FFFFFF"/>
                </a:solidFill>
              </a:rPr>
              <a:t>💻 Setting Up Your Environment</a:t>
            </a:r>
          </a:p>
        </p:txBody>
      </p:sp>
      <p:sp>
        <p:nvSpPr>
          <p:cNvPr id="3" name="TextBox 2"/>
          <p:cNvSpPr txBox="1"/>
          <p:nvPr/>
        </p:nvSpPr>
        <p:spPr>
          <a:xfrm>
            <a:off x="548640" y="1463040"/>
            <a:ext cx="5303520" cy="457200"/>
          </a:xfrm>
          <a:prstGeom prst="rect">
            <a:avLst/>
          </a:prstGeom>
          <a:noFill/>
        </p:spPr>
        <p:txBody>
          <a:bodyPr wrap="square">
            <a:spAutoFit/>
          </a:bodyPr>
          <a:lstStyle/>
          <a:p>
            <a:pPr algn="l"/>
            <a:r>
              <a:rPr sz="2000" b="1" i="0">
                <a:solidFill>
                  <a:srgbClr val="1F3964"/>
                </a:solidFill>
              </a:rPr>
              <a:t>Option 1: Local Install (Recommended)</a:t>
            </a:r>
          </a:p>
        </p:txBody>
      </p:sp>
      <p:sp>
        <p:nvSpPr>
          <p:cNvPr id="4" name="TextBox 3"/>
          <p:cNvSpPr txBox="1"/>
          <p:nvPr/>
        </p:nvSpPr>
        <p:spPr>
          <a:xfrm>
            <a:off x="548640" y="1920240"/>
            <a:ext cx="5303520" cy="1371600"/>
          </a:xfrm>
          <a:prstGeom prst="rect">
            <a:avLst/>
          </a:prstGeom>
          <a:noFill/>
        </p:spPr>
        <p:txBody>
          <a:bodyPr wrap="square">
            <a:spAutoFit/>
          </a:bodyPr>
          <a:lstStyle/>
          <a:p>
            <a:r>
              <a:rPr sz="1700">
                <a:solidFill>
                  <a:srgbClr val="444444"/>
                </a:solidFill>
              </a:rPr>
              <a:t>  1. Go to python.org/downloads</a:t>
            </a:r>
          </a:p>
          <a:p>
            <a:r>
              <a:rPr sz="1700">
                <a:solidFill>
                  <a:srgbClr val="444444"/>
                </a:solidFill>
              </a:rPr>
              <a:t>  2. Download Python 3.10 or newer</a:t>
            </a:r>
          </a:p>
          <a:p>
            <a:r>
              <a:rPr sz="1700">
                <a:solidFill>
                  <a:srgbClr val="444444"/>
                </a:solidFill>
              </a:rPr>
              <a:t>  3. Install VS Code + Python extension</a:t>
            </a:r>
          </a:p>
        </p:txBody>
      </p:sp>
      <p:sp>
        <p:nvSpPr>
          <p:cNvPr id="5" name="TextBox 4"/>
          <p:cNvSpPr txBox="1"/>
          <p:nvPr/>
        </p:nvSpPr>
        <p:spPr>
          <a:xfrm>
            <a:off x="548640" y="3383280"/>
            <a:ext cx="5303520" cy="457200"/>
          </a:xfrm>
          <a:prstGeom prst="rect">
            <a:avLst/>
          </a:prstGeom>
          <a:noFill/>
        </p:spPr>
        <p:txBody>
          <a:bodyPr wrap="square">
            <a:spAutoFit/>
          </a:bodyPr>
          <a:lstStyle/>
          <a:p>
            <a:pPr algn="l"/>
            <a:r>
              <a:rPr sz="2000" b="1" i="0">
                <a:solidFill>
                  <a:srgbClr val="1F3964"/>
                </a:solidFill>
              </a:rPr>
              <a:t>Option 2: Online (Zero Setup)</a:t>
            </a:r>
          </a:p>
        </p:txBody>
      </p:sp>
      <p:sp>
        <p:nvSpPr>
          <p:cNvPr id="6" name="TextBox 5"/>
          <p:cNvSpPr txBox="1"/>
          <p:nvPr/>
        </p:nvSpPr>
        <p:spPr>
          <a:xfrm>
            <a:off x="548640" y="3840480"/>
            <a:ext cx="5303520" cy="353943"/>
          </a:xfrm>
          <a:prstGeom prst="rect">
            <a:avLst/>
          </a:prstGeom>
          <a:noFill/>
        </p:spPr>
        <p:txBody>
          <a:bodyPr wrap="square">
            <a:spAutoFit/>
          </a:bodyPr>
          <a:lstStyle/>
          <a:p>
            <a:r>
              <a:rPr sz="1700" dirty="0">
                <a:solidFill>
                  <a:srgbClr val="444444"/>
                </a:solidFill>
              </a:rPr>
              <a:t>  • Google </a:t>
            </a:r>
            <a:r>
              <a:rPr sz="1700" dirty="0" err="1">
                <a:solidFill>
                  <a:srgbClr val="444444"/>
                </a:solidFill>
              </a:rPr>
              <a:t>Colab</a:t>
            </a:r>
            <a:r>
              <a:rPr sz="1700" dirty="0">
                <a:solidFill>
                  <a:srgbClr val="444444"/>
                </a:solidFill>
              </a:rPr>
              <a:t> — free, in your browser</a:t>
            </a:r>
          </a:p>
        </p:txBody>
      </p:sp>
      <p:sp>
        <p:nvSpPr>
          <p:cNvPr id="7" name="TextBox 6"/>
          <p:cNvSpPr txBox="1"/>
          <p:nvPr/>
        </p:nvSpPr>
        <p:spPr>
          <a:xfrm>
            <a:off x="6583680" y="1463040"/>
            <a:ext cx="5029200" cy="457200"/>
          </a:xfrm>
          <a:prstGeom prst="rect">
            <a:avLst/>
          </a:prstGeom>
          <a:noFill/>
        </p:spPr>
        <p:txBody>
          <a:bodyPr wrap="square">
            <a:spAutoFit/>
          </a:bodyPr>
          <a:lstStyle/>
          <a:p>
            <a:pPr algn="l"/>
            <a:r>
              <a:rPr sz="1800" b="1" i="0">
                <a:solidFill>
                  <a:srgbClr val="1F3964"/>
                </a:solidFill>
              </a:rPr>
              <a:t>Verify your installation:</a:t>
            </a:r>
          </a:p>
        </p:txBody>
      </p:sp>
      <p:sp>
        <p:nvSpPr>
          <p:cNvPr id="8" name="Rectangle 7"/>
          <p:cNvSpPr/>
          <p:nvPr/>
        </p:nvSpPr>
        <p:spPr>
          <a:xfrm>
            <a:off x="6583680" y="1920240"/>
            <a:ext cx="5029200" cy="1188720"/>
          </a:xfrm>
          <a:prstGeom prst="rect">
            <a:avLst/>
          </a:prstGeom>
          <a:solidFill>
            <a:srgbClr val="1E1E1E"/>
          </a:solidFill>
          <a:ln>
            <a:solidFill>
              <a:srgbClr val="555555"/>
            </a:solidFill>
          </a:ln>
        </p:spPr>
        <p:style>
          <a:lnRef idx="1">
            <a:schemeClr val="accent1"/>
          </a:lnRef>
          <a:fillRef idx="3">
            <a:schemeClr val="accent1"/>
          </a:fillRef>
          <a:effectRef idx="2">
            <a:schemeClr val="accent1"/>
          </a:effectRef>
          <a:fontRef idx="minor">
            <a:schemeClr val="lt1"/>
          </a:fontRef>
        </p:style>
        <p:txBody>
          <a:bodyPr wrap="none" rtlCol="0" anchor="ctr"/>
          <a:lstStyle/>
          <a:p>
            <a:r>
              <a:rPr sz="1300" dirty="0">
                <a:solidFill>
                  <a:srgbClr val="D4D4D4"/>
                </a:solidFill>
                <a:latin typeface="Courier New"/>
              </a:rPr>
              <a:t>python --version</a:t>
            </a:r>
          </a:p>
          <a:p>
            <a:r>
              <a:rPr sz="1300" dirty="0">
                <a:solidFill>
                  <a:srgbClr val="D4D4D4"/>
                </a:solidFill>
                <a:latin typeface="Courier New"/>
              </a:rPr>
              <a:t># Should show: Python 3.10.x or higher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8016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600" b="1" dirty="0">
                <a:solidFill>
                  <a:srgbClr val="FFFFFF"/>
                </a:solidFill>
              </a:rPr>
              <a:t>👋 Your First Python Program</a:t>
            </a:r>
          </a:p>
        </p:txBody>
      </p:sp>
      <p:sp>
        <p:nvSpPr>
          <p:cNvPr id="3" name="TextBox 2"/>
          <p:cNvSpPr txBox="1"/>
          <p:nvPr/>
        </p:nvSpPr>
        <p:spPr>
          <a:xfrm>
            <a:off x="731520" y="1463040"/>
            <a:ext cx="10515600" cy="457200"/>
          </a:xfrm>
          <a:prstGeom prst="rect">
            <a:avLst/>
          </a:prstGeom>
          <a:noFill/>
        </p:spPr>
        <p:txBody>
          <a:bodyPr wrap="square">
            <a:spAutoFit/>
          </a:bodyPr>
          <a:lstStyle/>
          <a:p>
            <a:pPr algn="l"/>
            <a:r>
              <a:rPr sz="2000" b="0" i="0">
                <a:solidFill>
                  <a:srgbClr val="444444"/>
                </a:solidFill>
              </a:rPr>
              <a:t>Open your editor and type:</a:t>
            </a:r>
          </a:p>
        </p:txBody>
      </p:sp>
      <p:sp>
        <p:nvSpPr>
          <p:cNvPr id="4" name="Rectangle 3"/>
          <p:cNvSpPr/>
          <p:nvPr/>
        </p:nvSpPr>
        <p:spPr>
          <a:xfrm>
            <a:off x="731520" y="1920240"/>
            <a:ext cx="10515600" cy="457200"/>
          </a:xfrm>
          <a:prstGeom prst="rect">
            <a:avLst/>
          </a:prstGeom>
          <a:solidFill>
            <a:srgbClr val="282C34"/>
          </a:solidFill>
          <a:ln>
            <a:solidFill>
              <a:srgbClr val="555555"/>
            </a:solidFill>
          </a:ln>
        </p:spPr>
        <p:style>
          <a:lnRef idx="1">
            <a:schemeClr val="accent1"/>
          </a:lnRef>
          <a:fillRef idx="3">
            <a:schemeClr val="accent1"/>
          </a:fillRef>
          <a:effectRef idx="2">
            <a:schemeClr val="accent1"/>
          </a:effectRef>
          <a:fontRef idx="minor">
            <a:schemeClr val="lt1"/>
          </a:fontRef>
        </p:style>
        <p:txBody>
          <a:bodyPr wrap="none" rtlCol="0" anchor="ctr"/>
          <a:lstStyle/>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a:t>
            </a:r>
            <a:r>
              <a:rPr lang="en-US" sz="1400" b="0" dirty="0">
                <a:solidFill>
                  <a:srgbClr val="E5C07B"/>
                </a:solidFill>
                <a:effectLst/>
                <a:latin typeface="Consolas" panose="020B0609020204030204" pitchFamily="49" charset="0"/>
              </a:rPr>
              <a:t>"Hello, World!"</a:t>
            </a:r>
            <a:r>
              <a:rPr lang="en-US" sz="1400" b="0" dirty="0">
                <a:solidFill>
                  <a:srgbClr val="BBBBBB"/>
                </a:solidFill>
                <a:effectLst/>
                <a:latin typeface="Consolas" panose="020B0609020204030204" pitchFamily="49" charset="0"/>
              </a:rPr>
              <a:t>)</a:t>
            </a:r>
          </a:p>
        </p:txBody>
      </p:sp>
      <p:sp>
        <p:nvSpPr>
          <p:cNvPr id="5" name="TextBox 4"/>
          <p:cNvSpPr txBox="1"/>
          <p:nvPr/>
        </p:nvSpPr>
        <p:spPr>
          <a:xfrm>
            <a:off x="731520" y="2834640"/>
            <a:ext cx="10515600" cy="457200"/>
          </a:xfrm>
          <a:prstGeom prst="rect">
            <a:avLst/>
          </a:prstGeom>
          <a:noFill/>
        </p:spPr>
        <p:txBody>
          <a:bodyPr wrap="square">
            <a:spAutoFit/>
          </a:bodyPr>
          <a:lstStyle/>
          <a:p>
            <a:pPr algn="l"/>
            <a:r>
              <a:rPr sz="2000" b="0" i="0" dirty="0">
                <a:solidFill>
                  <a:srgbClr val="444444"/>
                </a:solidFill>
              </a:rPr>
              <a:t>Run it! You should see:</a:t>
            </a:r>
          </a:p>
        </p:txBody>
      </p:sp>
      <p:sp>
        <p:nvSpPr>
          <p:cNvPr id="6" name="Rectangle 5"/>
          <p:cNvSpPr/>
          <p:nvPr/>
        </p:nvSpPr>
        <p:spPr>
          <a:xfrm>
            <a:off x="731520" y="3291839"/>
            <a:ext cx="10515600" cy="457201"/>
          </a:xfrm>
          <a:prstGeom prst="rect">
            <a:avLst/>
          </a:prstGeom>
          <a:solidFill>
            <a:srgbClr val="282C34"/>
          </a:solidFill>
          <a:ln>
            <a:solidFill>
              <a:srgbClr val="555555"/>
            </a:solidFill>
          </a:ln>
        </p:spPr>
        <p:style>
          <a:lnRef idx="1">
            <a:schemeClr val="accent1"/>
          </a:lnRef>
          <a:fillRef idx="3">
            <a:schemeClr val="accent1"/>
          </a:fillRef>
          <a:effectRef idx="2">
            <a:schemeClr val="accent1"/>
          </a:effectRef>
          <a:fontRef idx="minor">
            <a:schemeClr val="lt1"/>
          </a:fontRef>
        </p:style>
        <p:txBody>
          <a:bodyPr wrap="none" rtlCol="0" anchor="ctr"/>
          <a:lstStyle/>
          <a:p>
            <a:r>
              <a:rPr lang="en-US" sz="1400" dirty="0">
                <a:solidFill>
                  <a:srgbClr val="D4D4D4"/>
                </a:solidFill>
                <a:latin typeface="Consolas" panose="020B0609020204030204" pitchFamily="49" charset="0"/>
              </a:rPr>
              <a:t>Hello, World!</a:t>
            </a:r>
            <a:endParaRPr sz="1400" dirty="0">
              <a:solidFill>
                <a:srgbClr val="D4D4D4"/>
              </a:solidFill>
              <a:latin typeface="Consolas" panose="020B0609020204030204" pitchFamily="49" charset="0"/>
            </a:endParaRPr>
          </a:p>
        </p:txBody>
      </p:sp>
      <p:sp>
        <p:nvSpPr>
          <p:cNvPr id="7" name="TextBox 6"/>
          <p:cNvSpPr txBox="1"/>
          <p:nvPr/>
        </p:nvSpPr>
        <p:spPr>
          <a:xfrm>
            <a:off x="731520" y="4023360"/>
            <a:ext cx="10515600" cy="457200"/>
          </a:xfrm>
          <a:prstGeom prst="rect">
            <a:avLst/>
          </a:prstGeom>
          <a:noFill/>
        </p:spPr>
        <p:txBody>
          <a:bodyPr wrap="square">
            <a:spAutoFit/>
          </a:bodyPr>
          <a:lstStyle/>
          <a:p>
            <a:pPr algn="ctr"/>
            <a:r>
              <a:rPr sz="2400" b="1" i="0">
                <a:solidFill>
                  <a:srgbClr val="007A33"/>
                </a:solidFill>
              </a:rPr>
              <a:t>Congratulations — you're a programmer! 🎉</a:t>
            </a:r>
          </a:p>
        </p:txBody>
      </p:sp>
      <p:sp>
        <p:nvSpPr>
          <p:cNvPr id="8" name="TextBox 7"/>
          <p:cNvSpPr txBox="1"/>
          <p:nvPr/>
        </p:nvSpPr>
        <p:spPr>
          <a:xfrm>
            <a:off x="731520" y="4572000"/>
            <a:ext cx="10515600" cy="457200"/>
          </a:xfrm>
          <a:prstGeom prst="rect">
            <a:avLst/>
          </a:prstGeom>
          <a:noFill/>
        </p:spPr>
        <p:txBody>
          <a:bodyPr wrap="square">
            <a:spAutoFit/>
          </a:bodyPr>
          <a:lstStyle/>
          <a:p>
            <a:pPr algn="l"/>
            <a:r>
              <a:rPr sz="2000" b="1" i="0">
                <a:solidFill>
                  <a:srgbClr val="1F3964"/>
                </a:solidFill>
              </a:rPr>
              <a:t>More print examples:</a:t>
            </a:r>
          </a:p>
        </p:txBody>
      </p:sp>
      <p:sp>
        <p:nvSpPr>
          <p:cNvPr id="9" name="Rectangle 8"/>
          <p:cNvSpPr/>
          <p:nvPr/>
        </p:nvSpPr>
        <p:spPr>
          <a:xfrm>
            <a:off x="731520" y="5029200"/>
            <a:ext cx="10515600" cy="1280160"/>
          </a:xfrm>
          <a:prstGeom prst="rect">
            <a:avLst/>
          </a:prstGeom>
          <a:solidFill>
            <a:srgbClr val="282C34"/>
          </a:solidFill>
          <a:ln>
            <a:solidFill>
              <a:srgbClr val="555555"/>
            </a:solidFill>
          </a:ln>
        </p:spPr>
        <p:style>
          <a:lnRef idx="1">
            <a:schemeClr val="accent1"/>
          </a:lnRef>
          <a:fillRef idx="3">
            <a:schemeClr val="accent1"/>
          </a:fillRef>
          <a:effectRef idx="2">
            <a:schemeClr val="accent1"/>
          </a:effectRef>
          <a:fontRef idx="minor">
            <a:schemeClr val="lt1"/>
          </a:fontRef>
        </p:style>
        <p:txBody>
          <a:bodyPr wrap="none" rtlCol="0" anchor="ctr"/>
          <a:lstStyle/>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a:t>
            </a:r>
            <a:r>
              <a:rPr lang="en-US" sz="1400" b="0" dirty="0">
                <a:solidFill>
                  <a:srgbClr val="E5C07B"/>
                </a:solidFill>
                <a:effectLst/>
                <a:latin typeface="Consolas" panose="020B0609020204030204" pitchFamily="49" charset="0"/>
              </a:rPr>
              <a:t>"My name is Bob."</a:t>
            </a:r>
            <a:r>
              <a:rPr lang="en-US" sz="1400" b="0" dirty="0">
                <a:solidFill>
                  <a:srgbClr val="BBBBBB"/>
                </a:solidFill>
                <a:effectLst/>
                <a:latin typeface="Consolas" panose="020B0609020204030204" pitchFamily="49" charset="0"/>
              </a:rPr>
              <a:t>)</a:t>
            </a: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a:t>
            </a:r>
            <a:r>
              <a:rPr lang="en-US" sz="1400" b="0" dirty="0">
                <a:solidFill>
                  <a:srgbClr val="E5C07B"/>
                </a:solidFill>
                <a:effectLst/>
                <a:latin typeface="Consolas" panose="020B0609020204030204" pitchFamily="49" charset="0"/>
              </a:rPr>
              <a:t>"There are"</a:t>
            </a:r>
            <a:r>
              <a:rPr lang="en-US" sz="1400" b="0" dirty="0">
                <a:solidFill>
                  <a:srgbClr val="ABB2BF"/>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60</a:t>
            </a:r>
            <a:r>
              <a:rPr lang="en-US" sz="1400" b="0" dirty="0">
                <a:solidFill>
                  <a:srgbClr val="BBBBBB"/>
                </a:solidFill>
                <a:effectLst/>
                <a:latin typeface="Consolas" panose="020B0609020204030204" pitchFamily="49" charset="0"/>
              </a:rPr>
              <a: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60</a:t>
            </a:r>
            <a:r>
              <a:rPr lang="en-US" sz="1400" b="0" dirty="0">
                <a:solidFill>
                  <a:srgbClr val="BBBBBB"/>
                </a:solidFill>
                <a:effectLst/>
                <a:latin typeface="Consolas" panose="020B0609020204030204" pitchFamily="49" charset="0"/>
              </a:rPr>
              <a: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24</a:t>
            </a:r>
            <a:r>
              <a:rPr lang="en-US" sz="1400" b="0" dirty="0">
                <a:solidFill>
                  <a:srgbClr val="ABB2BF"/>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E5C07B"/>
                </a:solidFill>
                <a:effectLst/>
                <a:latin typeface="Consolas" panose="020B0609020204030204" pitchFamily="49" charset="0"/>
              </a:rPr>
              <a:t>"seconds in a day."</a:t>
            </a:r>
            <a:r>
              <a:rPr lang="en-US" sz="1400" b="0" dirty="0">
                <a:solidFill>
                  <a:srgbClr val="BBBBBB"/>
                </a:solidFill>
                <a:effectLst/>
                <a:latin typeface="Consolas" panose="020B0609020204030204" pitchFamily="49" charset="0"/>
              </a:rPr>
              <a:t>)</a:t>
            </a: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a:t>
            </a:r>
            <a:r>
              <a:rPr lang="en-US" sz="1400" b="0" dirty="0">
                <a:solidFill>
                  <a:srgbClr val="E5C07B"/>
                </a:solidFill>
                <a:effectLst/>
                <a:latin typeface="Consolas" panose="020B0609020204030204" pitchFamily="49" charset="0"/>
              </a:rPr>
              <a:t>"The answer to the Ultimate Question of Life, The Universe, and Everything is"</a:t>
            </a:r>
            <a:r>
              <a:rPr lang="en-US" sz="1400" b="0" dirty="0">
                <a:solidFill>
                  <a:srgbClr val="ABB2BF"/>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42</a:t>
            </a:r>
            <a:r>
              <a:rPr lang="en-US" sz="1400" b="0" dirty="0">
                <a:solidFill>
                  <a:srgbClr val="BBBBBB"/>
                </a:solidFill>
                <a:effectLst/>
                <a:latin typeface="Consolas" panose="020B0609020204030204" pitchFamily="49" charset="0"/>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8016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600" b="1" dirty="0">
                <a:solidFill>
                  <a:srgbClr val="FFFFFF"/>
                </a:solidFill>
              </a:rPr>
              <a:t>📦 </a:t>
            </a:r>
            <a:r>
              <a:rPr lang="en-US" sz="3600" b="1" dirty="0">
                <a:solidFill>
                  <a:srgbClr val="FFFFFF"/>
                </a:solidFill>
              </a:rPr>
              <a:t>Literals</a:t>
            </a:r>
            <a:endParaRPr sz="3600" b="1" dirty="0">
              <a:solidFill>
                <a:srgbClr val="FFFFFF"/>
              </a:solidFill>
            </a:endParaRPr>
          </a:p>
        </p:txBody>
      </p:sp>
      <p:sp>
        <p:nvSpPr>
          <p:cNvPr id="3" name="TextBox 2"/>
          <p:cNvSpPr txBox="1"/>
          <p:nvPr/>
        </p:nvSpPr>
        <p:spPr>
          <a:xfrm>
            <a:off x="731520" y="1463040"/>
            <a:ext cx="10515600" cy="1015663"/>
          </a:xfrm>
          <a:prstGeom prst="rect">
            <a:avLst/>
          </a:prstGeom>
          <a:noFill/>
        </p:spPr>
        <p:txBody>
          <a:bodyPr wrap="square">
            <a:spAutoFit/>
          </a:bodyPr>
          <a:lstStyle/>
          <a:p>
            <a:pPr algn="l"/>
            <a:r>
              <a:rPr sz="2000" b="0" i="0" dirty="0">
                <a:solidFill>
                  <a:srgbClr val="444444"/>
                </a:solidFill>
              </a:rPr>
              <a:t>A </a:t>
            </a:r>
            <a:r>
              <a:rPr lang="en-US" sz="2000" b="1" dirty="0">
                <a:solidFill>
                  <a:srgbClr val="444444"/>
                </a:solidFill>
              </a:rPr>
              <a:t>literal</a:t>
            </a:r>
            <a:r>
              <a:rPr lang="en-US" sz="2000" dirty="0">
                <a:solidFill>
                  <a:srgbClr val="444444"/>
                </a:solidFill>
              </a:rPr>
              <a:t> is a textual representation (notation) of a value as it is written in source code.</a:t>
            </a:r>
          </a:p>
          <a:p>
            <a:pPr algn="l"/>
            <a:r>
              <a:rPr lang="en-US" sz="2000" b="0" i="0" dirty="0">
                <a:solidFill>
                  <a:srgbClr val="444444"/>
                </a:solidFill>
              </a:rPr>
              <a:t>Fixed values such as numbers, letters, and strings.</a:t>
            </a:r>
          </a:p>
          <a:p>
            <a:r>
              <a:rPr lang="en-US" sz="2000" dirty="0">
                <a:solidFill>
                  <a:srgbClr val="444444"/>
                </a:solidFill>
              </a:rPr>
              <a:t>String constants use single quotes (‘) or double quotes (").</a:t>
            </a:r>
          </a:p>
        </p:txBody>
      </p:sp>
      <p:sp>
        <p:nvSpPr>
          <p:cNvPr id="7" name="Rectangle 6">
            <a:extLst>
              <a:ext uri="{FF2B5EF4-FFF2-40B4-BE49-F238E27FC236}">
                <a16:creationId xmlns:a16="http://schemas.microsoft.com/office/drawing/2014/main" id="{60CEDC4C-E66F-EF0C-7D92-6ED623CF7178}"/>
              </a:ext>
            </a:extLst>
          </p:cNvPr>
          <p:cNvSpPr/>
          <p:nvPr/>
        </p:nvSpPr>
        <p:spPr>
          <a:xfrm>
            <a:off x="836612" y="2788920"/>
            <a:ext cx="10515600" cy="3462590"/>
          </a:xfrm>
          <a:prstGeom prst="rect">
            <a:avLst/>
          </a:prstGeom>
          <a:solidFill>
            <a:srgbClr val="282C34"/>
          </a:solidFill>
          <a:ln>
            <a:solidFill>
              <a:srgbClr val="555555"/>
            </a:solidFill>
          </a:ln>
        </p:spPr>
        <p:style>
          <a:lnRef idx="1">
            <a:schemeClr val="accent1"/>
          </a:lnRef>
          <a:fillRef idx="3">
            <a:schemeClr val="accent1"/>
          </a:fillRef>
          <a:effectRef idx="2">
            <a:schemeClr val="accent1"/>
          </a:effectRef>
          <a:fontRef idx="minor">
            <a:schemeClr val="lt1"/>
          </a:fontRef>
        </p:style>
        <p:txBody>
          <a:bodyPr wrap="none" rtlCol="0" anchor="ctr"/>
          <a:lstStyle/>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a:t>
            </a:r>
            <a:r>
              <a:rPr lang="en-US" sz="1400" b="0" dirty="0">
                <a:solidFill>
                  <a:srgbClr val="E5C07B"/>
                </a:solidFill>
                <a:effectLst/>
                <a:latin typeface="Consolas" panose="020B0609020204030204" pitchFamily="49" charset="0"/>
              </a:rPr>
              <a:t>"My name is Bob."</a:t>
            </a:r>
            <a:r>
              <a:rPr lang="en-US" sz="1400" b="0" dirty="0">
                <a:solidFill>
                  <a:srgbClr val="BBBBBB"/>
                </a:solidFill>
                <a:effectLst/>
                <a:latin typeface="Consolas" panose="020B0609020204030204" pitchFamily="49" charset="0"/>
              </a:rPr>
              <a:t>)</a:t>
            </a: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a:t>
            </a:r>
            <a:r>
              <a:rPr lang="en-US" sz="1400" b="0" dirty="0">
                <a:solidFill>
                  <a:srgbClr val="E5C07B"/>
                </a:solidFill>
                <a:effectLst/>
                <a:latin typeface="Consolas" panose="020B0609020204030204" pitchFamily="49" charset="0"/>
              </a:rPr>
              <a:t>'Also a string'</a:t>
            </a:r>
            <a:r>
              <a:rPr lang="en-US" sz="1400" b="0" dirty="0">
                <a:solidFill>
                  <a:srgbClr val="BBBBBB"/>
                </a:solidFill>
                <a:effectLst/>
                <a:latin typeface="Consolas" panose="020B0609020204030204" pitchFamily="49" charset="0"/>
              </a:rPr>
              <a:t>)</a:t>
            </a: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a:t>
            </a:r>
            <a:r>
              <a:rPr lang="en-US" sz="1400" b="0" dirty="0">
                <a:solidFill>
                  <a:srgbClr val="E5C07B"/>
                </a:solidFill>
                <a:effectLst/>
                <a:latin typeface="Consolas" panose="020B0609020204030204" pitchFamily="49" charset="0"/>
              </a:rPr>
              <a:t>"""This is a string that </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E5C07B"/>
                </a:solidFill>
                <a:effectLst/>
                <a:latin typeface="Consolas" panose="020B0609020204030204" pitchFamily="49" charset="0"/>
              </a:rPr>
              <a:t>  can span multiple lines"""</a:t>
            </a:r>
            <a:r>
              <a:rPr lang="en-US" sz="1400" b="0" dirty="0">
                <a:solidFill>
                  <a:srgbClr val="BBBBBB"/>
                </a:solidFill>
                <a:effectLst/>
                <a:latin typeface="Consolas" panose="020B0609020204030204" pitchFamily="49" charset="0"/>
              </a:rPr>
              <a:t>)</a:t>
            </a: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a:t>
            </a:r>
            <a:r>
              <a:rPr lang="en-US" sz="1400" b="0" dirty="0">
                <a:solidFill>
                  <a:srgbClr val="E5C07B"/>
                </a:solidFill>
                <a:effectLst/>
                <a:latin typeface="Consolas" panose="020B0609020204030204" pitchFamily="49" charset="0"/>
              </a:rPr>
              <a:t>'''This is also a string that </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E5C07B"/>
                </a:solidFill>
                <a:effectLst/>
                <a:latin typeface="Consolas" panose="020B0609020204030204" pitchFamily="49" charset="0"/>
              </a:rPr>
              <a:t>  can span multiple lines'''</a:t>
            </a:r>
            <a:r>
              <a:rPr lang="en-US" sz="1400" b="0" dirty="0">
                <a:solidFill>
                  <a:srgbClr val="BBBBBB"/>
                </a:solidFill>
                <a:effectLst/>
                <a:latin typeface="Consolas" panose="020B0609020204030204" pitchFamily="49" charset="0"/>
              </a:rPr>
              <a:t>)</a:t>
            </a:r>
          </a:p>
          <a:p>
            <a:pPr>
              <a:lnSpc>
                <a:spcPts val="1425"/>
              </a:lnSpc>
              <a:buNone/>
            </a:pPr>
            <a:br>
              <a:rPr lang="en-US" sz="1400" b="0" dirty="0">
                <a:solidFill>
                  <a:srgbClr val="BBBBBB"/>
                </a:solidFill>
                <a:effectLst/>
                <a:latin typeface="Consolas" panose="020B0609020204030204" pitchFamily="49" charset="0"/>
              </a:rPr>
            </a:b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a:t>
            </a:r>
            <a:r>
              <a:rPr lang="en-US" sz="1400" b="0" dirty="0">
                <a:solidFill>
                  <a:srgbClr val="C678DD"/>
                </a:solidFill>
                <a:effectLst/>
                <a:latin typeface="Consolas" panose="020B0609020204030204" pitchFamily="49" charset="0"/>
              </a:rPr>
              <a:t>255</a:t>
            </a:r>
            <a:r>
              <a:rPr lang="en-US" sz="1400" b="0" dirty="0">
                <a:solidFill>
                  <a:srgbClr val="BBBBBB"/>
                </a:solidFill>
                <a:effectLst/>
                <a:latin typeface="Consolas" panose="020B0609020204030204" pitchFamily="49" charset="0"/>
              </a:rPr>
              <a:t>)</a:t>
            </a: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a:t>
            </a:r>
            <a:r>
              <a:rPr lang="en-US" sz="1400" b="0" dirty="0">
                <a:solidFill>
                  <a:srgbClr val="C678DD"/>
                </a:solidFill>
                <a:effectLst/>
                <a:latin typeface="Consolas" panose="020B0609020204030204" pitchFamily="49" charset="0"/>
              </a:rPr>
              <a:t>10_000_000</a:t>
            </a:r>
            <a:r>
              <a:rPr lang="en-US" sz="1400" b="0" dirty="0">
                <a:solidFill>
                  <a:srgbClr val="BBBBBB"/>
                </a:solidFill>
                <a:effectLst/>
                <a:latin typeface="Consolas" panose="020B0609020204030204" pitchFamily="49" charset="0"/>
              </a:rPr>
              <a:t>)</a:t>
            </a:r>
          </a:p>
          <a:p>
            <a:pPr>
              <a:lnSpc>
                <a:spcPts val="1425"/>
              </a:lnSpc>
              <a:buNone/>
            </a:pPr>
            <a:br>
              <a:rPr lang="en-US" sz="1400" b="0" dirty="0">
                <a:solidFill>
                  <a:srgbClr val="BBBBBB"/>
                </a:solidFill>
                <a:effectLst/>
                <a:latin typeface="Consolas" panose="020B0609020204030204" pitchFamily="49" charset="0"/>
              </a:rPr>
            </a:b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a:t>
            </a:r>
            <a:r>
              <a:rPr lang="en-US" sz="1400" b="0" dirty="0">
                <a:solidFill>
                  <a:srgbClr val="C678DD"/>
                </a:solidFill>
                <a:effectLst/>
                <a:latin typeface="Consolas" panose="020B0609020204030204" pitchFamily="49" charset="0"/>
              </a:rPr>
              <a:t>7.5</a:t>
            </a:r>
            <a:r>
              <a:rPr lang="en-US" sz="1400" b="0" dirty="0">
                <a:solidFill>
                  <a:srgbClr val="BBBBBB"/>
                </a:solidFill>
                <a:effectLst/>
                <a:latin typeface="Consolas" panose="020B0609020204030204" pitchFamily="49" charset="0"/>
              </a:rPr>
              <a:t>)</a:t>
            </a: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a:t>
            </a:r>
            <a:r>
              <a:rPr lang="en-US" sz="1400" b="0" dirty="0">
                <a:solidFill>
                  <a:srgbClr val="C678DD"/>
                </a:solidFill>
                <a:effectLst/>
                <a:latin typeface="Consolas" panose="020B0609020204030204" pitchFamily="49" charset="0"/>
              </a:rPr>
              <a:t>1.0e-3</a:t>
            </a:r>
            <a:r>
              <a:rPr lang="en-US" sz="1400" b="0" dirty="0">
                <a:solidFill>
                  <a:srgbClr val="BBBBBB"/>
                </a:solidFill>
                <a:effectLst/>
                <a:latin typeface="Consolas" panose="020B0609020204030204" pitchFamily="49" charset="0"/>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84CAE-7734-6E39-CFCF-D5DAD68F2EA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7032544-3D80-3A98-C64D-2C52A1CD6B24}"/>
              </a:ext>
            </a:extLst>
          </p:cNvPr>
          <p:cNvSpPr/>
          <p:nvPr/>
        </p:nvSpPr>
        <p:spPr>
          <a:xfrm>
            <a:off x="0" y="0"/>
            <a:ext cx="12188952" cy="128016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600" b="1" dirty="0">
                <a:solidFill>
                  <a:srgbClr val="FFFFFF"/>
                </a:solidFill>
              </a:rPr>
              <a:t>📦 Variables — Boxes That Hold Values</a:t>
            </a:r>
          </a:p>
        </p:txBody>
      </p:sp>
      <p:sp>
        <p:nvSpPr>
          <p:cNvPr id="3" name="TextBox 2">
            <a:extLst>
              <a:ext uri="{FF2B5EF4-FFF2-40B4-BE49-F238E27FC236}">
                <a16:creationId xmlns:a16="http://schemas.microsoft.com/office/drawing/2014/main" id="{85EE0351-9513-69D3-14EB-BB4B7C91DAE2}"/>
              </a:ext>
            </a:extLst>
          </p:cNvPr>
          <p:cNvSpPr txBox="1"/>
          <p:nvPr/>
        </p:nvSpPr>
        <p:spPr>
          <a:xfrm>
            <a:off x="731520" y="1463040"/>
            <a:ext cx="10515600" cy="1015663"/>
          </a:xfrm>
          <a:prstGeom prst="rect">
            <a:avLst/>
          </a:prstGeom>
          <a:noFill/>
        </p:spPr>
        <p:txBody>
          <a:bodyPr wrap="square">
            <a:spAutoFit/>
          </a:bodyPr>
          <a:lstStyle/>
          <a:p>
            <a:pPr marL="342900" indent="-342900" algn="l">
              <a:buFont typeface="Arial" panose="020B0604020202020204" pitchFamily="34" charset="0"/>
              <a:buChar char="•"/>
            </a:pPr>
            <a:r>
              <a:rPr lang="en-US" sz="2000" b="0" i="0" dirty="0">
                <a:solidFill>
                  <a:srgbClr val="444444"/>
                </a:solidFill>
              </a:rPr>
              <a:t>A </a:t>
            </a:r>
            <a:r>
              <a:rPr lang="en-US" sz="2000" b="1" i="0" dirty="0">
                <a:solidFill>
                  <a:srgbClr val="444444"/>
                </a:solidFill>
              </a:rPr>
              <a:t>variable</a:t>
            </a:r>
            <a:r>
              <a:rPr lang="en-US" sz="2000" b="0" i="0" dirty="0">
                <a:solidFill>
                  <a:srgbClr val="444444"/>
                </a:solidFill>
              </a:rPr>
              <a:t> is a named place in the memory where a programmer can store data and later retrieve the data using the </a:t>
            </a:r>
            <a:r>
              <a:rPr lang="en-US" sz="2000" b="1" i="0" dirty="0">
                <a:solidFill>
                  <a:srgbClr val="444444"/>
                </a:solidFill>
              </a:rPr>
              <a:t>variable</a:t>
            </a:r>
            <a:r>
              <a:rPr lang="en-US" sz="2000" b="0" i="0" dirty="0">
                <a:solidFill>
                  <a:srgbClr val="444444"/>
                </a:solidFill>
              </a:rPr>
              <a:t> “name</a:t>
            </a:r>
            <a:r>
              <a:rPr lang="en-US" sz="2000" dirty="0">
                <a:solidFill>
                  <a:srgbClr val="444444"/>
                </a:solidFill>
              </a:rPr>
              <a:t>”.</a:t>
            </a:r>
            <a:endParaRPr lang="en-US" sz="2000" b="0" i="0" dirty="0">
              <a:solidFill>
                <a:srgbClr val="444444"/>
              </a:solidFill>
            </a:endParaRPr>
          </a:p>
          <a:p>
            <a:pPr marL="342900" indent="-342900" algn="l">
              <a:buFont typeface="Arial" panose="020B0604020202020204" pitchFamily="34" charset="0"/>
              <a:buChar char="•"/>
            </a:pPr>
            <a:r>
              <a:rPr lang="en-US" sz="2000" b="0" i="0" dirty="0">
                <a:solidFill>
                  <a:srgbClr val="444444"/>
                </a:solidFill>
              </a:rPr>
              <a:t>Programmers get to choose the names of the </a:t>
            </a:r>
            <a:r>
              <a:rPr lang="en-US" sz="2000" b="1" i="0" dirty="0">
                <a:solidFill>
                  <a:srgbClr val="444444"/>
                </a:solidFill>
              </a:rPr>
              <a:t>variables.</a:t>
            </a:r>
          </a:p>
        </p:txBody>
      </p:sp>
      <p:sp>
        <p:nvSpPr>
          <p:cNvPr id="4" name="Rectangle 3">
            <a:extLst>
              <a:ext uri="{FF2B5EF4-FFF2-40B4-BE49-F238E27FC236}">
                <a16:creationId xmlns:a16="http://schemas.microsoft.com/office/drawing/2014/main" id="{618E57AA-706F-B09F-BF97-5D113340E79F}"/>
              </a:ext>
            </a:extLst>
          </p:cNvPr>
          <p:cNvSpPr/>
          <p:nvPr/>
        </p:nvSpPr>
        <p:spPr>
          <a:xfrm>
            <a:off x="895566" y="2606040"/>
            <a:ext cx="10515600" cy="1645920"/>
          </a:xfrm>
          <a:prstGeom prst="rect">
            <a:avLst/>
          </a:prstGeom>
          <a:solidFill>
            <a:srgbClr val="282C34"/>
          </a:solidFill>
          <a:ln>
            <a:solidFill>
              <a:srgbClr val="555555"/>
            </a:solidFill>
          </a:ln>
        </p:spPr>
        <p:style>
          <a:lnRef idx="1">
            <a:schemeClr val="accent1"/>
          </a:lnRef>
          <a:fillRef idx="3">
            <a:schemeClr val="accent1"/>
          </a:fillRef>
          <a:effectRef idx="2">
            <a:schemeClr val="accent1"/>
          </a:effectRef>
          <a:fontRef idx="minor">
            <a:schemeClr val="lt1"/>
          </a:fontRef>
        </p:style>
        <p:txBody>
          <a:bodyPr wrap="none" rtlCol="0" anchor="ctr"/>
          <a:lstStyle/>
          <a:p>
            <a:pPr>
              <a:lnSpc>
                <a:spcPts val="1425"/>
              </a:lnSpc>
              <a:buNone/>
            </a:pPr>
            <a:r>
              <a:rPr lang="es-ES" sz="1400" b="0" dirty="0">
                <a:solidFill>
                  <a:srgbClr val="BBBBBB"/>
                </a:solidFill>
                <a:effectLst/>
                <a:latin typeface="Consolas" panose="020B0609020204030204" pitchFamily="49" charset="0"/>
              </a:rPr>
              <a:t>x </a:t>
            </a:r>
            <a:r>
              <a:rPr lang="es-ES" sz="1400" b="0" dirty="0">
                <a:solidFill>
                  <a:srgbClr val="E06C75"/>
                </a:solidFill>
                <a:effectLst/>
                <a:latin typeface="Consolas" panose="020B0609020204030204" pitchFamily="49" charset="0"/>
              </a:rPr>
              <a:t>=</a:t>
            </a:r>
            <a:r>
              <a:rPr lang="es-ES" sz="1400" b="0" dirty="0">
                <a:solidFill>
                  <a:srgbClr val="BBBBBB"/>
                </a:solidFill>
                <a:effectLst/>
                <a:latin typeface="Consolas" panose="020B0609020204030204" pitchFamily="49" charset="0"/>
              </a:rPr>
              <a:t> </a:t>
            </a:r>
            <a:r>
              <a:rPr lang="es-ES" sz="1400" b="0" dirty="0">
                <a:solidFill>
                  <a:srgbClr val="C678DD"/>
                </a:solidFill>
                <a:effectLst/>
                <a:latin typeface="Consolas" panose="020B0609020204030204" pitchFamily="49" charset="0"/>
              </a:rPr>
              <a:t>12</a:t>
            </a:r>
            <a:endParaRPr lang="es-ES" sz="1400" b="0" dirty="0">
              <a:solidFill>
                <a:srgbClr val="BBBBBB"/>
              </a:solidFill>
              <a:effectLst/>
              <a:latin typeface="Consolas" panose="020B0609020204030204" pitchFamily="49" charset="0"/>
            </a:endParaRPr>
          </a:p>
          <a:p>
            <a:pPr>
              <a:lnSpc>
                <a:spcPts val="1425"/>
              </a:lnSpc>
              <a:buNone/>
            </a:pPr>
            <a:r>
              <a:rPr lang="es-ES" sz="1400" b="0" dirty="0">
                <a:solidFill>
                  <a:srgbClr val="BBBBBB"/>
                </a:solidFill>
                <a:effectLst/>
                <a:latin typeface="Consolas" panose="020B0609020204030204" pitchFamily="49" charset="0"/>
              </a:rPr>
              <a:t>y </a:t>
            </a:r>
            <a:r>
              <a:rPr lang="es-ES" sz="1400" b="0" dirty="0">
                <a:solidFill>
                  <a:srgbClr val="E06C75"/>
                </a:solidFill>
                <a:effectLst/>
                <a:latin typeface="Consolas" panose="020B0609020204030204" pitchFamily="49" charset="0"/>
              </a:rPr>
              <a:t>=</a:t>
            </a:r>
            <a:r>
              <a:rPr lang="es-ES" sz="1400" b="0" dirty="0">
                <a:solidFill>
                  <a:srgbClr val="BBBBBB"/>
                </a:solidFill>
                <a:effectLst/>
                <a:latin typeface="Consolas" panose="020B0609020204030204" pitchFamily="49" charset="0"/>
              </a:rPr>
              <a:t> </a:t>
            </a:r>
            <a:r>
              <a:rPr lang="es-ES" sz="1400" b="0" dirty="0">
                <a:solidFill>
                  <a:srgbClr val="C678DD"/>
                </a:solidFill>
                <a:effectLst/>
                <a:latin typeface="Consolas" panose="020B0609020204030204" pitchFamily="49" charset="0"/>
              </a:rPr>
              <a:t>14</a:t>
            </a:r>
            <a:endParaRPr lang="es-ES" sz="1400" b="0" dirty="0">
              <a:solidFill>
                <a:srgbClr val="BBBBBB"/>
              </a:solidFill>
              <a:effectLst/>
              <a:latin typeface="Consolas" panose="020B0609020204030204" pitchFamily="49" charset="0"/>
            </a:endParaRPr>
          </a:p>
          <a:p>
            <a:pPr>
              <a:lnSpc>
                <a:spcPts val="1425"/>
              </a:lnSpc>
              <a:buNone/>
            </a:pPr>
            <a:endParaRPr lang="es-ES" sz="1400" b="0" dirty="0">
              <a:solidFill>
                <a:srgbClr val="BBBBBB"/>
              </a:solidFill>
              <a:effectLst/>
              <a:latin typeface="Consolas" panose="020B0609020204030204" pitchFamily="49" charset="0"/>
            </a:endParaRPr>
          </a:p>
          <a:p>
            <a:pPr>
              <a:lnSpc>
                <a:spcPts val="1425"/>
              </a:lnSpc>
              <a:buNone/>
            </a:pPr>
            <a:r>
              <a:rPr lang="es-ES" sz="1400" b="0" dirty="0" err="1">
                <a:solidFill>
                  <a:srgbClr val="98C379"/>
                </a:solidFill>
                <a:effectLst/>
                <a:latin typeface="Consolas" panose="020B0609020204030204" pitchFamily="49" charset="0"/>
              </a:rPr>
              <a:t>print</a:t>
            </a:r>
            <a:r>
              <a:rPr lang="es-ES" sz="1400" b="0" dirty="0">
                <a:solidFill>
                  <a:srgbClr val="BBBBBB"/>
                </a:solidFill>
                <a:effectLst/>
                <a:latin typeface="Consolas" panose="020B0609020204030204" pitchFamily="49" charset="0"/>
              </a:rPr>
              <a:t>(x)</a:t>
            </a:r>
          </a:p>
          <a:p>
            <a:pPr>
              <a:lnSpc>
                <a:spcPts val="1425"/>
              </a:lnSpc>
              <a:buNone/>
            </a:pPr>
            <a:r>
              <a:rPr lang="es-ES" sz="1400" b="0" dirty="0" err="1">
                <a:solidFill>
                  <a:srgbClr val="98C379"/>
                </a:solidFill>
                <a:effectLst/>
                <a:latin typeface="Consolas" panose="020B0609020204030204" pitchFamily="49" charset="0"/>
              </a:rPr>
              <a:t>print</a:t>
            </a:r>
            <a:r>
              <a:rPr lang="es-ES" sz="1400" b="0" dirty="0">
                <a:solidFill>
                  <a:srgbClr val="BBBBBB"/>
                </a:solidFill>
                <a:effectLst/>
                <a:latin typeface="Consolas" panose="020B0609020204030204" pitchFamily="49" charset="0"/>
              </a:rPr>
              <a:t>(y)</a:t>
            </a:r>
          </a:p>
          <a:p>
            <a:pPr>
              <a:lnSpc>
                <a:spcPts val="1425"/>
              </a:lnSpc>
              <a:buNone/>
            </a:pPr>
            <a:endParaRPr lang="es-ES" sz="1400" b="0" dirty="0">
              <a:solidFill>
                <a:srgbClr val="BBBBBB"/>
              </a:solidFill>
              <a:effectLst/>
              <a:latin typeface="Consolas" panose="020B0609020204030204" pitchFamily="49" charset="0"/>
            </a:endParaRPr>
          </a:p>
          <a:p>
            <a:pPr>
              <a:lnSpc>
                <a:spcPts val="1425"/>
              </a:lnSpc>
              <a:buNone/>
            </a:pPr>
            <a:r>
              <a:rPr lang="es-ES" sz="1400" b="0" dirty="0">
                <a:solidFill>
                  <a:srgbClr val="BBBBBB"/>
                </a:solidFill>
                <a:effectLst/>
                <a:latin typeface="Consolas" panose="020B0609020204030204" pitchFamily="49" charset="0"/>
              </a:rPr>
              <a:t>z </a:t>
            </a:r>
            <a:r>
              <a:rPr lang="es-ES" sz="1400" b="0" dirty="0">
                <a:solidFill>
                  <a:srgbClr val="E06C75"/>
                </a:solidFill>
                <a:effectLst/>
                <a:latin typeface="Consolas" panose="020B0609020204030204" pitchFamily="49" charset="0"/>
              </a:rPr>
              <a:t>=</a:t>
            </a:r>
            <a:r>
              <a:rPr lang="es-ES" sz="1400" b="0" dirty="0">
                <a:solidFill>
                  <a:srgbClr val="BBBBBB"/>
                </a:solidFill>
                <a:effectLst/>
                <a:latin typeface="Consolas" panose="020B0609020204030204" pitchFamily="49" charset="0"/>
              </a:rPr>
              <a:t> x </a:t>
            </a:r>
            <a:r>
              <a:rPr lang="es-ES" sz="1400" b="0" dirty="0">
                <a:solidFill>
                  <a:srgbClr val="E06C75"/>
                </a:solidFill>
                <a:effectLst/>
                <a:latin typeface="Consolas" panose="020B0609020204030204" pitchFamily="49" charset="0"/>
              </a:rPr>
              <a:t>+</a:t>
            </a:r>
            <a:r>
              <a:rPr lang="es-ES" sz="1400" b="0" dirty="0">
                <a:solidFill>
                  <a:srgbClr val="BBBBBB"/>
                </a:solidFill>
                <a:effectLst/>
                <a:latin typeface="Consolas" panose="020B0609020204030204" pitchFamily="49" charset="0"/>
              </a:rPr>
              <a:t> y</a:t>
            </a:r>
          </a:p>
          <a:p>
            <a:pPr>
              <a:lnSpc>
                <a:spcPts val="1425"/>
              </a:lnSpc>
              <a:buNone/>
            </a:pPr>
            <a:r>
              <a:rPr lang="es-ES" sz="1400" b="0" dirty="0" err="1">
                <a:solidFill>
                  <a:srgbClr val="98C379"/>
                </a:solidFill>
                <a:effectLst/>
                <a:latin typeface="Consolas" panose="020B0609020204030204" pitchFamily="49" charset="0"/>
              </a:rPr>
              <a:t>print</a:t>
            </a:r>
            <a:r>
              <a:rPr lang="es-ES" sz="1400" b="0" dirty="0">
                <a:solidFill>
                  <a:srgbClr val="BBBBBB"/>
                </a:solidFill>
                <a:effectLst/>
                <a:latin typeface="Consolas" panose="020B0609020204030204" pitchFamily="49" charset="0"/>
              </a:rPr>
              <a:t>(z)</a:t>
            </a:r>
          </a:p>
        </p:txBody>
      </p:sp>
      <p:sp>
        <p:nvSpPr>
          <p:cNvPr id="8" name="TextBox 7">
            <a:extLst>
              <a:ext uri="{FF2B5EF4-FFF2-40B4-BE49-F238E27FC236}">
                <a16:creationId xmlns:a16="http://schemas.microsoft.com/office/drawing/2014/main" id="{8456103C-1D42-8044-9F10-E07B376ACC2E}"/>
              </a:ext>
            </a:extLst>
          </p:cNvPr>
          <p:cNvSpPr txBox="1">
            <a:spLocks noGrp="1" noRot="1" noMove="1" noResize="1" noEditPoints="1" noAdjustHandles="1" noChangeArrowheads="1" noChangeShapeType="1"/>
          </p:cNvSpPr>
          <p:nvPr/>
        </p:nvSpPr>
        <p:spPr>
          <a:xfrm>
            <a:off x="1721411" y="4545568"/>
            <a:ext cx="326744" cy="369332"/>
          </a:xfrm>
          <a:prstGeom prst="rect">
            <a:avLst/>
          </a:prstGeom>
          <a:solidFill>
            <a:srgbClr val="282C34"/>
          </a:solidFill>
        </p:spPr>
        <p:txBody>
          <a:bodyPr wrap="square" rtlCol="0">
            <a:spAutoFit/>
          </a:bodyPr>
          <a:lstStyle/>
          <a:p>
            <a:r>
              <a:rPr lang="es-ES" dirty="0">
                <a:solidFill>
                  <a:srgbClr val="BBBBBB"/>
                </a:solidFill>
                <a:latin typeface="Consolas" panose="020B0609020204030204" pitchFamily="49" charset="0"/>
              </a:rPr>
              <a:t>x</a:t>
            </a:r>
          </a:p>
        </p:txBody>
      </p:sp>
      <p:sp>
        <p:nvSpPr>
          <p:cNvPr id="9" name="TextBox 8">
            <a:extLst>
              <a:ext uri="{FF2B5EF4-FFF2-40B4-BE49-F238E27FC236}">
                <a16:creationId xmlns:a16="http://schemas.microsoft.com/office/drawing/2014/main" id="{7DA5C3C2-15BC-CBEE-7376-9873847B0DCD}"/>
              </a:ext>
            </a:extLst>
          </p:cNvPr>
          <p:cNvSpPr txBox="1">
            <a:spLocks noGrp="1" noRot="1" noMove="1" noResize="1" noEditPoints="1" noAdjustHandles="1" noChangeArrowheads="1" noChangeShapeType="1"/>
          </p:cNvSpPr>
          <p:nvPr/>
        </p:nvSpPr>
        <p:spPr>
          <a:xfrm>
            <a:off x="2094624" y="4545568"/>
            <a:ext cx="1062167" cy="369332"/>
          </a:xfrm>
          <a:prstGeom prst="rect">
            <a:avLst/>
          </a:prstGeom>
          <a:solidFill>
            <a:schemeClr val="tx2">
              <a:lumMod val="75000"/>
            </a:schemeClr>
          </a:solidFill>
          <a:ln w="38100">
            <a:solidFill>
              <a:schemeClr val="accent2">
                <a:lumMod val="75000"/>
              </a:schemeClr>
            </a:solidFill>
          </a:ln>
        </p:spPr>
        <p:txBody>
          <a:bodyPr wrap="square" rtlCol="0">
            <a:spAutoFit/>
          </a:bodyPr>
          <a:lstStyle/>
          <a:p>
            <a:r>
              <a:rPr lang="es-ES" dirty="0">
                <a:solidFill>
                  <a:srgbClr val="C678DD"/>
                </a:solidFill>
                <a:latin typeface="Consolas" panose="020B0609020204030204" pitchFamily="49" charset="0"/>
              </a:rPr>
              <a:t>12</a:t>
            </a:r>
            <a:endParaRPr lang="en-US" dirty="0"/>
          </a:p>
        </p:txBody>
      </p:sp>
      <p:sp>
        <p:nvSpPr>
          <p:cNvPr id="10" name="TextBox 9">
            <a:extLst>
              <a:ext uri="{FF2B5EF4-FFF2-40B4-BE49-F238E27FC236}">
                <a16:creationId xmlns:a16="http://schemas.microsoft.com/office/drawing/2014/main" id="{F971DAFD-913A-D385-C73E-FCE47A054A88}"/>
              </a:ext>
            </a:extLst>
          </p:cNvPr>
          <p:cNvSpPr txBox="1">
            <a:spLocks noGrp="1" noRot="1" noMove="1" noResize="1" noEditPoints="1" noAdjustHandles="1" noChangeArrowheads="1" noChangeShapeType="1"/>
          </p:cNvSpPr>
          <p:nvPr/>
        </p:nvSpPr>
        <p:spPr>
          <a:xfrm>
            <a:off x="2094624" y="5095189"/>
            <a:ext cx="1062167" cy="369332"/>
          </a:xfrm>
          <a:prstGeom prst="rect">
            <a:avLst/>
          </a:prstGeom>
          <a:solidFill>
            <a:schemeClr val="tx2">
              <a:lumMod val="75000"/>
            </a:schemeClr>
          </a:solidFill>
          <a:ln w="38100">
            <a:solidFill>
              <a:schemeClr val="accent2">
                <a:lumMod val="75000"/>
              </a:schemeClr>
            </a:solidFill>
          </a:ln>
        </p:spPr>
        <p:txBody>
          <a:bodyPr wrap="square" rtlCol="0">
            <a:spAutoFit/>
          </a:bodyPr>
          <a:lstStyle/>
          <a:p>
            <a:r>
              <a:rPr lang="es-ES" dirty="0">
                <a:solidFill>
                  <a:srgbClr val="C678DD"/>
                </a:solidFill>
                <a:latin typeface="Consolas" panose="020B0609020204030204" pitchFamily="49" charset="0"/>
              </a:rPr>
              <a:t>14</a:t>
            </a:r>
            <a:endParaRPr lang="en-US" dirty="0"/>
          </a:p>
        </p:txBody>
      </p:sp>
      <p:sp>
        <p:nvSpPr>
          <p:cNvPr id="11" name="TextBox 10">
            <a:extLst>
              <a:ext uri="{FF2B5EF4-FFF2-40B4-BE49-F238E27FC236}">
                <a16:creationId xmlns:a16="http://schemas.microsoft.com/office/drawing/2014/main" id="{0B848F66-B9C2-4F3A-0A09-8FAEB3BADBE2}"/>
              </a:ext>
            </a:extLst>
          </p:cNvPr>
          <p:cNvSpPr txBox="1">
            <a:spLocks noGrp="1" noRot="1" noMove="1" noResize="1" noEditPoints="1" noAdjustHandles="1" noChangeArrowheads="1" noChangeShapeType="1"/>
          </p:cNvSpPr>
          <p:nvPr/>
        </p:nvSpPr>
        <p:spPr>
          <a:xfrm>
            <a:off x="2094623" y="5657713"/>
            <a:ext cx="1062167" cy="369332"/>
          </a:xfrm>
          <a:prstGeom prst="rect">
            <a:avLst/>
          </a:prstGeom>
          <a:solidFill>
            <a:schemeClr val="tx2">
              <a:lumMod val="75000"/>
            </a:schemeClr>
          </a:solidFill>
          <a:ln w="38100">
            <a:solidFill>
              <a:schemeClr val="accent2">
                <a:lumMod val="75000"/>
              </a:schemeClr>
            </a:solidFill>
          </a:ln>
        </p:spPr>
        <p:txBody>
          <a:bodyPr wrap="square" rtlCol="0">
            <a:spAutoFit/>
          </a:bodyPr>
          <a:lstStyle/>
          <a:p>
            <a:r>
              <a:rPr lang="es-ES" dirty="0">
                <a:solidFill>
                  <a:srgbClr val="C678DD"/>
                </a:solidFill>
                <a:latin typeface="Consolas" panose="020B0609020204030204" pitchFamily="49" charset="0"/>
              </a:rPr>
              <a:t>26</a:t>
            </a:r>
            <a:endParaRPr lang="en-US" dirty="0"/>
          </a:p>
        </p:txBody>
      </p:sp>
      <p:sp>
        <p:nvSpPr>
          <p:cNvPr id="13" name="TextBox 12">
            <a:extLst>
              <a:ext uri="{FF2B5EF4-FFF2-40B4-BE49-F238E27FC236}">
                <a16:creationId xmlns:a16="http://schemas.microsoft.com/office/drawing/2014/main" id="{3C345725-8C06-9D47-BC98-CD9DD530B4D0}"/>
              </a:ext>
            </a:extLst>
          </p:cNvPr>
          <p:cNvSpPr txBox="1">
            <a:spLocks noGrp="1" noRot="1" noMove="1" noResize="1" noEditPoints="1" noAdjustHandles="1" noChangeArrowheads="1" noChangeShapeType="1"/>
          </p:cNvSpPr>
          <p:nvPr/>
        </p:nvSpPr>
        <p:spPr>
          <a:xfrm>
            <a:off x="1721411" y="5085779"/>
            <a:ext cx="326744" cy="369332"/>
          </a:xfrm>
          <a:prstGeom prst="rect">
            <a:avLst/>
          </a:prstGeom>
          <a:solidFill>
            <a:srgbClr val="282C34"/>
          </a:solidFill>
        </p:spPr>
        <p:txBody>
          <a:bodyPr wrap="square" rtlCol="0">
            <a:spAutoFit/>
          </a:bodyPr>
          <a:lstStyle/>
          <a:p>
            <a:r>
              <a:rPr lang="es-ES" dirty="0">
                <a:solidFill>
                  <a:srgbClr val="BBBBBB"/>
                </a:solidFill>
                <a:latin typeface="Consolas" panose="020B0609020204030204" pitchFamily="49" charset="0"/>
              </a:rPr>
              <a:t>y</a:t>
            </a:r>
          </a:p>
        </p:txBody>
      </p:sp>
      <p:sp>
        <p:nvSpPr>
          <p:cNvPr id="14" name="TextBox 13">
            <a:extLst>
              <a:ext uri="{FF2B5EF4-FFF2-40B4-BE49-F238E27FC236}">
                <a16:creationId xmlns:a16="http://schemas.microsoft.com/office/drawing/2014/main" id="{18D610B0-92C5-872E-A46C-16043749B05A}"/>
              </a:ext>
            </a:extLst>
          </p:cNvPr>
          <p:cNvSpPr txBox="1">
            <a:spLocks noGrp="1" noRot="1" noMove="1" noResize="1" noEditPoints="1" noAdjustHandles="1" noChangeArrowheads="1" noChangeShapeType="1"/>
          </p:cNvSpPr>
          <p:nvPr/>
        </p:nvSpPr>
        <p:spPr>
          <a:xfrm>
            <a:off x="1721411" y="5657713"/>
            <a:ext cx="326744" cy="369332"/>
          </a:xfrm>
          <a:prstGeom prst="rect">
            <a:avLst/>
          </a:prstGeom>
          <a:solidFill>
            <a:srgbClr val="282C34"/>
          </a:solidFill>
        </p:spPr>
        <p:txBody>
          <a:bodyPr wrap="square" rtlCol="0">
            <a:spAutoFit/>
          </a:bodyPr>
          <a:lstStyle/>
          <a:p>
            <a:r>
              <a:rPr lang="es-ES" dirty="0">
                <a:solidFill>
                  <a:srgbClr val="BBBBBB"/>
                </a:solidFill>
                <a:latin typeface="Consolas" panose="020B0609020204030204" pitchFamily="49" charset="0"/>
              </a:rPr>
              <a:t>z</a:t>
            </a:r>
          </a:p>
        </p:txBody>
      </p:sp>
    </p:spTree>
    <p:extLst>
      <p:ext uri="{BB962C8B-B14F-4D97-AF65-F5344CB8AC3E}">
        <p14:creationId xmlns:p14="http://schemas.microsoft.com/office/powerpoint/2010/main" val="9807851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59C15-AC65-BD61-BC19-CD2E8E1DDF7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578812D-205F-C28C-512C-102DC1082340}"/>
              </a:ext>
            </a:extLst>
          </p:cNvPr>
          <p:cNvSpPr/>
          <p:nvPr/>
        </p:nvSpPr>
        <p:spPr>
          <a:xfrm>
            <a:off x="0" y="0"/>
            <a:ext cx="12188952" cy="128016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600" b="1" dirty="0">
                <a:solidFill>
                  <a:srgbClr val="FFFFFF"/>
                </a:solidFill>
              </a:rPr>
              <a:t>📦 Variables — Boxes That Hold Values</a:t>
            </a:r>
          </a:p>
        </p:txBody>
      </p:sp>
      <p:sp>
        <p:nvSpPr>
          <p:cNvPr id="3" name="TextBox 2">
            <a:extLst>
              <a:ext uri="{FF2B5EF4-FFF2-40B4-BE49-F238E27FC236}">
                <a16:creationId xmlns:a16="http://schemas.microsoft.com/office/drawing/2014/main" id="{AAFE8A4C-B151-752E-0AF9-41A643F163DE}"/>
              </a:ext>
            </a:extLst>
          </p:cNvPr>
          <p:cNvSpPr txBox="1"/>
          <p:nvPr/>
        </p:nvSpPr>
        <p:spPr>
          <a:xfrm>
            <a:off x="731520" y="1463040"/>
            <a:ext cx="10515600" cy="400110"/>
          </a:xfrm>
          <a:prstGeom prst="rect">
            <a:avLst/>
          </a:prstGeom>
          <a:noFill/>
        </p:spPr>
        <p:txBody>
          <a:bodyPr wrap="square">
            <a:spAutoFit/>
          </a:bodyPr>
          <a:lstStyle/>
          <a:p>
            <a:pPr algn="l"/>
            <a:r>
              <a:rPr lang="en-US" sz="2000" b="0" i="0" dirty="0">
                <a:solidFill>
                  <a:srgbClr val="444444"/>
                </a:solidFill>
              </a:rPr>
              <a:t>You can change the contents of a </a:t>
            </a:r>
            <a:r>
              <a:rPr lang="en-US" sz="2000" b="1" i="0" dirty="0">
                <a:solidFill>
                  <a:srgbClr val="444444"/>
                </a:solidFill>
              </a:rPr>
              <a:t>variable</a:t>
            </a:r>
            <a:r>
              <a:rPr lang="en-US" sz="2000" b="0" i="0" dirty="0">
                <a:solidFill>
                  <a:srgbClr val="444444"/>
                </a:solidFill>
              </a:rPr>
              <a:t> in a later statement</a:t>
            </a:r>
          </a:p>
        </p:txBody>
      </p:sp>
      <p:sp>
        <p:nvSpPr>
          <p:cNvPr id="4" name="Rectangle 3">
            <a:extLst>
              <a:ext uri="{FF2B5EF4-FFF2-40B4-BE49-F238E27FC236}">
                <a16:creationId xmlns:a16="http://schemas.microsoft.com/office/drawing/2014/main" id="{8DEF993A-883D-2EF3-86F5-662079F8AF7F}"/>
              </a:ext>
            </a:extLst>
          </p:cNvPr>
          <p:cNvSpPr/>
          <p:nvPr/>
        </p:nvSpPr>
        <p:spPr>
          <a:xfrm>
            <a:off x="836612" y="2005669"/>
            <a:ext cx="10515600" cy="2343544"/>
          </a:xfrm>
          <a:prstGeom prst="rect">
            <a:avLst/>
          </a:prstGeom>
          <a:solidFill>
            <a:srgbClr val="282C34"/>
          </a:solidFill>
          <a:ln>
            <a:solidFill>
              <a:srgbClr val="555555"/>
            </a:solidFill>
          </a:ln>
        </p:spPr>
        <p:style>
          <a:lnRef idx="1">
            <a:schemeClr val="accent1"/>
          </a:lnRef>
          <a:fillRef idx="3">
            <a:schemeClr val="accent1"/>
          </a:fillRef>
          <a:effectRef idx="2">
            <a:schemeClr val="accent1"/>
          </a:effectRef>
          <a:fontRef idx="minor">
            <a:schemeClr val="lt1"/>
          </a:fontRef>
        </p:style>
        <p:txBody>
          <a:bodyPr wrap="none" rtlCol="0" anchor="ctr"/>
          <a:lstStyle/>
          <a:p>
            <a:pPr>
              <a:lnSpc>
                <a:spcPts val="1425"/>
              </a:lnSpc>
              <a:buNone/>
            </a:pPr>
            <a:r>
              <a:rPr lang="es-ES" sz="1400" b="0" dirty="0">
                <a:solidFill>
                  <a:srgbClr val="BBBBBB"/>
                </a:solidFill>
                <a:effectLst/>
                <a:latin typeface="Consolas" panose="020B0609020204030204" pitchFamily="49" charset="0"/>
              </a:rPr>
              <a:t>x </a:t>
            </a:r>
            <a:r>
              <a:rPr lang="es-ES" sz="1400" b="0" dirty="0">
                <a:solidFill>
                  <a:srgbClr val="E06C75"/>
                </a:solidFill>
                <a:effectLst/>
                <a:latin typeface="Consolas" panose="020B0609020204030204" pitchFamily="49" charset="0"/>
              </a:rPr>
              <a:t>=</a:t>
            </a:r>
            <a:r>
              <a:rPr lang="es-ES" sz="1400" b="0" dirty="0">
                <a:solidFill>
                  <a:srgbClr val="BBBBBB"/>
                </a:solidFill>
                <a:effectLst/>
                <a:latin typeface="Consolas" panose="020B0609020204030204" pitchFamily="49" charset="0"/>
              </a:rPr>
              <a:t> </a:t>
            </a:r>
            <a:r>
              <a:rPr lang="es-ES" sz="1400" b="0" dirty="0">
                <a:solidFill>
                  <a:srgbClr val="C678DD"/>
                </a:solidFill>
                <a:effectLst/>
                <a:latin typeface="Consolas" panose="020B0609020204030204" pitchFamily="49" charset="0"/>
              </a:rPr>
              <a:t>12</a:t>
            </a:r>
            <a:endParaRPr lang="es-ES" sz="1400" b="0" dirty="0">
              <a:solidFill>
                <a:srgbClr val="BBBBBB"/>
              </a:solidFill>
              <a:effectLst/>
              <a:latin typeface="Consolas" panose="020B0609020204030204" pitchFamily="49" charset="0"/>
            </a:endParaRPr>
          </a:p>
          <a:p>
            <a:pPr>
              <a:lnSpc>
                <a:spcPts val="1425"/>
              </a:lnSpc>
              <a:buNone/>
            </a:pPr>
            <a:r>
              <a:rPr lang="es-ES" sz="1400" b="0" dirty="0">
                <a:solidFill>
                  <a:srgbClr val="BBBBBB"/>
                </a:solidFill>
                <a:effectLst/>
                <a:latin typeface="Consolas" panose="020B0609020204030204" pitchFamily="49" charset="0"/>
              </a:rPr>
              <a:t>y </a:t>
            </a:r>
            <a:r>
              <a:rPr lang="es-ES" sz="1400" b="0" dirty="0">
                <a:solidFill>
                  <a:srgbClr val="E06C75"/>
                </a:solidFill>
                <a:effectLst/>
                <a:latin typeface="Consolas" panose="020B0609020204030204" pitchFamily="49" charset="0"/>
              </a:rPr>
              <a:t>=</a:t>
            </a:r>
            <a:r>
              <a:rPr lang="es-ES" sz="1400" b="0" dirty="0">
                <a:solidFill>
                  <a:srgbClr val="BBBBBB"/>
                </a:solidFill>
                <a:effectLst/>
                <a:latin typeface="Consolas" panose="020B0609020204030204" pitchFamily="49" charset="0"/>
              </a:rPr>
              <a:t> </a:t>
            </a:r>
            <a:r>
              <a:rPr lang="es-ES" sz="1400" b="0" dirty="0">
                <a:solidFill>
                  <a:srgbClr val="C678DD"/>
                </a:solidFill>
                <a:effectLst/>
                <a:latin typeface="Consolas" panose="020B0609020204030204" pitchFamily="49" charset="0"/>
              </a:rPr>
              <a:t>14</a:t>
            </a:r>
            <a:endParaRPr lang="es-ES" sz="1400" b="0" dirty="0">
              <a:solidFill>
                <a:srgbClr val="BBBBBB"/>
              </a:solidFill>
              <a:effectLst/>
              <a:latin typeface="Consolas" panose="020B0609020204030204" pitchFamily="49" charset="0"/>
            </a:endParaRPr>
          </a:p>
          <a:p>
            <a:pPr>
              <a:lnSpc>
                <a:spcPts val="1425"/>
              </a:lnSpc>
              <a:buNone/>
            </a:pPr>
            <a:endParaRPr lang="es-ES" sz="1400" b="0" dirty="0">
              <a:solidFill>
                <a:srgbClr val="BBBBBB"/>
              </a:solidFill>
              <a:effectLst/>
              <a:latin typeface="Consolas" panose="020B0609020204030204" pitchFamily="49" charset="0"/>
            </a:endParaRPr>
          </a:p>
          <a:p>
            <a:pPr>
              <a:lnSpc>
                <a:spcPts val="1425"/>
              </a:lnSpc>
              <a:buNone/>
            </a:pPr>
            <a:r>
              <a:rPr lang="es-ES" sz="1400" b="0" dirty="0" err="1">
                <a:solidFill>
                  <a:srgbClr val="98C379"/>
                </a:solidFill>
                <a:effectLst/>
                <a:latin typeface="Consolas" panose="020B0609020204030204" pitchFamily="49" charset="0"/>
              </a:rPr>
              <a:t>print</a:t>
            </a:r>
            <a:r>
              <a:rPr lang="es-ES" sz="1400" b="0" dirty="0">
                <a:solidFill>
                  <a:srgbClr val="BBBBBB"/>
                </a:solidFill>
                <a:effectLst/>
                <a:latin typeface="Consolas" panose="020B0609020204030204" pitchFamily="49" charset="0"/>
              </a:rPr>
              <a:t>(x)</a:t>
            </a:r>
          </a:p>
          <a:p>
            <a:pPr>
              <a:lnSpc>
                <a:spcPts val="1425"/>
              </a:lnSpc>
              <a:buNone/>
            </a:pPr>
            <a:r>
              <a:rPr lang="es-ES" sz="1400" b="0" dirty="0" err="1">
                <a:solidFill>
                  <a:srgbClr val="98C379"/>
                </a:solidFill>
                <a:effectLst/>
                <a:latin typeface="Consolas" panose="020B0609020204030204" pitchFamily="49" charset="0"/>
              </a:rPr>
              <a:t>print</a:t>
            </a:r>
            <a:r>
              <a:rPr lang="es-ES" sz="1400" b="0" dirty="0">
                <a:solidFill>
                  <a:srgbClr val="BBBBBB"/>
                </a:solidFill>
                <a:effectLst/>
                <a:latin typeface="Consolas" panose="020B0609020204030204" pitchFamily="49" charset="0"/>
              </a:rPr>
              <a:t>(y)</a:t>
            </a:r>
          </a:p>
          <a:p>
            <a:pPr>
              <a:lnSpc>
                <a:spcPts val="1425"/>
              </a:lnSpc>
              <a:buNone/>
            </a:pPr>
            <a:endParaRPr lang="es-ES" sz="1400" b="0" dirty="0">
              <a:solidFill>
                <a:srgbClr val="BBBBBB"/>
              </a:solidFill>
              <a:effectLst/>
              <a:latin typeface="Consolas" panose="020B0609020204030204" pitchFamily="49" charset="0"/>
            </a:endParaRPr>
          </a:p>
          <a:p>
            <a:pPr>
              <a:lnSpc>
                <a:spcPts val="1425"/>
              </a:lnSpc>
              <a:buNone/>
            </a:pPr>
            <a:r>
              <a:rPr lang="es-ES" sz="1400" b="0" dirty="0">
                <a:solidFill>
                  <a:srgbClr val="BBBBBB"/>
                </a:solidFill>
                <a:effectLst/>
                <a:latin typeface="Consolas" panose="020B0609020204030204" pitchFamily="49" charset="0"/>
              </a:rPr>
              <a:t>z </a:t>
            </a:r>
            <a:r>
              <a:rPr lang="es-ES" sz="1400" b="0" dirty="0">
                <a:solidFill>
                  <a:srgbClr val="E06C75"/>
                </a:solidFill>
                <a:effectLst/>
                <a:latin typeface="Consolas" panose="020B0609020204030204" pitchFamily="49" charset="0"/>
              </a:rPr>
              <a:t>=</a:t>
            </a:r>
            <a:r>
              <a:rPr lang="es-ES" sz="1400" b="0" dirty="0">
                <a:solidFill>
                  <a:srgbClr val="BBBBBB"/>
                </a:solidFill>
                <a:effectLst/>
                <a:latin typeface="Consolas" panose="020B0609020204030204" pitchFamily="49" charset="0"/>
              </a:rPr>
              <a:t> x </a:t>
            </a:r>
            <a:r>
              <a:rPr lang="es-ES" sz="1400" b="0" dirty="0">
                <a:solidFill>
                  <a:srgbClr val="E06C75"/>
                </a:solidFill>
                <a:effectLst/>
                <a:latin typeface="Consolas" panose="020B0609020204030204" pitchFamily="49" charset="0"/>
              </a:rPr>
              <a:t>+</a:t>
            </a:r>
            <a:r>
              <a:rPr lang="es-ES" sz="1400" b="0" dirty="0">
                <a:solidFill>
                  <a:srgbClr val="BBBBBB"/>
                </a:solidFill>
                <a:effectLst/>
                <a:latin typeface="Consolas" panose="020B0609020204030204" pitchFamily="49" charset="0"/>
              </a:rPr>
              <a:t> y</a:t>
            </a:r>
          </a:p>
          <a:p>
            <a:pPr>
              <a:lnSpc>
                <a:spcPts val="1425"/>
              </a:lnSpc>
              <a:buNone/>
            </a:pPr>
            <a:r>
              <a:rPr lang="es-ES" sz="1400" b="0" dirty="0" err="1">
                <a:solidFill>
                  <a:srgbClr val="98C379"/>
                </a:solidFill>
                <a:effectLst/>
                <a:latin typeface="Consolas" panose="020B0609020204030204" pitchFamily="49" charset="0"/>
              </a:rPr>
              <a:t>print</a:t>
            </a:r>
            <a:r>
              <a:rPr lang="es-ES" sz="1400" b="0" dirty="0">
                <a:solidFill>
                  <a:srgbClr val="BBBBBB"/>
                </a:solidFill>
                <a:effectLst/>
                <a:latin typeface="Consolas" panose="020B0609020204030204" pitchFamily="49" charset="0"/>
              </a:rPr>
              <a:t>(z)</a:t>
            </a:r>
          </a:p>
          <a:p>
            <a:pPr>
              <a:lnSpc>
                <a:spcPts val="1425"/>
              </a:lnSpc>
              <a:buNone/>
            </a:pPr>
            <a:endParaRPr lang="es-ES" sz="1400" dirty="0">
              <a:solidFill>
                <a:srgbClr val="BBBBBB"/>
              </a:solidFill>
              <a:latin typeface="Consolas" panose="020B0609020204030204" pitchFamily="49" charset="0"/>
            </a:endParaRPr>
          </a:p>
          <a:p>
            <a:pPr>
              <a:lnSpc>
                <a:spcPts val="1425"/>
              </a:lnSpc>
            </a:pPr>
            <a:r>
              <a:rPr lang="es-ES" sz="1400" dirty="0">
                <a:solidFill>
                  <a:srgbClr val="BBBBBB"/>
                </a:solidFill>
                <a:latin typeface="Consolas" panose="020B0609020204030204" pitchFamily="49" charset="0"/>
              </a:rPr>
              <a:t>x </a:t>
            </a:r>
            <a:r>
              <a:rPr lang="es-ES" sz="1400" dirty="0">
                <a:solidFill>
                  <a:srgbClr val="E06C75"/>
                </a:solidFill>
                <a:latin typeface="Consolas" panose="020B0609020204030204" pitchFamily="49" charset="0"/>
              </a:rPr>
              <a:t>=</a:t>
            </a:r>
            <a:r>
              <a:rPr lang="es-ES" sz="1400" dirty="0">
                <a:solidFill>
                  <a:srgbClr val="BBBBBB"/>
                </a:solidFill>
                <a:latin typeface="Consolas" panose="020B0609020204030204" pitchFamily="49" charset="0"/>
              </a:rPr>
              <a:t> </a:t>
            </a:r>
            <a:r>
              <a:rPr lang="es-ES" sz="1400" dirty="0">
                <a:solidFill>
                  <a:srgbClr val="C678DD"/>
                </a:solidFill>
                <a:latin typeface="Consolas" panose="020B0609020204030204" pitchFamily="49" charset="0"/>
              </a:rPr>
              <a:t>100</a:t>
            </a:r>
            <a:endParaRPr lang="es-ES" sz="1400" dirty="0">
              <a:solidFill>
                <a:srgbClr val="BBBBBB"/>
              </a:solidFill>
              <a:latin typeface="Consolas" panose="020B0609020204030204" pitchFamily="49" charset="0"/>
            </a:endParaRPr>
          </a:p>
          <a:p>
            <a:pPr>
              <a:lnSpc>
                <a:spcPts val="1425"/>
              </a:lnSpc>
              <a:buNone/>
            </a:pPr>
            <a:endParaRPr lang="es-ES" sz="1400" b="0" dirty="0">
              <a:solidFill>
                <a:srgbClr val="BBBBBB"/>
              </a:solidFill>
              <a:effectLst/>
              <a:latin typeface="Consolas" panose="020B0609020204030204" pitchFamily="49" charset="0"/>
            </a:endParaRPr>
          </a:p>
        </p:txBody>
      </p:sp>
      <p:sp>
        <p:nvSpPr>
          <p:cNvPr id="8" name="TextBox 7">
            <a:extLst>
              <a:ext uri="{FF2B5EF4-FFF2-40B4-BE49-F238E27FC236}">
                <a16:creationId xmlns:a16="http://schemas.microsoft.com/office/drawing/2014/main" id="{30B5E7E7-AC1D-A32F-0E59-35B5994F37F2}"/>
              </a:ext>
            </a:extLst>
          </p:cNvPr>
          <p:cNvSpPr txBox="1">
            <a:spLocks noGrp="1" noRot="1" noMove="1" noResize="1" noEditPoints="1" noAdjustHandles="1" noChangeArrowheads="1" noChangeShapeType="1"/>
          </p:cNvSpPr>
          <p:nvPr/>
        </p:nvSpPr>
        <p:spPr>
          <a:xfrm>
            <a:off x="1721411" y="4545568"/>
            <a:ext cx="326744" cy="369332"/>
          </a:xfrm>
          <a:prstGeom prst="rect">
            <a:avLst/>
          </a:prstGeom>
          <a:solidFill>
            <a:srgbClr val="282C34"/>
          </a:solidFill>
        </p:spPr>
        <p:txBody>
          <a:bodyPr wrap="square" rtlCol="0">
            <a:spAutoFit/>
          </a:bodyPr>
          <a:lstStyle/>
          <a:p>
            <a:r>
              <a:rPr lang="es-ES" dirty="0">
                <a:solidFill>
                  <a:srgbClr val="BBBBBB"/>
                </a:solidFill>
                <a:latin typeface="Consolas" panose="020B0609020204030204" pitchFamily="49" charset="0"/>
              </a:rPr>
              <a:t>x</a:t>
            </a:r>
          </a:p>
        </p:txBody>
      </p:sp>
      <p:sp>
        <p:nvSpPr>
          <p:cNvPr id="9" name="TextBox 8">
            <a:extLst>
              <a:ext uri="{FF2B5EF4-FFF2-40B4-BE49-F238E27FC236}">
                <a16:creationId xmlns:a16="http://schemas.microsoft.com/office/drawing/2014/main" id="{5E8E85EB-D14C-7E32-C11B-FAD57E3152DE}"/>
              </a:ext>
            </a:extLst>
          </p:cNvPr>
          <p:cNvSpPr txBox="1">
            <a:spLocks noGrp="1" noRot="1" noMove="1" noResize="1" noEditPoints="1" noAdjustHandles="1" noChangeArrowheads="1" noChangeShapeType="1"/>
          </p:cNvSpPr>
          <p:nvPr/>
        </p:nvSpPr>
        <p:spPr>
          <a:xfrm>
            <a:off x="2094624" y="4545568"/>
            <a:ext cx="1062167" cy="369332"/>
          </a:xfrm>
          <a:prstGeom prst="rect">
            <a:avLst/>
          </a:prstGeom>
          <a:solidFill>
            <a:schemeClr val="tx2">
              <a:lumMod val="75000"/>
            </a:schemeClr>
          </a:solidFill>
          <a:ln w="38100">
            <a:solidFill>
              <a:schemeClr val="accent2">
                <a:lumMod val="75000"/>
              </a:schemeClr>
            </a:solidFill>
          </a:ln>
        </p:spPr>
        <p:txBody>
          <a:bodyPr wrap="square" rtlCol="0">
            <a:spAutoFit/>
          </a:bodyPr>
          <a:lstStyle/>
          <a:p>
            <a:r>
              <a:rPr lang="es-ES" dirty="0">
                <a:solidFill>
                  <a:srgbClr val="C678DD"/>
                </a:solidFill>
                <a:latin typeface="Consolas" panose="020B0609020204030204" pitchFamily="49" charset="0"/>
              </a:rPr>
              <a:t>12 100</a:t>
            </a:r>
            <a:endParaRPr lang="en-US" dirty="0"/>
          </a:p>
        </p:txBody>
      </p:sp>
      <p:sp>
        <p:nvSpPr>
          <p:cNvPr id="10" name="TextBox 9">
            <a:extLst>
              <a:ext uri="{FF2B5EF4-FFF2-40B4-BE49-F238E27FC236}">
                <a16:creationId xmlns:a16="http://schemas.microsoft.com/office/drawing/2014/main" id="{B975F528-A93C-897E-B92F-A1D62CA956B7}"/>
              </a:ext>
            </a:extLst>
          </p:cNvPr>
          <p:cNvSpPr txBox="1">
            <a:spLocks noGrp="1" noRot="1" noMove="1" noResize="1" noEditPoints="1" noAdjustHandles="1" noChangeArrowheads="1" noChangeShapeType="1"/>
          </p:cNvSpPr>
          <p:nvPr/>
        </p:nvSpPr>
        <p:spPr>
          <a:xfrm>
            <a:off x="2094624" y="5095189"/>
            <a:ext cx="1062167" cy="369332"/>
          </a:xfrm>
          <a:prstGeom prst="rect">
            <a:avLst/>
          </a:prstGeom>
          <a:solidFill>
            <a:schemeClr val="tx2">
              <a:lumMod val="75000"/>
            </a:schemeClr>
          </a:solidFill>
          <a:ln w="38100">
            <a:solidFill>
              <a:schemeClr val="accent2">
                <a:lumMod val="75000"/>
              </a:schemeClr>
            </a:solidFill>
          </a:ln>
        </p:spPr>
        <p:txBody>
          <a:bodyPr wrap="square" rtlCol="0">
            <a:spAutoFit/>
          </a:bodyPr>
          <a:lstStyle/>
          <a:p>
            <a:r>
              <a:rPr lang="es-ES" dirty="0">
                <a:solidFill>
                  <a:srgbClr val="C678DD"/>
                </a:solidFill>
                <a:latin typeface="Consolas" panose="020B0609020204030204" pitchFamily="49" charset="0"/>
              </a:rPr>
              <a:t>14</a:t>
            </a:r>
            <a:endParaRPr lang="en-US" dirty="0"/>
          </a:p>
        </p:txBody>
      </p:sp>
      <p:sp>
        <p:nvSpPr>
          <p:cNvPr id="11" name="TextBox 10">
            <a:extLst>
              <a:ext uri="{FF2B5EF4-FFF2-40B4-BE49-F238E27FC236}">
                <a16:creationId xmlns:a16="http://schemas.microsoft.com/office/drawing/2014/main" id="{A76122A4-F76A-CD06-86A4-FEEB6A386C7A}"/>
              </a:ext>
            </a:extLst>
          </p:cNvPr>
          <p:cNvSpPr txBox="1">
            <a:spLocks noGrp="1" noRot="1" noMove="1" noResize="1" noEditPoints="1" noAdjustHandles="1" noChangeArrowheads="1" noChangeShapeType="1"/>
          </p:cNvSpPr>
          <p:nvPr/>
        </p:nvSpPr>
        <p:spPr>
          <a:xfrm>
            <a:off x="2094623" y="5657713"/>
            <a:ext cx="1062167" cy="369332"/>
          </a:xfrm>
          <a:prstGeom prst="rect">
            <a:avLst/>
          </a:prstGeom>
          <a:solidFill>
            <a:schemeClr val="tx2">
              <a:lumMod val="75000"/>
            </a:schemeClr>
          </a:solidFill>
          <a:ln w="38100">
            <a:solidFill>
              <a:schemeClr val="accent2">
                <a:lumMod val="75000"/>
              </a:schemeClr>
            </a:solidFill>
          </a:ln>
        </p:spPr>
        <p:txBody>
          <a:bodyPr wrap="square" rtlCol="0">
            <a:spAutoFit/>
          </a:bodyPr>
          <a:lstStyle/>
          <a:p>
            <a:r>
              <a:rPr lang="es-ES" dirty="0">
                <a:solidFill>
                  <a:srgbClr val="C678DD"/>
                </a:solidFill>
                <a:latin typeface="Consolas" panose="020B0609020204030204" pitchFamily="49" charset="0"/>
              </a:rPr>
              <a:t>26</a:t>
            </a:r>
            <a:endParaRPr lang="en-US" dirty="0"/>
          </a:p>
        </p:txBody>
      </p:sp>
      <p:sp>
        <p:nvSpPr>
          <p:cNvPr id="13" name="TextBox 12">
            <a:extLst>
              <a:ext uri="{FF2B5EF4-FFF2-40B4-BE49-F238E27FC236}">
                <a16:creationId xmlns:a16="http://schemas.microsoft.com/office/drawing/2014/main" id="{312E9823-107A-4186-ABF5-B4640AB6469E}"/>
              </a:ext>
            </a:extLst>
          </p:cNvPr>
          <p:cNvSpPr txBox="1">
            <a:spLocks noGrp="1" noRot="1" noMove="1" noResize="1" noEditPoints="1" noAdjustHandles="1" noChangeArrowheads="1" noChangeShapeType="1"/>
          </p:cNvSpPr>
          <p:nvPr/>
        </p:nvSpPr>
        <p:spPr>
          <a:xfrm>
            <a:off x="1721411" y="5085779"/>
            <a:ext cx="326744" cy="369332"/>
          </a:xfrm>
          <a:prstGeom prst="rect">
            <a:avLst/>
          </a:prstGeom>
          <a:solidFill>
            <a:srgbClr val="282C34"/>
          </a:solidFill>
        </p:spPr>
        <p:txBody>
          <a:bodyPr wrap="square" rtlCol="0">
            <a:spAutoFit/>
          </a:bodyPr>
          <a:lstStyle/>
          <a:p>
            <a:r>
              <a:rPr lang="es-ES" dirty="0">
                <a:solidFill>
                  <a:srgbClr val="BBBBBB"/>
                </a:solidFill>
                <a:latin typeface="Consolas" panose="020B0609020204030204" pitchFamily="49" charset="0"/>
              </a:rPr>
              <a:t>y</a:t>
            </a:r>
          </a:p>
        </p:txBody>
      </p:sp>
      <p:sp>
        <p:nvSpPr>
          <p:cNvPr id="14" name="TextBox 13">
            <a:extLst>
              <a:ext uri="{FF2B5EF4-FFF2-40B4-BE49-F238E27FC236}">
                <a16:creationId xmlns:a16="http://schemas.microsoft.com/office/drawing/2014/main" id="{21AFF4E9-E532-4F66-D58E-2FB8F11D2B76}"/>
              </a:ext>
            </a:extLst>
          </p:cNvPr>
          <p:cNvSpPr txBox="1">
            <a:spLocks noGrp="1" noRot="1" noMove="1" noResize="1" noEditPoints="1" noAdjustHandles="1" noChangeArrowheads="1" noChangeShapeType="1"/>
          </p:cNvSpPr>
          <p:nvPr/>
        </p:nvSpPr>
        <p:spPr>
          <a:xfrm>
            <a:off x="1721411" y="5657713"/>
            <a:ext cx="326744" cy="369332"/>
          </a:xfrm>
          <a:prstGeom prst="rect">
            <a:avLst/>
          </a:prstGeom>
          <a:solidFill>
            <a:srgbClr val="282C34"/>
          </a:solidFill>
        </p:spPr>
        <p:txBody>
          <a:bodyPr wrap="square" rtlCol="0">
            <a:spAutoFit/>
          </a:bodyPr>
          <a:lstStyle/>
          <a:p>
            <a:r>
              <a:rPr lang="es-ES" dirty="0">
                <a:solidFill>
                  <a:srgbClr val="BBBBBB"/>
                </a:solidFill>
                <a:latin typeface="Consolas" panose="020B0609020204030204" pitchFamily="49" charset="0"/>
              </a:rPr>
              <a:t>z</a:t>
            </a:r>
          </a:p>
        </p:txBody>
      </p:sp>
      <p:cxnSp>
        <p:nvCxnSpPr>
          <p:cNvPr id="22" name="Straight Connector 21">
            <a:extLst>
              <a:ext uri="{FF2B5EF4-FFF2-40B4-BE49-F238E27FC236}">
                <a16:creationId xmlns:a16="http://schemas.microsoft.com/office/drawing/2014/main" id="{4B10A298-CD3B-C374-6080-47ADF7BBBADF}"/>
              </a:ext>
            </a:extLst>
          </p:cNvPr>
          <p:cNvCxnSpPr>
            <a:cxnSpLocks/>
          </p:cNvCxnSpPr>
          <p:nvPr/>
        </p:nvCxnSpPr>
        <p:spPr>
          <a:xfrm flipV="1">
            <a:off x="2220600" y="4624031"/>
            <a:ext cx="196114" cy="184666"/>
          </a:xfrm>
          <a:prstGeom prst="line">
            <a:avLst/>
          </a:prstGeom>
        </p:spPr>
        <p:style>
          <a:lnRef idx="2">
            <a:schemeClr val="accent2"/>
          </a:lnRef>
          <a:fillRef idx="0">
            <a:schemeClr val="accent2"/>
          </a:fillRef>
          <a:effectRef idx="1">
            <a:schemeClr val="accent2"/>
          </a:effectRef>
          <a:fontRef idx="minor">
            <a:schemeClr val="tx1"/>
          </a:fontRef>
        </p:style>
      </p:cxnSp>
      <p:cxnSp>
        <p:nvCxnSpPr>
          <p:cNvPr id="24" name="Straight Connector 23">
            <a:extLst>
              <a:ext uri="{FF2B5EF4-FFF2-40B4-BE49-F238E27FC236}">
                <a16:creationId xmlns:a16="http://schemas.microsoft.com/office/drawing/2014/main" id="{8AFDF7A1-F663-087E-2C53-A2820B97CEE3}"/>
              </a:ext>
            </a:extLst>
          </p:cNvPr>
          <p:cNvCxnSpPr>
            <a:cxnSpLocks/>
          </p:cNvCxnSpPr>
          <p:nvPr/>
        </p:nvCxnSpPr>
        <p:spPr>
          <a:xfrm>
            <a:off x="2220600" y="4619682"/>
            <a:ext cx="242682" cy="215735"/>
          </a:xfrm>
          <a:prstGeom prst="line">
            <a:avLst/>
          </a:prstGeom>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2702344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7038B-52C3-0A06-08EB-32181376F7D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75B1EA8-A8DE-56A6-346B-52215C22D7B4}"/>
              </a:ext>
            </a:extLst>
          </p:cNvPr>
          <p:cNvSpPr/>
          <p:nvPr/>
        </p:nvSpPr>
        <p:spPr>
          <a:xfrm>
            <a:off x="0" y="0"/>
            <a:ext cx="12188952" cy="128016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600" b="1" dirty="0">
                <a:solidFill>
                  <a:srgbClr val="FFFFFF"/>
                </a:solidFill>
              </a:rPr>
              <a:t>📦 Variables — </a:t>
            </a:r>
            <a:r>
              <a:rPr lang="en-US" sz="3600" b="1" dirty="0">
                <a:solidFill>
                  <a:srgbClr val="FFFFFF"/>
                </a:solidFill>
              </a:rPr>
              <a:t>Reserved Words</a:t>
            </a:r>
            <a:endParaRPr sz="3600" b="1" dirty="0">
              <a:solidFill>
                <a:srgbClr val="FFFFFF"/>
              </a:solidFill>
            </a:endParaRPr>
          </a:p>
        </p:txBody>
      </p:sp>
      <p:sp>
        <p:nvSpPr>
          <p:cNvPr id="4" name="Rectangle 3">
            <a:extLst>
              <a:ext uri="{FF2B5EF4-FFF2-40B4-BE49-F238E27FC236}">
                <a16:creationId xmlns:a16="http://schemas.microsoft.com/office/drawing/2014/main" id="{066FCEB5-ECE8-125F-EB7D-406FC5239281}"/>
              </a:ext>
            </a:extLst>
          </p:cNvPr>
          <p:cNvSpPr/>
          <p:nvPr/>
        </p:nvSpPr>
        <p:spPr>
          <a:xfrm>
            <a:off x="1077636" y="2507875"/>
            <a:ext cx="10033551" cy="3516216"/>
          </a:xfrm>
          <a:prstGeom prst="rect">
            <a:avLst/>
          </a:prstGeom>
          <a:solidFill>
            <a:srgbClr val="282C34"/>
          </a:solidFill>
          <a:ln>
            <a:solidFill>
              <a:srgbClr val="555555"/>
            </a:solidFill>
          </a:ln>
        </p:spPr>
        <p:style>
          <a:lnRef idx="1">
            <a:schemeClr val="accent1"/>
          </a:lnRef>
          <a:fillRef idx="3">
            <a:schemeClr val="accent1"/>
          </a:fillRef>
          <a:effectRef idx="2">
            <a:schemeClr val="accent1"/>
          </a:effectRef>
          <a:fontRef idx="minor">
            <a:schemeClr val="lt1"/>
          </a:fontRef>
        </p:style>
        <p:txBody>
          <a:bodyPr wrap="none" rtlCol="0" anchor="ctr"/>
          <a:lstStyle/>
          <a:p>
            <a:pPr lvl="0">
              <a:buClr>
                <a:srgbClr val="FFFF00"/>
              </a:buClr>
              <a:buSzPct val="25000"/>
            </a:pPr>
            <a:r>
              <a:rPr lang="de-DE" sz="2400" dirty="0">
                <a:solidFill>
                  <a:srgbClr val="FFFF00"/>
                </a:solidFill>
                <a:latin typeface="Courier" charset="0"/>
                <a:ea typeface="Courier" charset="0"/>
                <a:cs typeface="Courier" charset="0"/>
                <a:sym typeface="Cabin"/>
              </a:rPr>
              <a:t>  False      await      else       import     pass</a:t>
            </a:r>
          </a:p>
          <a:p>
            <a:pPr lvl="0">
              <a:buClr>
                <a:srgbClr val="FFFF00"/>
              </a:buClr>
              <a:buSzPct val="25000"/>
            </a:pPr>
            <a:r>
              <a:rPr lang="de-DE" sz="2400" dirty="0">
                <a:solidFill>
                  <a:srgbClr val="FFFF00"/>
                </a:solidFill>
                <a:latin typeface="Courier" charset="0"/>
                <a:ea typeface="Courier" charset="0"/>
                <a:cs typeface="Courier" charset="0"/>
                <a:sym typeface="Cabin"/>
              </a:rPr>
              <a:t>  None       break      except     in         raise</a:t>
            </a:r>
          </a:p>
          <a:p>
            <a:pPr lvl="0">
              <a:buClr>
                <a:srgbClr val="FFFF00"/>
              </a:buClr>
              <a:buSzPct val="25000"/>
            </a:pPr>
            <a:r>
              <a:rPr lang="de-DE" sz="2400" dirty="0">
                <a:solidFill>
                  <a:srgbClr val="FFFF00"/>
                </a:solidFill>
                <a:latin typeface="Courier" charset="0"/>
                <a:ea typeface="Courier" charset="0"/>
                <a:cs typeface="Courier" charset="0"/>
                <a:sym typeface="Cabin"/>
              </a:rPr>
              <a:t>  True       class      finally    is         return</a:t>
            </a:r>
          </a:p>
          <a:p>
            <a:pPr lvl="0">
              <a:buClr>
                <a:srgbClr val="FFFF00"/>
              </a:buClr>
              <a:buSzPct val="25000"/>
            </a:pPr>
            <a:r>
              <a:rPr lang="de-DE" sz="2400" dirty="0">
                <a:solidFill>
                  <a:srgbClr val="FFFF00"/>
                </a:solidFill>
                <a:latin typeface="Courier" charset="0"/>
                <a:ea typeface="Courier" charset="0"/>
                <a:cs typeface="Courier" charset="0"/>
                <a:sym typeface="Cabin"/>
              </a:rPr>
              <a:t>  and        continue   for        lambda     try</a:t>
            </a:r>
          </a:p>
          <a:p>
            <a:pPr lvl="0">
              <a:buClr>
                <a:srgbClr val="FFFF00"/>
              </a:buClr>
              <a:buSzPct val="25000"/>
            </a:pPr>
            <a:r>
              <a:rPr lang="de-DE" sz="2400" dirty="0">
                <a:solidFill>
                  <a:srgbClr val="FFFF00"/>
                </a:solidFill>
                <a:latin typeface="Courier" charset="0"/>
                <a:ea typeface="Courier" charset="0"/>
                <a:cs typeface="Courier" charset="0"/>
                <a:sym typeface="Cabin"/>
              </a:rPr>
              <a:t>  as         def        from       nonlocal   while</a:t>
            </a:r>
          </a:p>
          <a:p>
            <a:pPr lvl="0">
              <a:buClr>
                <a:srgbClr val="FFFF00"/>
              </a:buClr>
              <a:buSzPct val="25000"/>
            </a:pPr>
            <a:r>
              <a:rPr lang="de-DE" sz="2400" dirty="0">
                <a:solidFill>
                  <a:srgbClr val="FFFF00"/>
                </a:solidFill>
                <a:latin typeface="Courier" charset="0"/>
                <a:ea typeface="Courier" charset="0"/>
                <a:cs typeface="Courier" charset="0"/>
                <a:sym typeface="Cabin"/>
              </a:rPr>
              <a:t>  assert     del        global     not        with</a:t>
            </a:r>
          </a:p>
          <a:p>
            <a:pPr lvl="0">
              <a:buClr>
                <a:srgbClr val="FFFF00"/>
              </a:buClr>
              <a:buSzPct val="25000"/>
            </a:pPr>
            <a:r>
              <a:rPr lang="de-DE" sz="2400" dirty="0">
                <a:solidFill>
                  <a:srgbClr val="FFFF00"/>
                </a:solidFill>
                <a:latin typeface="Courier" charset="0"/>
                <a:ea typeface="Courier" charset="0"/>
                <a:cs typeface="Courier" charset="0"/>
                <a:sym typeface="Cabin"/>
              </a:rPr>
              <a:t>  async      elif       if         or         yield</a:t>
            </a:r>
            <a:endParaRPr lang="en-US" sz="2400" dirty="0">
              <a:solidFill>
                <a:srgbClr val="FFFF00"/>
              </a:solidFill>
              <a:latin typeface="Courier" charset="0"/>
              <a:ea typeface="Courier" charset="0"/>
              <a:cs typeface="Courier" charset="0"/>
              <a:sym typeface="Cabin"/>
            </a:endParaRPr>
          </a:p>
        </p:txBody>
      </p:sp>
      <p:sp>
        <p:nvSpPr>
          <p:cNvPr id="6" name="TextBox 5">
            <a:extLst>
              <a:ext uri="{FF2B5EF4-FFF2-40B4-BE49-F238E27FC236}">
                <a16:creationId xmlns:a16="http://schemas.microsoft.com/office/drawing/2014/main" id="{03252199-2E00-D472-4803-8C2199CD18D2}"/>
              </a:ext>
            </a:extLst>
          </p:cNvPr>
          <p:cNvSpPr txBox="1"/>
          <p:nvPr/>
        </p:nvSpPr>
        <p:spPr>
          <a:xfrm>
            <a:off x="836611" y="1776302"/>
            <a:ext cx="10515600" cy="523220"/>
          </a:xfrm>
          <a:prstGeom prst="rect">
            <a:avLst/>
          </a:prstGeom>
          <a:noFill/>
        </p:spPr>
        <p:txBody>
          <a:bodyPr wrap="square">
            <a:spAutoFit/>
          </a:bodyPr>
          <a:lstStyle/>
          <a:p>
            <a:pPr algn="ctr"/>
            <a:r>
              <a:rPr lang="en-US" sz="2800" dirty="0">
                <a:solidFill>
                  <a:srgbClr val="444444"/>
                </a:solidFill>
              </a:rPr>
              <a:t>You cannot use reserved words as variable names / identifiers</a:t>
            </a:r>
          </a:p>
        </p:txBody>
      </p:sp>
    </p:spTree>
    <p:extLst>
      <p:ext uri="{BB962C8B-B14F-4D97-AF65-F5344CB8AC3E}">
        <p14:creationId xmlns:p14="http://schemas.microsoft.com/office/powerpoint/2010/main" val="2378410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2363B-E58A-90B7-4B7B-6FFB53D08DB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84E0C92-DB89-3C64-F4DB-043171BBBA79}"/>
              </a:ext>
            </a:extLst>
          </p:cNvPr>
          <p:cNvSpPr/>
          <p:nvPr/>
        </p:nvSpPr>
        <p:spPr>
          <a:xfrm>
            <a:off x="0" y="0"/>
            <a:ext cx="12188952" cy="128016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600" b="1" dirty="0">
                <a:solidFill>
                  <a:srgbClr val="FFFFFF"/>
                </a:solidFill>
              </a:rPr>
              <a:t>📦 Variables — </a:t>
            </a:r>
            <a:r>
              <a:rPr lang="en-US" sz="3600" b="1" dirty="0">
                <a:solidFill>
                  <a:srgbClr val="FFFFFF"/>
                </a:solidFill>
              </a:rPr>
              <a:t>Name Rules</a:t>
            </a:r>
            <a:endParaRPr sz="3600" b="1" dirty="0">
              <a:solidFill>
                <a:srgbClr val="FFFFFF"/>
              </a:solidFill>
            </a:endParaRPr>
          </a:p>
        </p:txBody>
      </p:sp>
      <p:sp>
        <p:nvSpPr>
          <p:cNvPr id="4" name="Rectangle 3">
            <a:extLst>
              <a:ext uri="{FF2B5EF4-FFF2-40B4-BE49-F238E27FC236}">
                <a16:creationId xmlns:a16="http://schemas.microsoft.com/office/drawing/2014/main" id="{ABE78842-E0B7-C162-E291-E5CB7C9B3CCD}"/>
              </a:ext>
            </a:extLst>
          </p:cNvPr>
          <p:cNvSpPr/>
          <p:nvPr/>
        </p:nvSpPr>
        <p:spPr>
          <a:xfrm>
            <a:off x="836612" y="2985640"/>
            <a:ext cx="10515600" cy="1645920"/>
          </a:xfrm>
          <a:prstGeom prst="rect">
            <a:avLst/>
          </a:prstGeom>
          <a:solidFill>
            <a:srgbClr val="1E1E1E"/>
          </a:solidFill>
          <a:ln>
            <a:solidFill>
              <a:srgbClr val="555555"/>
            </a:solidFill>
          </a:ln>
        </p:spPr>
        <p:style>
          <a:lnRef idx="1">
            <a:schemeClr val="accent1"/>
          </a:lnRef>
          <a:fillRef idx="3">
            <a:schemeClr val="accent1"/>
          </a:fillRef>
          <a:effectRef idx="2">
            <a:schemeClr val="accent1"/>
          </a:effectRef>
          <a:fontRef idx="minor">
            <a:schemeClr val="lt1"/>
          </a:fontRef>
        </p:style>
        <p:txBody>
          <a:bodyPr wrap="none" rtlCol="0" anchor="ctr"/>
          <a:lstStyle/>
          <a:p>
            <a:r>
              <a:rPr lang="en-US" sz="2400" dirty="0">
                <a:solidFill>
                  <a:srgbClr val="00B050"/>
                </a:solidFill>
                <a:latin typeface="Courier New"/>
              </a:rPr>
              <a:t>Good</a:t>
            </a:r>
            <a:r>
              <a:rPr lang="en-US" sz="2400" dirty="0">
                <a:solidFill>
                  <a:srgbClr val="D4D4D4"/>
                </a:solidFill>
                <a:latin typeface="Courier New"/>
              </a:rPr>
              <a:t>:    spam    eggs   spam23    _speed</a:t>
            </a:r>
          </a:p>
          <a:p>
            <a:r>
              <a:rPr lang="en-US" sz="2400" dirty="0">
                <a:solidFill>
                  <a:srgbClr val="FF0000"/>
                </a:solidFill>
                <a:latin typeface="Courier New"/>
              </a:rPr>
              <a:t>Bad</a:t>
            </a:r>
            <a:r>
              <a:rPr lang="en-US" sz="2400" dirty="0">
                <a:solidFill>
                  <a:srgbClr val="D4D4D4"/>
                </a:solidFill>
                <a:latin typeface="Courier New"/>
              </a:rPr>
              <a:t>:     23spam     #sign  var.12</a:t>
            </a:r>
          </a:p>
          <a:p>
            <a:r>
              <a:rPr lang="en-US" sz="2400" dirty="0">
                <a:solidFill>
                  <a:srgbClr val="00B0F0"/>
                </a:solidFill>
                <a:latin typeface="Courier New"/>
              </a:rPr>
              <a:t>Different</a:t>
            </a:r>
            <a:r>
              <a:rPr lang="en-US" sz="2400" dirty="0">
                <a:solidFill>
                  <a:srgbClr val="D4D4D4"/>
                </a:solidFill>
                <a:latin typeface="Courier New"/>
              </a:rPr>
              <a:t>:    spam   </a:t>
            </a:r>
            <a:r>
              <a:rPr lang="en-US" sz="2400" dirty="0" err="1">
                <a:solidFill>
                  <a:srgbClr val="D4D4D4"/>
                </a:solidFill>
                <a:latin typeface="Courier New"/>
              </a:rPr>
              <a:t>Spam</a:t>
            </a:r>
            <a:r>
              <a:rPr lang="en-US" sz="2400" dirty="0">
                <a:solidFill>
                  <a:srgbClr val="D4D4D4"/>
                </a:solidFill>
                <a:latin typeface="Courier New"/>
              </a:rPr>
              <a:t>   </a:t>
            </a:r>
            <a:r>
              <a:rPr lang="en-US" sz="2400" dirty="0" err="1">
                <a:solidFill>
                  <a:srgbClr val="D4D4D4"/>
                </a:solidFill>
                <a:latin typeface="Courier New"/>
              </a:rPr>
              <a:t>SPAM</a:t>
            </a:r>
            <a:endParaRPr lang="en-US" sz="2400" dirty="0">
              <a:solidFill>
                <a:srgbClr val="D4D4D4"/>
              </a:solidFill>
              <a:latin typeface="Courier New"/>
            </a:endParaRPr>
          </a:p>
        </p:txBody>
      </p:sp>
      <p:sp>
        <p:nvSpPr>
          <p:cNvPr id="5" name="TextBox 4">
            <a:extLst>
              <a:ext uri="{FF2B5EF4-FFF2-40B4-BE49-F238E27FC236}">
                <a16:creationId xmlns:a16="http://schemas.microsoft.com/office/drawing/2014/main" id="{5E18F97F-5A42-A4A0-C647-9474F311E08C}"/>
              </a:ext>
            </a:extLst>
          </p:cNvPr>
          <p:cNvSpPr txBox="1"/>
          <p:nvPr/>
        </p:nvSpPr>
        <p:spPr>
          <a:xfrm>
            <a:off x="836612" y="2431155"/>
            <a:ext cx="10515600" cy="457200"/>
          </a:xfrm>
          <a:prstGeom prst="rect">
            <a:avLst/>
          </a:prstGeom>
          <a:noFill/>
        </p:spPr>
        <p:txBody>
          <a:bodyPr wrap="square">
            <a:spAutoFit/>
          </a:bodyPr>
          <a:lstStyle/>
          <a:p>
            <a:pPr algn="l"/>
            <a:r>
              <a:rPr sz="2000" b="1" i="0" dirty="0">
                <a:solidFill>
                  <a:srgbClr val="1F3964"/>
                </a:solidFill>
              </a:rPr>
              <a:t>Rules for variable names:</a:t>
            </a:r>
          </a:p>
        </p:txBody>
      </p:sp>
      <p:sp>
        <p:nvSpPr>
          <p:cNvPr id="6" name="TextBox 5">
            <a:extLst>
              <a:ext uri="{FF2B5EF4-FFF2-40B4-BE49-F238E27FC236}">
                <a16:creationId xmlns:a16="http://schemas.microsoft.com/office/drawing/2014/main" id="{0F2E5D55-7FDA-4E41-3259-F9012DEA9094}"/>
              </a:ext>
            </a:extLst>
          </p:cNvPr>
          <p:cNvSpPr txBox="1"/>
          <p:nvPr/>
        </p:nvSpPr>
        <p:spPr>
          <a:xfrm>
            <a:off x="709716" y="1412408"/>
            <a:ext cx="10515600" cy="969496"/>
          </a:xfrm>
          <a:prstGeom prst="rect">
            <a:avLst/>
          </a:prstGeom>
          <a:noFill/>
        </p:spPr>
        <p:txBody>
          <a:bodyPr wrap="square">
            <a:spAutoFit/>
          </a:bodyPr>
          <a:lstStyle/>
          <a:p>
            <a:r>
              <a:rPr sz="1900" dirty="0">
                <a:solidFill>
                  <a:srgbClr val="444444"/>
                </a:solidFill>
              </a:rPr>
              <a:t>  • </a:t>
            </a:r>
            <a:r>
              <a:rPr lang="en-US" sz="1900" dirty="0">
                <a:solidFill>
                  <a:srgbClr val="444444"/>
                </a:solidFill>
              </a:rPr>
              <a:t>Must s</a:t>
            </a:r>
            <a:r>
              <a:rPr sz="1900" dirty="0">
                <a:solidFill>
                  <a:srgbClr val="444444"/>
                </a:solidFill>
              </a:rPr>
              <a:t>tart with a letter or</a:t>
            </a:r>
            <a:r>
              <a:rPr lang="en-US" sz="1900" dirty="0">
                <a:solidFill>
                  <a:srgbClr val="444444"/>
                </a:solidFill>
              </a:rPr>
              <a:t> underscore</a:t>
            </a:r>
            <a:r>
              <a:rPr sz="1900" dirty="0">
                <a:solidFill>
                  <a:srgbClr val="444444"/>
                </a:solidFill>
              </a:rPr>
              <a:t> _ (not a number)</a:t>
            </a:r>
          </a:p>
          <a:p>
            <a:r>
              <a:rPr sz="1900" dirty="0">
                <a:solidFill>
                  <a:srgbClr val="444444"/>
                </a:solidFill>
              </a:rPr>
              <a:t>  • No spaces</a:t>
            </a:r>
            <a:r>
              <a:rPr lang="en-US" sz="1900" dirty="0">
                <a:solidFill>
                  <a:srgbClr val="444444"/>
                </a:solidFill>
              </a:rPr>
              <a:t>,</a:t>
            </a:r>
            <a:r>
              <a:rPr sz="1900" dirty="0">
                <a:solidFill>
                  <a:srgbClr val="444444"/>
                </a:solidFill>
              </a:rPr>
              <a:t> use</a:t>
            </a:r>
            <a:r>
              <a:rPr lang="en-US" sz="1900" dirty="0">
                <a:solidFill>
                  <a:srgbClr val="444444"/>
                </a:solidFill>
              </a:rPr>
              <a:t> underscore</a:t>
            </a:r>
            <a:r>
              <a:rPr sz="1900" dirty="0">
                <a:solidFill>
                  <a:srgbClr val="444444"/>
                </a:solidFill>
              </a:rPr>
              <a:t> _ instead:  </a:t>
            </a:r>
            <a:r>
              <a:rPr sz="1900" dirty="0" err="1">
                <a:solidFill>
                  <a:srgbClr val="444444"/>
                </a:solidFill>
              </a:rPr>
              <a:t>first_name</a:t>
            </a:r>
            <a:endParaRPr sz="1900" dirty="0">
              <a:solidFill>
                <a:srgbClr val="444444"/>
              </a:solidFill>
            </a:endParaRPr>
          </a:p>
          <a:p>
            <a:r>
              <a:rPr sz="1900" dirty="0">
                <a:solidFill>
                  <a:srgbClr val="444444"/>
                </a:solidFill>
              </a:rPr>
              <a:t>  • Case-sensitive:  age  ≠  Age</a:t>
            </a:r>
          </a:p>
        </p:txBody>
      </p:sp>
    </p:spTree>
    <p:extLst>
      <p:ext uri="{BB962C8B-B14F-4D97-AF65-F5344CB8AC3E}">
        <p14:creationId xmlns:p14="http://schemas.microsoft.com/office/powerpoint/2010/main" val="30461855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2CD8C-0DF6-A66B-2024-E9A1E6E4DC2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596DA93-5A9D-6704-DDEE-BB9767C96FFF}"/>
              </a:ext>
            </a:extLst>
          </p:cNvPr>
          <p:cNvSpPr/>
          <p:nvPr/>
        </p:nvSpPr>
        <p:spPr>
          <a:xfrm>
            <a:off x="0" y="0"/>
            <a:ext cx="12188952" cy="128016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600" b="1" dirty="0">
                <a:solidFill>
                  <a:srgbClr val="FFFFFF"/>
                </a:solidFill>
              </a:rPr>
              <a:t>📦 </a:t>
            </a:r>
            <a:r>
              <a:rPr lang="en-US" sz="3600" b="1" dirty="0">
                <a:solidFill>
                  <a:srgbClr val="FFFFFF"/>
                </a:solidFill>
              </a:rPr>
              <a:t>Mnemonic Variable Names</a:t>
            </a:r>
            <a:endParaRPr sz="3600" b="1" dirty="0">
              <a:solidFill>
                <a:srgbClr val="FFFFFF"/>
              </a:solidFill>
            </a:endParaRPr>
          </a:p>
        </p:txBody>
      </p:sp>
      <p:sp>
        <p:nvSpPr>
          <p:cNvPr id="5" name="TextBox 4">
            <a:extLst>
              <a:ext uri="{FF2B5EF4-FFF2-40B4-BE49-F238E27FC236}">
                <a16:creationId xmlns:a16="http://schemas.microsoft.com/office/drawing/2014/main" id="{408EBD98-1029-F63C-42D2-D0CBCA86C304}"/>
              </a:ext>
            </a:extLst>
          </p:cNvPr>
          <p:cNvSpPr txBox="1"/>
          <p:nvPr/>
        </p:nvSpPr>
        <p:spPr>
          <a:xfrm>
            <a:off x="3878391" y="2606485"/>
            <a:ext cx="10515600" cy="400110"/>
          </a:xfrm>
          <a:prstGeom prst="rect">
            <a:avLst/>
          </a:prstGeom>
          <a:noFill/>
        </p:spPr>
        <p:txBody>
          <a:bodyPr wrap="square">
            <a:spAutoFit/>
          </a:bodyPr>
          <a:lstStyle/>
          <a:p>
            <a:pPr algn="l"/>
            <a:r>
              <a:rPr lang="en-US" sz="2000" b="1" i="0" dirty="0">
                <a:solidFill>
                  <a:srgbClr val="1F3964"/>
                </a:solidFill>
              </a:rPr>
              <a:t>What is this bit of code doing?</a:t>
            </a:r>
          </a:p>
        </p:txBody>
      </p:sp>
      <p:sp>
        <p:nvSpPr>
          <p:cNvPr id="6" name="TextBox 5">
            <a:extLst>
              <a:ext uri="{FF2B5EF4-FFF2-40B4-BE49-F238E27FC236}">
                <a16:creationId xmlns:a16="http://schemas.microsoft.com/office/drawing/2014/main" id="{3ACC787E-3E03-99BE-C631-8784C6B17AF4}"/>
              </a:ext>
            </a:extLst>
          </p:cNvPr>
          <p:cNvSpPr txBox="1"/>
          <p:nvPr/>
        </p:nvSpPr>
        <p:spPr>
          <a:xfrm>
            <a:off x="709716" y="1412408"/>
            <a:ext cx="10515600" cy="1261884"/>
          </a:xfrm>
          <a:prstGeom prst="rect">
            <a:avLst/>
          </a:prstGeom>
          <a:noFill/>
        </p:spPr>
        <p:txBody>
          <a:bodyPr wrap="square">
            <a:spAutoFit/>
          </a:bodyPr>
          <a:lstStyle/>
          <a:p>
            <a:pPr marL="342900" indent="-342900">
              <a:buFont typeface="Arial" panose="020B0604020202020204" pitchFamily="34" charset="0"/>
              <a:buChar char="•"/>
            </a:pPr>
            <a:r>
              <a:rPr lang="en-US" sz="1900" dirty="0">
                <a:solidFill>
                  <a:srgbClr val="444444"/>
                </a:solidFill>
              </a:rPr>
              <a:t>Since we programmers are given a choice in how we choose our variable names, there is a bit of “best practice”</a:t>
            </a:r>
          </a:p>
          <a:p>
            <a:pPr marL="342900" indent="-342900">
              <a:buFont typeface="Arial" panose="020B0604020202020204" pitchFamily="34" charset="0"/>
              <a:buChar char="•"/>
            </a:pPr>
            <a:r>
              <a:rPr lang="en-US" sz="1900" dirty="0">
                <a:solidFill>
                  <a:srgbClr val="444444"/>
                </a:solidFill>
              </a:rPr>
              <a:t>We name variables to help us remember what we intend to store in them (“mnemonic” = “memory aid”)</a:t>
            </a:r>
          </a:p>
        </p:txBody>
      </p:sp>
      <p:sp>
        <p:nvSpPr>
          <p:cNvPr id="3" name="Rectangle 2">
            <a:extLst>
              <a:ext uri="{FF2B5EF4-FFF2-40B4-BE49-F238E27FC236}">
                <a16:creationId xmlns:a16="http://schemas.microsoft.com/office/drawing/2014/main" id="{59C3EA56-74E1-440C-B88D-A652CB145A40}"/>
              </a:ext>
            </a:extLst>
          </p:cNvPr>
          <p:cNvSpPr/>
          <p:nvPr/>
        </p:nvSpPr>
        <p:spPr>
          <a:xfrm>
            <a:off x="836612" y="3171131"/>
            <a:ext cx="3866017" cy="1662126"/>
          </a:xfrm>
          <a:prstGeom prst="rect">
            <a:avLst/>
          </a:prstGeom>
          <a:solidFill>
            <a:srgbClr val="282C34"/>
          </a:solidFill>
          <a:ln>
            <a:solidFill>
              <a:srgbClr val="555555"/>
            </a:solidFill>
          </a:ln>
        </p:spPr>
        <p:style>
          <a:lnRef idx="1">
            <a:schemeClr val="accent1"/>
          </a:lnRef>
          <a:fillRef idx="3">
            <a:schemeClr val="accent1"/>
          </a:fillRef>
          <a:effectRef idx="2">
            <a:schemeClr val="accent1"/>
          </a:effectRef>
          <a:fontRef idx="minor">
            <a:schemeClr val="lt1"/>
          </a:fontRef>
        </p:style>
        <p:txBody>
          <a:bodyPr wrap="none" rtlCol="0" anchor="ctr"/>
          <a:lstStyle/>
          <a:p>
            <a:pPr>
              <a:lnSpc>
                <a:spcPts val="1425"/>
              </a:lnSpc>
              <a:buNone/>
            </a:pPr>
            <a:r>
              <a:rPr lang="en-US" sz="1400" b="0" dirty="0">
                <a:solidFill>
                  <a:srgbClr val="BBBBBB"/>
                </a:solidFill>
                <a:effectLst/>
                <a:latin typeface="Consolas" panose="020B0609020204030204" pitchFamily="49" charset="0"/>
              </a:rPr>
              <a:t>x1q3z9ocd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35.0</a:t>
            </a:r>
            <a:r>
              <a:rPr lang="en-US" sz="1400" b="0" dirty="0">
                <a:solidFill>
                  <a:srgbClr val="BBBBBB"/>
                </a:solidFill>
                <a:effectLst/>
                <a:latin typeface="Consolas" panose="020B0609020204030204" pitchFamily="49" charset="0"/>
              </a:rPr>
              <a:t> </a:t>
            </a:r>
          </a:p>
          <a:p>
            <a:pPr>
              <a:lnSpc>
                <a:spcPts val="1425"/>
              </a:lnSpc>
              <a:buNone/>
            </a:pPr>
            <a:r>
              <a:rPr lang="en-US" sz="1400" b="0" dirty="0">
                <a:solidFill>
                  <a:srgbClr val="BBBBBB"/>
                </a:solidFill>
                <a:effectLst/>
                <a:latin typeface="Consolas" panose="020B0609020204030204" pitchFamily="49" charset="0"/>
              </a:rPr>
              <a:t>x1q3z9afd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12.50</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x1q3p9afd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x1q3z9ocd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x1q3z9afd</a:t>
            </a: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(x1q3p9afd)</a:t>
            </a:r>
          </a:p>
          <a:p>
            <a:pPr>
              <a:lnSpc>
                <a:spcPts val="1425"/>
              </a:lnSpc>
              <a:buNone/>
            </a:pPr>
            <a:endParaRPr lang="es-ES" sz="1400" b="0" dirty="0">
              <a:solidFill>
                <a:srgbClr val="BBBBBB"/>
              </a:solidFill>
              <a:effectLst/>
              <a:latin typeface="Consolas" panose="020B0609020204030204" pitchFamily="49" charset="0"/>
            </a:endParaRPr>
          </a:p>
        </p:txBody>
      </p:sp>
      <p:sp>
        <p:nvSpPr>
          <p:cNvPr id="7" name="Rectangle 6">
            <a:extLst>
              <a:ext uri="{FF2B5EF4-FFF2-40B4-BE49-F238E27FC236}">
                <a16:creationId xmlns:a16="http://schemas.microsoft.com/office/drawing/2014/main" id="{96A94EEC-BA87-9728-9E31-281468909D6A}"/>
              </a:ext>
            </a:extLst>
          </p:cNvPr>
          <p:cNvSpPr/>
          <p:nvPr/>
        </p:nvSpPr>
        <p:spPr>
          <a:xfrm>
            <a:off x="7486197" y="3171131"/>
            <a:ext cx="3866017" cy="1662126"/>
          </a:xfrm>
          <a:prstGeom prst="rect">
            <a:avLst/>
          </a:prstGeom>
          <a:solidFill>
            <a:srgbClr val="282C34"/>
          </a:solidFill>
          <a:ln>
            <a:solidFill>
              <a:srgbClr val="555555"/>
            </a:solidFill>
          </a:ln>
        </p:spPr>
        <p:style>
          <a:lnRef idx="1">
            <a:schemeClr val="accent1"/>
          </a:lnRef>
          <a:fillRef idx="3">
            <a:schemeClr val="accent1"/>
          </a:fillRef>
          <a:effectRef idx="2">
            <a:schemeClr val="accent1"/>
          </a:effectRef>
          <a:fontRef idx="minor">
            <a:schemeClr val="lt1"/>
          </a:fontRef>
        </p:style>
        <p:txBody>
          <a:bodyPr wrap="none" rtlCol="0" anchor="ctr"/>
          <a:lstStyle/>
          <a:p>
            <a:pPr>
              <a:lnSpc>
                <a:spcPts val="1425"/>
              </a:lnSpc>
              <a:buNone/>
            </a:pPr>
            <a:r>
              <a:rPr lang="en-US" sz="1400" b="0" dirty="0">
                <a:solidFill>
                  <a:srgbClr val="BBBBBB"/>
                </a:solidFill>
                <a:effectLst/>
                <a:latin typeface="Consolas" panose="020B0609020204030204" pitchFamily="49" charset="0"/>
              </a:rPr>
              <a:t>a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35.0</a:t>
            </a:r>
            <a:r>
              <a:rPr lang="en-US" sz="1400" b="0" dirty="0">
                <a:solidFill>
                  <a:srgbClr val="BBBBBB"/>
                </a:solidFill>
                <a:effectLst/>
                <a:latin typeface="Consolas" panose="020B0609020204030204" pitchFamily="49" charset="0"/>
              </a:rPr>
              <a:t> </a:t>
            </a:r>
          </a:p>
          <a:p>
            <a:pPr>
              <a:lnSpc>
                <a:spcPts val="1425"/>
              </a:lnSpc>
              <a:buNone/>
            </a:pPr>
            <a:r>
              <a:rPr lang="en-US" sz="1400" b="0" dirty="0">
                <a:solidFill>
                  <a:srgbClr val="BBBBBB"/>
                </a:solidFill>
                <a:effectLst/>
                <a:latin typeface="Consolas" panose="020B0609020204030204" pitchFamily="49" charset="0"/>
              </a:rPr>
              <a:t>b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12.50</a:t>
            </a:r>
            <a:r>
              <a:rPr lang="en-US" sz="1400" b="0" dirty="0">
                <a:solidFill>
                  <a:srgbClr val="BBBBBB"/>
                </a:solidFill>
                <a:effectLst/>
                <a:latin typeface="Consolas" panose="020B0609020204030204" pitchFamily="49" charset="0"/>
              </a:rPr>
              <a:t> </a:t>
            </a:r>
          </a:p>
          <a:p>
            <a:pPr>
              <a:lnSpc>
                <a:spcPts val="1425"/>
              </a:lnSpc>
              <a:buNone/>
            </a:pPr>
            <a:r>
              <a:rPr lang="en-US" sz="1400" b="0" dirty="0">
                <a:solidFill>
                  <a:srgbClr val="BBBBBB"/>
                </a:solidFill>
                <a:effectLst/>
                <a:latin typeface="Consolas" panose="020B0609020204030204" pitchFamily="49" charset="0"/>
              </a:rPr>
              <a:t>c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b </a:t>
            </a: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(c)</a:t>
            </a:r>
          </a:p>
          <a:p>
            <a:pPr>
              <a:lnSpc>
                <a:spcPts val="1425"/>
              </a:lnSpc>
              <a:buNone/>
            </a:pPr>
            <a:endParaRPr lang="es-ES" sz="1400" b="0" dirty="0">
              <a:solidFill>
                <a:srgbClr val="BBBBBB"/>
              </a:solidFill>
              <a:effectLst/>
              <a:latin typeface="Consolas" panose="020B0609020204030204" pitchFamily="49" charset="0"/>
            </a:endParaRPr>
          </a:p>
        </p:txBody>
      </p:sp>
      <p:sp>
        <p:nvSpPr>
          <p:cNvPr id="8" name="Rectangle 7">
            <a:extLst>
              <a:ext uri="{FF2B5EF4-FFF2-40B4-BE49-F238E27FC236}">
                <a16:creationId xmlns:a16="http://schemas.microsoft.com/office/drawing/2014/main" id="{F28A8636-C77D-BB76-2E3E-E87795F1B79C}"/>
              </a:ext>
            </a:extLst>
          </p:cNvPr>
          <p:cNvSpPr/>
          <p:nvPr/>
        </p:nvSpPr>
        <p:spPr>
          <a:xfrm>
            <a:off x="4221291" y="4614529"/>
            <a:ext cx="3746241" cy="1662126"/>
          </a:xfrm>
          <a:prstGeom prst="rect">
            <a:avLst/>
          </a:prstGeom>
          <a:solidFill>
            <a:srgbClr val="282C34"/>
          </a:solidFill>
          <a:ln>
            <a:solidFill>
              <a:srgbClr val="555555"/>
            </a:solidFill>
          </a:ln>
        </p:spPr>
        <p:style>
          <a:lnRef idx="1">
            <a:schemeClr val="accent1"/>
          </a:lnRef>
          <a:fillRef idx="3">
            <a:schemeClr val="accent1"/>
          </a:fillRef>
          <a:effectRef idx="2">
            <a:schemeClr val="accent1"/>
          </a:effectRef>
          <a:fontRef idx="minor">
            <a:schemeClr val="lt1"/>
          </a:fontRef>
        </p:style>
        <p:txBody>
          <a:bodyPr wrap="none" rtlCol="0" anchor="ctr"/>
          <a:lstStyle/>
          <a:p>
            <a:pPr>
              <a:lnSpc>
                <a:spcPts val="1425"/>
              </a:lnSpc>
              <a:buNone/>
            </a:pPr>
            <a:r>
              <a:rPr lang="en-US" sz="1400" b="0" dirty="0">
                <a:solidFill>
                  <a:srgbClr val="BBBBBB"/>
                </a:solidFill>
                <a:effectLst/>
                <a:latin typeface="Consolas" panose="020B0609020204030204" pitchFamily="49" charset="0"/>
              </a:rPr>
              <a:t>hours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35.0</a:t>
            </a:r>
            <a:r>
              <a:rPr lang="en-US" sz="1400" b="0" dirty="0">
                <a:solidFill>
                  <a:srgbClr val="BBBBBB"/>
                </a:solidFill>
                <a:effectLst/>
                <a:latin typeface="Consolas" panose="020B0609020204030204" pitchFamily="49" charset="0"/>
              </a:rPr>
              <a:t> </a:t>
            </a:r>
          </a:p>
          <a:p>
            <a:pPr>
              <a:lnSpc>
                <a:spcPts val="1425"/>
              </a:lnSpc>
              <a:buNone/>
            </a:pPr>
            <a:r>
              <a:rPr lang="en-US" sz="1400" b="0" dirty="0">
                <a:solidFill>
                  <a:srgbClr val="BBBBBB"/>
                </a:solidFill>
                <a:effectLst/>
                <a:latin typeface="Consolas" panose="020B0609020204030204" pitchFamily="49" charset="0"/>
              </a:rPr>
              <a:t>rate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12.50</a:t>
            </a:r>
            <a:r>
              <a:rPr lang="en-US" sz="1400" b="0" dirty="0">
                <a:solidFill>
                  <a:srgbClr val="BBBBBB"/>
                </a:solidFill>
                <a:effectLst/>
                <a:latin typeface="Consolas" panose="020B0609020204030204" pitchFamily="49" charset="0"/>
              </a:rPr>
              <a:t> </a:t>
            </a:r>
          </a:p>
          <a:p>
            <a:pPr>
              <a:lnSpc>
                <a:spcPts val="1425"/>
              </a:lnSpc>
              <a:buNone/>
            </a:pPr>
            <a:r>
              <a:rPr lang="en-US" sz="1400" b="0" dirty="0">
                <a:solidFill>
                  <a:srgbClr val="BBBBBB"/>
                </a:solidFill>
                <a:effectLst/>
                <a:latin typeface="Consolas" panose="020B0609020204030204" pitchFamily="49" charset="0"/>
              </a:rPr>
              <a:t>pay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hours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rate </a:t>
            </a: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(pay)</a:t>
            </a:r>
          </a:p>
          <a:p>
            <a:pPr>
              <a:lnSpc>
                <a:spcPts val="1425"/>
              </a:lnSpc>
              <a:buNone/>
            </a:pPr>
            <a:endParaRPr lang="en-US" sz="1400" b="0" dirty="0">
              <a:solidFill>
                <a:srgbClr val="BBBBBB"/>
              </a:solidFill>
              <a:effectLst/>
              <a:latin typeface="Consolas" panose="020B0609020204030204" pitchFamily="49" charset="0"/>
            </a:endParaRPr>
          </a:p>
        </p:txBody>
      </p:sp>
    </p:spTree>
    <p:extLst>
      <p:ext uri="{BB962C8B-B14F-4D97-AF65-F5344CB8AC3E}">
        <p14:creationId xmlns:p14="http://schemas.microsoft.com/office/powerpoint/2010/main" val="35349864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8016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600" b="1" dirty="0">
                <a:solidFill>
                  <a:srgbClr val="FFFFFF"/>
                </a:solidFill>
              </a:rPr>
              <a:t>💬 Comments </a:t>
            </a:r>
            <a:r>
              <a:rPr lang="en-US" sz="3600" b="1" dirty="0">
                <a:solidFill>
                  <a:srgbClr val="FFFFFF"/>
                </a:solidFill>
              </a:rPr>
              <a:t>in Python</a:t>
            </a:r>
            <a:endParaRPr sz="3600" b="1" dirty="0">
              <a:solidFill>
                <a:srgbClr val="FFFFFF"/>
              </a:solidFill>
            </a:endParaRPr>
          </a:p>
        </p:txBody>
      </p:sp>
      <p:sp>
        <p:nvSpPr>
          <p:cNvPr id="3" name="TextBox 2"/>
          <p:cNvSpPr txBox="1"/>
          <p:nvPr/>
        </p:nvSpPr>
        <p:spPr>
          <a:xfrm>
            <a:off x="731520" y="1463040"/>
            <a:ext cx="10515600" cy="457200"/>
          </a:xfrm>
          <a:prstGeom prst="rect">
            <a:avLst/>
          </a:prstGeom>
          <a:noFill/>
        </p:spPr>
        <p:txBody>
          <a:bodyPr wrap="square">
            <a:spAutoFit/>
          </a:bodyPr>
          <a:lstStyle/>
          <a:p>
            <a:pPr algn="l"/>
            <a:r>
              <a:rPr sz="2000" b="0" i="0" dirty="0">
                <a:solidFill>
                  <a:srgbClr val="444444"/>
                </a:solidFill>
              </a:rPr>
              <a:t>Comments explain your code — they are ignored by Python.</a:t>
            </a:r>
          </a:p>
        </p:txBody>
      </p:sp>
      <p:sp>
        <p:nvSpPr>
          <p:cNvPr id="4" name="Rectangle 3"/>
          <p:cNvSpPr/>
          <p:nvPr/>
        </p:nvSpPr>
        <p:spPr>
          <a:xfrm>
            <a:off x="731520" y="1920240"/>
            <a:ext cx="10515600" cy="3822192"/>
          </a:xfrm>
          <a:prstGeom prst="rect">
            <a:avLst/>
          </a:prstGeom>
          <a:solidFill>
            <a:srgbClr val="1E1E1E"/>
          </a:solidFill>
          <a:ln>
            <a:solidFill>
              <a:srgbClr val="555555"/>
            </a:solidFill>
          </a:ln>
        </p:spPr>
        <p:style>
          <a:lnRef idx="1">
            <a:schemeClr val="accent1"/>
          </a:lnRef>
          <a:fillRef idx="3">
            <a:schemeClr val="accent1"/>
          </a:fillRef>
          <a:effectRef idx="2">
            <a:schemeClr val="accent1"/>
          </a:effectRef>
          <a:fontRef idx="minor">
            <a:schemeClr val="lt1"/>
          </a:fontRef>
        </p:style>
        <p:txBody>
          <a:bodyPr wrap="none" rtlCol="0" anchor="ctr"/>
          <a:lstStyle/>
          <a:p>
            <a:pPr>
              <a:lnSpc>
                <a:spcPts val="1425"/>
              </a:lnSpc>
              <a:buNone/>
            </a:pPr>
            <a:r>
              <a:rPr lang="en-US" sz="1400" b="0" dirty="0">
                <a:solidFill>
                  <a:srgbClr val="676F7D"/>
                </a:solidFill>
                <a:effectLst/>
                <a:latin typeface="Consolas" panose="020B0609020204030204" pitchFamily="49" charset="0"/>
              </a:rPr>
              <a:t># This is a single-line comment</a:t>
            </a:r>
            <a:endParaRPr lang="en-US" sz="1400" dirty="0">
              <a:solidFill>
                <a:srgbClr val="BBBBBB"/>
              </a:solidFill>
              <a:latin typeface="Consolas" panose="020B0609020204030204" pitchFamily="49" charset="0"/>
            </a:endParaRPr>
          </a:p>
          <a:p>
            <a:pPr>
              <a:lnSpc>
                <a:spcPts val="1425"/>
              </a:lnSpc>
              <a:buNone/>
            </a:pP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676F7D"/>
                </a:solidFill>
                <a:effectLst/>
                <a:latin typeface="Consolas" panose="020B0609020204030204" pitchFamily="49" charset="0"/>
              </a:rPr>
              <a:t># Calculate the area of a rectangle</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width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5</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height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3</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area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width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height   </a:t>
            </a:r>
            <a:r>
              <a:rPr lang="en-US" sz="1400" b="0" dirty="0">
                <a:solidFill>
                  <a:srgbClr val="676F7D"/>
                </a:solidFill>
                <a:effectLst/>
                <a:latin typeface="Consolas" panose="020B0609020204030204" pitchFamily="49" charset="0"/>
              </a:rPr>
              <a:t># multiply width by height</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(area)               </a:t>
            </a:r>
            <a:r>
              <a:rPr lang="en-US" sz="1400" b="0" dirty="0">
                <a:solidFill>
                  <a:srgbClr val="676F7D"/>
                </a:solidFill>
                <a:effectLst/>
                <a:latin typeface="Consolas" panose="020B0609020204030204" pitchFamily="49" charset="0"/>
              </a:rPr>
              <a:t># prints 15</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 </a:t>
            </a:r>
          </a:p>
          <a:p>
            <a:pPr>
              <a:lnSpc>
                <a:spcPts val="1425"/>
              </a:lnSpc>
              <a:buNone/>
            </a:pPr>
            <a:r>
              <a:rPr lang="en-US" sz="1400" b="0" dirty="0">
                <a:solidFill>
                  <a:srgbClr val="676F7D"/>
                </a:solidFill>
                <a:effectLst/>
                <a:latin typeface="Consolas" panose="020B0609020204030204" pitchFamily="49" charset="0"/>
              </a:rPr>
              <a:t># Multi-line comment (use multiple #):</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676F7D"/>
                </a:solidFill>
                <a:effectLst/>
                <a:latin typeface="Consolas" panose="020B0609020204030204" pitchFamily="49" charset="0"/>
              </a:rPr>
              <a:t># Step 1: Get user input</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676F7D"/>
                </a:solidFill>
                <a:effectLst/>
                <a:latin typeface="Consolas" panose="020B0609020204030204" pitchFamily="49" charset="0"/>
              </a:rPr>
              <a:t># Step 2: Do calculation</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676F7D"/>
                </a:solidFill>
                <a:effectLst/>
                <a:latin typeface="Consolas" panose="020B0609020204030204" pitchFamily="49" charset="0"/>
              </a:rPr>
              <a:t># Step 3: Display result</a:t>
            </a:r>
            <a:endParaRPr lang="en-US" sz="1400" b="0" dirty="0">
              <a:solidFill>
                <a:srgbClr val="BBBBBB"/>
              </a:solidFill>
              <a:effectLst/>
              <a:latin typeface="Consolas" panose="020B0609020204030204" pitchFamily="49" charset="0"/>
            </a:endParaRPr>
          </a:p>
          <a:p>
            <a:pPr>
              <a:lnSpc>
                <a:spcPts val="1425"/>
              </a:lnSpc>
              <a:buNone/>
            </a:pPr>
            <a:br>
              <a:rPr lang="en-US" sz="1400" b="0" dirty="0">
                <a:solidFill>
                  <a:srgbClr val="BBBBBB"/>
                </a:solidFill>
                <a:effectLst/>
                <a:latin typeface="Consolas" panose="020B0609020204030204" pitchFamily="49" charset="0"/>
              </a:rPr>
            </a:b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E5C07B"/>
                </a:solidFill>
                <a:effectLst/>
                <a:latin typeface="Consolas" panose="020B0609020204030204" pitchFamily="49" charset="0"/>
              </a:rPr>
              <a:t>"""</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E5C07B"/>
                </a:solidFill>
                <a:effectLst/>
                <a:latin typeface="Consolas" panose="020B0609020204030204" pitchFamily="49" charset="0"/>
              </a:rPr>
              <a:t>This is a multi-line comment (use triple quotes).</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E5C07B"/>
                </a:solidFill>
                <a:effectLst/>
                <a:latin typeface="Consolas" panose="020B0609020204030204" pitchFamily="49" charset="0"/>
              </a:rPr>
              <a:t>It is often used for docstrings (documentation strings) in functions and classes.</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E5C07B"/>
                </a:solidFill>
                <a:effectLst/>
                <a:latin typeface="Consolas" panose="020B0609020204030204" pitchFamily="49" charset="0"/>
              </a:rPr>
              <a:t>This text will not be executed as code.</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E5C07B"/>
                </a:solidFill>
                <a:effectLst/>
                <a:latin typeface="Consolas" panose="020B0609020204030204" pitchFamily="49" charset="0"/>
              </a:rPr>
              <a:t>Multi-line comments are useful for providing detailed explanations or for temporarily</a:t>
            </a:r>
          </a:p>
          <a:p>
            <a:pPr>
              <a:lnSpc>
                <a:spcPts val="1425"/>
              </a:lnSpc>
              <a:buNone/>
            </a:pPr>
            <a:r>
              <a:rPr lang="en-US" sz="1400" b="0" dirty="0">
                <a:solidFill>
                  <a:srgbClr val="E5C07B"/>
                </a:solidFill>
                <a:effectLst/>
                <a:latin typeface="Consolas" panose="020B0609020204030204" pitchFamily="49" charset="0"/>
              </a:rPr>
              <a:t>commenting out blocks of code during development.</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E5C07B"/>
                </a:solidFill>
                <a:effectLst/>
                <a:latin typeface="Consolas" panose="020B0609020204030204" pitchFamily="49" charset="0"/>
              </a:rPr>
              <a:t>"""</a:t>
            </a:r>
            <a:endParaRPr lang="en-US" sz="1400" b="0" dirty="0">
              <a:solidFill>
                <a:srgbClr val="BBBBBB"/>
              </a:solidFill>
              <a:effectLst/>
              <a:latin typeface="Consolas" panose="020B0609020204030204" pitchFamily="49"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B31E-99B5-62CE-44ED-2A72994C173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73862C8-3AED-2C83-2F9D-1FF22FD3A0D8}"/>
              </a:ext>
            </a:extLst>
          </p:cNvPr>
          <p:cNvSpPr/>
          <p:nvPr/>
        </p:nvSpPr>
        <p:spPr>
          <a:xfrm>
            <a:off x="0" y="0"/>
            <a:ext cx="12188952" cy="128016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600" b="1" dirty="0">
                <a:solidFill>
                  <a:srgbClr val="FFFFFF"/>
                </a:solidFill>
              </a:rPr>
              <a:t>📦 </a:t>
            </a:r>
            <a:r>
              <a:rPr lang="en-US" sz="3600" b="1" dirty="0">
                <a:solidFill>
                  <a:srgbClr val="FFFFFF"/>
                </a:solidFill>
              </a:rPr>
              <a:t>Assignment Statements</a:t>
            </a:r>
            <a:endParaRPr sz="3600" b="1" dirty="0">
              <a:solidFill>
                <a:srgbClr val="FFFFFF"/>
              </a:solidFill>
            </a:endParaRPr>
          </a:p>
        </p:txBody>
      </p:sp>
      <p:sp>
        <p:nvSpPr>
          <p:cNvPr id="6" name="TextBox 5">
            <a:extLst>
              <a:ext uri="{FF2B5EF4-FFF2-40B4-BE49-F238E27FC236}">
                <a16:creationId xmlns:a16="http://schemas.microsoft.com/office/drawing/2014/main" id="{7C7356FD-EA1E-BB86-C50D-0AFC2E862898}"/>
              </a:ext>
            </a:extLst>
          </p:cNvPr>
          <p:cNvSpPr txBox="1"/>
          <p:nvPr/>
        </p:nvSpPr>
        <p:spPr>
          <a:xfrm>
            <a:off x="709716" y="1412408"/>
            <a:ext cx="10515600" cy="969496"/>
          </a:xfrm>
          <a:prstGeom prst="rect">
            <a:avLst/>
          </a:prstGeom>
          <a:noFill/>
        </p:spPr>
        <p:txBody>
          <a:bodyPr wrap="square">
            <a:spAutoFit/>
          </a:bodyPr>
          <a:lstStyle/>
          <a:p>
            <a:pPr marL="342900" indent="-342900">
              <a:buFont typeface="Arial" panose="020B0604020202020204" pitchFamily="34" charset="0"/>
              <a:buChar char="•"/>
            </a:pPr>
            <a:r>
              <a:rPr lang="en-US" sz="1900" dirty="0">
                <a:solidFill>
                  <a:srgbClr val="444444"/>
                </a:solidFill>
              </a:rPr>
              <a:t>We assign a value to a variable using the assignment statement (=)</a:t>
            </a:r>
          </a:p>
          <a:p>
            <a:pPr marL="342900" indent="-342900">
              <a:buFont typeface="Arial" panose="020B0604020202020204" pitchFamily="34" charset="0"/>
              <a:buChar char="•"/>
            </a:pPr>
            <a:r>
              <a:rPr lang="en-US" sz="1900" dirty="0">
                <a:solidFill>
                  <a:srgbClr val="444444"/>
                </a:solidFill>
              </a:rPr>
              <a:t>An assignment statement consists of an expression on the right-hand side and a variable to store the result</a:t>
            </a:r>
          </a:p>
        </p:txBody>
      </p:sp>
      <p:sp>
        <p:nvSpPr>
          <p:cNvPr id="3" name="Rectangle 2">
            <a:extLst>
              <a:ext uri="{FF2B5EF4-FFF2-40B4-BE49-F238E27FC236}">
                <a16:creationId xmlns:a16="http://schemas.microsoft.com/office/drawing/2014/main" id="{16E65331-7AE8-801F-D2A3-899D8F243787}"/>
              </a:ext>
            </a:extLst>
          </p:cNvPr>
          <p:cNvSpPr/>
          <p:nvPr/>
        </p:nvSpPr>
        <p:spPr>
          <a:xfrm>
            <a:off x="2338840" y="2865927"/>
            <a:ext cx="7511143" cy="2209925"/>
          </a:xfrm>
          <a:prstGeom prst="rect">
            <a:avLst/>
          </a:prstGeom>
          <a:solidFill>
            <a:srgbClr val="282C34"/>
          </a:solidFill>
          <a:ln>
            <a:solidFill>
              <a:srgbClr val="555555"/>
            </a:solidFill>
          </a:ln>
        </p:spPr>
        <p:style>
          <a:lnRef idx="1">
            <a:schemeClr val="accent1"/>
          </a:lnRef>
          <a:fillRef idx="3">
            <a:schemeClr val="accent1"/>
          </a:fillRef>
          <a:effectRef idx="2">
            <a:schemeClr val="accent1"/>
          </a:effectRef>
          <a:fontRef idx="minor">
            <a:schemeClr val="lt1"/>
          </a:fontRef>
        </p:style>
        <p:txBody>
          <a:bodyPr wrap="none" rtlCol="0" anchor="ctr"/>
          <a:lstStyle/>
          <a:p>
            <a:pPr>
              <a:lnSpc>
                <a:spcPts val="1425"/>
              </a:lnSpc>
              <a:buNone/>
            </a:pPr>
            <a:r>
              <a:rPr lang="en-US" sz="1400" b="0" dirty="0" err="1">
                <a:solidFill>
                  <a:srgbClr val="BBBBBB"/>
                </a:solidFill>
                <a:effectLst/>
                <a:latin typeface="Consolas" panose="020B0609020204030204" pitchFamily="49" charset="0"/>
              </a:rPr>
              <a:t>hours_per_day</a:t>
            </a:r>
            <a:r>
              <a:rPr lang="en-US" sz="1400" b="0" dirty="0">
                <a:solidFill>
                  <a:srgbClr val="BBBBBB"/>
                </a:solidFill>
                <a:effectLst/>
                <a:latin typeface="Consolas" panose="020B0609020204030204" pitchFamily="49" charset="0"/>
              </a:rPr>
              <a: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24</a:t>
            </a:r>
            <a:endParaRPr lang="en-US" sz="1400" b="0" dirty="0">
              <a:solidFill>
                <a:srgbClr val="BBBBBB"/>
              </a:solidFill>
              <a:effectLst/>
              <a:latin typeface="Consolas" panose="020B0609020204030204" pitchFamily="49" charset="0"/>
            </a:endParaRPr>
          </a:p>
          <a:p>
            <a:pPr>
              <a:lnSpc>
                <a:spcPts val="1425"/>
              </a:lnSpc>
              <a:buNone/>
            </a:pPr>
            <a:r>
              <a:rPr lang="en-US" sz="1400" b="0" dirty="0" err="1">
                <a:solidFill>
                  <a:srgbClr val="BBBBBB"/>
                </a:solidFill>
                <a:effectLst/>
                <a:latin typeface="Consolas" panose="020B0609020204030204" pitchFamily="49" charset="0"/>
              </a:rPr>
              <a:t>days_per_week</a:t>
            </a:r>
            <a:r>
              <a:rPr lang="en-US" sz="1400" b="0" dirty="0">
                <a:solidFill>
                  <a:srgbClr val="BBBBBB"/>
                </a:solidFill>
                <a:effectLst/>
                <a:latin typeface="Consolas" panose="020B0609020204030204" pitchFamily="49" charset="0"/>
              </a:rPr>
              <a: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7</a:t>
            </a:r>
            <a:endParaRPr lang="en-US" sz="1400" b="0" dirty="0">
              <a:solidFill>
                <a:srgbClr val="BBBBBB"/>
              </a:solidFill>
              <a:effectLst/>
              <a:latin typeface="Consolas" panose="020B0609020204030204" pitchFamily="49" charset="0"/>
            </a:endParaRPr>
          </a:p>
          <a:p>
            <a:pPr>
              <a:lnSpc>
                <a:spcPts val="1425"/>
              </a:lnSpc>
              <a:buNone/>
            </a:pPr>
            <a:r>
              <a:rPr lang="en-US" sz="1400" b="0" dirty="0" err="1">
                <a:solidFill>
                  <a:srgbClr val="BBBBBB"/>
                </a:solidFill>
                <a:effectLst/>
                <a:latin typeface="Consolas" panose="020B0609020204030204" pitchFamily="49" charset="0"/>
              </a:rPr>
              <a:t>seconds_per_week</a:t>
            </a:r>
            <a:r>
              <a:rPr lang="en-US" sz="1400" b="0" dirty="0">
                <a:solidFill>
                  <a:srgbClr val="BBBBBB"/>
                </a:solidFill>
                <a:effectLst/>
                <a:latin typeface="Consolas" panose="020B0609020204030204" pitchFamily="49" charset="0"/>
              </a:rPr>
              <a: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60</a:t>
            </a:r>
            <a:r>
              <a:rPr lang="en-US" sz="1400" b="0" dirty="0">
                <a:solidFill>
                  <a:srgbClr val="BBBBBB"/>
                </a:solidFill>
                <a:effectLst/>
                <a:latin typeface="Consolas" panose="020B0609020204030204" pitchFamily="49" charset="0"/>
              </a:rPr>
              <a: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60</a:t>
            </a:r>
            <a:r>
              <a:rPr lang="en-US" sz="1400" b="0" dirty="0">
                <a:solidFill>
                  <a:srgbClr val="BBBBBB"/>
                </a:solidFill>
                <a:effectLst/>
                <a:latin typeface="Consolas" panose="020B0609020204030204" pitchFamily="49" charset="0"/>
              </a:rPr>
              <a: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err="1">
                <a:solidFill>
                  <a:srgbClr val="BBBBBB"/>
                </a:solidFill>
                <a:effectLst/>
                <a:latin typeface="Consolas" panose="020B0609020204030204" pitchFamily="49" charset="0"/>
              </a:rPr>
              <a:t>hours_per_day</a:t>
            </a:r>
            <a:r>
              <a:rPr lang="en-US" sz="1400" b="0" dirty="0">
                <a:solidFill>
                  <a:srgbClr val="BBBBBB"/>
                </a:solidFill>
                <a:effectLst/>
                <a:latin typeface="Consolas" panose="020B0609020204030204" pitchFamily="49" charset="0"/>
              </a:rPr>
              <a: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err="1">
                <a:solidFill>
                  <a:srgbClr val="BBBBBB"/>
                </a:solidFill>
                <a:effectLst/>
                <a:latin typeface="Consolas" panose="020B0609020204030204" pitchFamily="49" charset="0"/>
              </a:rPr>
              <a:t>days_per_week</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a:t>
            </a:r>
            <a:r>
              <a:rPr lang="en-US" sz="1400" b="0" dirty="0" err="1">
                <a:solidFill>
                  <a:srgbClr val="BBBBBB"/>
                </a:solidFill>
                <a:effectLst/>
                <a:latin typeface="Consolas" panose="020B0609020204030204" pitchFamily="49" charset="0"/>
              </a:rPr>
              <a:t>seconds_per_week</a:t>
            </a:r>
            <a:r>
              <a:rPr lang="en-US" sz="1400" b="0" dirty="0">
                <a:solidFill>
                  <a:srgbClr val="BBBBBB"/>
                </a:solidFill>
                <a:effectLst/>
                <a:latin typeface="Consolas" panose="020B0609020204030204" pitchFamily="49" charset="0"/>
              </a:rPr>
              <a:t>)</a:t>
            </a:r>
          </a:p>
          <a:p>
            <a:pPr>
              <a:lnSpc>
                <a:spcPts val="1425"/>
              </a:lnSpc>
              <a:buNone/>
            </a:pPr>
            <a:endParaRPr lang="es-ES" sz="1400" b="0" dirty="0">
              <a:solidFill>
                <a:srgbClr val="BBBBBB"/>
              </a:solidFill>
              <a:effectLst/>
              <a:latin typeface="Consolas" panose="020B0609020204030204" pitchFamily="49" charset="0"/>
            </a:endParaRPr>
          </a:p>
        </p:txBody>
      </p:sp>
    </p:spTree>
    <p:extLst>
      <p:ext uri="{BB962C8B-B14F-4D97-AF65-F5344CB8AC3E}">
        <p14:creationId xmlns:p14="http://schemas.microsoft.com/office/powerpoint/2010/main" val="15157993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8016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600" b="1">
                <a:solidFill>
                  <a:srgbClr val="FFFFFF"/>
                </a:solidFill>
              </a:rPr>
              <a:t>➕ Arithmetic Operators</a:t>
            </a:r>
          </a:p>
        </p:txBody>
      </p:sp>
      <p:sp>
        <p:nvSpPr>
          <p:cNvPr id="3" name="Rectangle 2"/>
          <p:cNvSpPr/>
          <p:nvPr/>
        </p:nvSpPr>
        <p:spPr>
          <a:xfrm>
            <a:off x="731520" y="1463040"/>
            <a:ext cx="10515600" cy="2143354"/>
          </a:xfrm>
          <a:prstGeom prst="rect">
            <a:avLst/>
          </a:prstGeom>
          <a:solidFill>
            <a:srgbClr val="282C34"/>
          </a:solidFill>
          <a:ln>
            <a:solidFill>
              <a:srgbClr val="555555"/>
            </a:solidFill>
          </a:ln>
        </p:spPr>
        <p:style>
          <a:lnRef idx="1">
            <a:schemeClr val="accent1"/>
          </a:lnRef>
          <a:fillRef idx="3">
            <a:schemeClr val="accent1"/>
          </a:fillRef>
          <a:effectRef idx="2">
            <a:schemeClr val="accent1"/>
          </a:effectRef>
          <a:fontRef idx="minor">
            <a:schemeClr val="lt1"/>
          </a:fontRef>
        </p:style>
        <p:txBody>
          <a:bodyPr wrap="none" rtlCol="0" anchor="ctr"/>
          <a:lstStyle/>
          <a:p>
            <a:pPr>
              <a:lnSpc>
                <a:spcPts val="1425"/>
              </a:lnSpc>
              <a:buNone/>
            </a:pPr>
            <a:r>
              <a:rPr lang="en-US" sz="1400" b="0" dirty="0">
                <a:solidFill>
                  <a:srgbClr val="BBBBBB"/>
                </a:solidFill>
                <a:effectLst/>
                <a:latin typeface="Consolas" panose="020B0609020204030204" pitchFamily="49" charset="0"/>
              </a:rPr>
              <a:t>a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10</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b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3</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 </a:t>
            </a: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(a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b)   </a:t>
            </a:r>
            <a:r>
              <a:rPr lang="en-US" sz="1400" b="0" dirty="0">
                <a:solidFill>
                  <a:srgbClr val="676F7D"/>
                </a:solidFill>
                <a:effectLst/>
                <a:latin typeface="Consolas" panose="020B0609020204030204" pitchFamily="49" charset="0"/>
              </a:rPr>
              <a:t># 13     Addition</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(a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b)   </a:t>
            </a:r>
            <a:r>
              <a:rPr lang="en-US" sz="1400" b="0" dirty="0">
                <a:solidFill>
                  <a:srgbClr val="676F7D"/>
                </a:solidFill>
                <a:effectLst/>
                <a:latin typeface="Consolas" panose="020B0609020204030204" pitchFamily="49" charset="0"/>
              </a:rPr>
              <a:t># 7      Subtraction</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(a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b)   </a:t>
            </a:r>
            <a:r>
              <a:rPr lang="en-US" sz="1400" b="0" dirty="0">
                <a:solidFill>
                  <a:srgbClr val="676F7D"/>
                </a:solidFill>
                <a:effectLst/>
                <a:latin typeface="Consolas" panose="020B0609020204030204" pitchFamily="49" charset="0"/>
              </a:rPr>
              <a:t># 30     Multiplication</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(a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b)   </a:t>
            </a:r>
            <a:r>
              <a:rPr lang="en-US" sz="1400" b="0" dirty="0">
                <a:solidFill>
                  <a:srgbClr val="676F7D"/>
                </a:solidFill>
                <a:effectLst/>
                <a:latin typeface="Consolas" panose="020B0609020204030204" pitchFamily="49" charset="0"/>
              </a:rPr>
              <a:t># 3.333  Division (always float)</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(a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b)  </a:t>
            </a:r>
            <a:r>
              <a:rPr lang="en-US" sz="1400" b="0" dirty="0">
                <a:solidFill>
                  <a:srgbClr val="676F7D"/>
                </a:solidFill>
                <a:effectLst/>
                <a:latin typeface="Consolas" panose="020B0609020204030204" pitchFamily="49" charset="0"/>
              </a:rPr>
              <a:t># 3      Floor Division</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(a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b)   </a:t>
            </a:r>
            <a:r>
              <a:rPr lang="en-US" sz="1400" b="0" dirty="0">
                <a:solidFill>
                  <a:srgbClr val="676F7D"/>
                </a:solidFill>
                <a:effectLst/>
                <a:latin typeface="Consolas" panose="020B0609020204030204" pitchFamily="49" charset="0"/>
              </a:rPr>
              <a:t># 1      Modulo (remainder)</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(a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b)  </a:t>
            </a:r>
            <a:r>
              <a:rPr lang="en-US" sz="1400" b="0" dirty="0">
                <a:solidFill>
                  <a:srgbClr val="676F7D"/>
                </a:solidFill>
                <a:effectLst/>
                <a:latin typeface="Consolas" panose="020B0609020204030204" pitchFamily="49" charset="0"/>
              </a:rPr>
              <a:t># 1000   Exponentiation (10³)</a:t>
            </a:r>
            <a:endParaRPr lang="en-US" sz="1400" b="0" dirty="0">
              <a:solidFill>
                <a:srgbClr val="BBBBBB"/>
              </a:solidFill>
              <a:effectLst/>
              <a:latin typeface="Consolas" panose="020B0609020204030204" pitchFamily="49" charset="0"/>
            </a:endParaRPr>
          </a:p>
        </p:txBody>
      </p:sp>
      <p:sp>
        <p:nvSpPr>
          <p:cNvPr id="4" name="TextBox 3"/>
          <p:cNvSpPr txBox="1"/>
          <p:nvPr/>
        </p:nvSpPr>
        <p:spPr>
          <a:xfrm>
            <a:off x="731520" y="3690518"/>
            <a:ext cx="10515600" cy="1785104"/>
          </a:xfrm>
          <a:prstGeom prst="rect">
            <a:avLst/>
          </a:prstGeom>
          <a:noFill/>
        </p:spPr>
        <p:txBody>
          <a:bodyPr wrap="square">
            <a:spAutoFit/>
          </a:bodyPr>
          <a:lstStyle/>
          <a:p>
            <a:pPr algn="l"/>
            <a:r>
              <a:rPr lang="en-US" sz="2000" b="1" i="0" dirty="0">
                <a:solidFill>
                  <a:srgbClr val="1F3964"/>
                </a:solidFill>
              </a:rPr>
              <a:t>Highest precedence rule to lowest precedence rule</a:t>
            </a:r>
          </a:p>
          <a:p>
            <a:pPr marL="342900" indent="-342900" algn="l">
              <a:buFont typeface="+mj-lt"/>
              <a:buAutoNum type="arabicPeriod"/>
            </a:pPr>
            <a:r>
              <a:rPr lang="en-US" sz="1400" i="0" dirty="0"/>
              <a:t>Parentheses are always respected</a:t>
            </a:r>
          </a:p>
          <a:p>
            <a:pPr marL="342900" indent="-342900" algn="l">
              <a:buFont typeface="+mj-lt"/>
              <a:buAutoNum type="arabicPeriod"/>
            </a:pPr>
            <a:r>
              <a:rPr lang="en-US" sz="1400" i="0" dirty="0"/>
              <a:t>Exponentiation (raise to a power)</a:t>
            </a:r>
          </a:p>
          <a:p>
            <a:pPr marL="342900" indent="-342900" algn="l">
              <a:buFont typeface="+mj-lt"/>
              <a:buAutoNum type="arabicPeriod"/>
            </a:pPr>
            <a:r>
              <a:rPr lang="en-US" sz="1400" i="0" dirty="0"/>
              <a:t>Multiplication, Division, and Remainder</a:t>
            </a:r>
          </a:p>
          <a:p>
            <a:pPr marL="342900" indent="-342900" algn="l">
              <a:buFont typeface="+mj-lt"/>
              <a:buAutoNum type="arabicPeriod"/>
            </a:pPr>
            <a:r>
              <a:rPr lang="en-US" sz="1400" i="0" dirty="0"/>
              <a:t>Addition and Subtraction</a:t>
            </a:r>
          </a:p>
          <a:p>
            <a:pPr marL="342900" indent="-342900" algn="l">
              <a:buFont typeface="+mj-lt"/>
              <a:buAutoNum type="arabicPeriod"/>
            </a:pPr>
            <a:r>
              <a:rPr lang="en-US" sz="1400" i="0" dirty="0"/>
              <a:t>Left to right</a:t>
            </a:r>
          </a:p>
          <a:p>
            <a:pPr algn="l"/>
            <a:endParaRPr sz="2000" b="1" i="0" dirty="0">
              <a:solidFill>
                <a:srgbClr val="1F3964"/>
              </a:solidFill>
            </a:endParaRPr>
          </a:p>
        </p:txBody>
      </p:sp>
      <p:sp>
        <p:nvSpPr>
          <p:cNvPr id="5" name="Rectangle 4"/>
          <p:cNvSpPr/>
          <p:nvPr/>
        </p:nvSpPr>
        <p:spPr>
          <a:xfrm>
            <a:off x="731520" y="5303520"/>
            <a:ext cx="10515600" cy="870509"/>
          </a:xfrm>
          <a:prstGeom prst="rect">
            <a:avLst/>
          </a:prstGeom>
          <a:solidFill>
            <a:srgbClr val="282C34"/>
          </a:solidFill>
          <a:ln>
            <a:solidFill>
              <a:srgbClr val="555555"/>
            </a:solidFill>
          </a:ln>
        </p:spPr>
        <p:style>
          <a:lnRef idx="1">
            <a:schemeClr val="accent1"/>
          </a:lnRef>
          <a:fillRef idx="3">
            <a:schemeClr val="accent1"/>
          </a:fillRef>
          <a:effectRef idx="2">
            <a:schemeClr val="accent1"/>
          </a:effectRef>
          <a:fontRef idx="minor">
            <a:schemeClr val="lt1"/>
          </a:fontRef>
        </p:style>
        <p:txBody>
          <a:bodyPr wrap="none" rtlCol="0" anchor="ctr"/>
          <a:lstStyle/>
          <a:p>
            <a:pPr>
              <a:lnSpc>
                <a:spcPts val="1425"/>
              </a:lnSpc>
              <a:buNone/>
            </a:pPr>
            <a:r>
              <a:rPr lang="en-US" sz="1400" b="0" dirty="0">
                <a:solidFill>
                  <a:srgbClr val="BBBBBB"/>
                </a:solidFill>
                <a:effectLst/>
                <a:latin typeface="Consolas" panose="020B0609020204030204" pitchFamily="49" charset="0"/>
              </a:rPr>
              <a:t>x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1</a:t>
            </a:r>
            <a:r>
              <a:rPr lang="en-US" sz="1400" b="0" dirty="0">
                <a:solidFill>
                  <a:srgbClr val="BBBBBB"/>
                </a:solidFill>
                <a:effectLst/>
                <a:latin typeface="Consolas" panose="020B0609020204030204" pitchFamily="49" charset="0"/>
              </a:rPr>
              <a: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2</a:t>
            </a:r>
            <a:r>
              <a:rPr lang="en-US" sz="1400" b="0" dirty="0">
                <a:solidFill>
                  <a:srgbClr val="BBBBBB"/>
                </a:solidFill>
                <a:effectLst/>
                <a:latin typeface="Consolas" panose="020B0609020204030204" pitchFamily="49" charset="0"/>
              </a:rPr>
              <a: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3</a:t>
            </a:r>
            <a:r>
              <a:rPr lang="en-US" sz="1400" b="0" dirty="0">
                <a:solidFill>
                  <a:srgbClr val="BBBBBB"/>
                </a:solidFill>
                <a:effectLst/>
                <a:latin typeface="Consolas" panose="020B0609020204030204" pitchFamily="49" charset="0"/>
              </a:rPr>
              <a: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8</a:t>
            </a:r>
            <a:r>
              <a:rPr lang="en-US" sz="1400" b="0" dirty="0">
                <a:solidFill>
                  <a:srgbClr val="BBBBBB"/>
                </a:solidFill>
                <a:effectLst/>
                <a:latin typeface="Consolas" panose="020B0609020204030204" pitchFamily="49" charset="0"/>
              </a:rPr>
              <a: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2</a:t>
            </a:r>
            <a:r>
              <a:rPr lang="en-US" sz="1400" b="0" dirty="0">
                <a:solidFill>
                  <a:srgbClr val="BBBBBB"/>
                </a:solidFill>
                <a:effectLst/>
                <a:latin typeface="Consolas" panose="020B0609020204030204" pitchFamily="49" charset="0"/>
              </a:rPr>
              <a: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3</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x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1</a:t>
            </a:r>
            <a:r>
              <a:rPr lang="en-US" sz="1400" b="0" dirty="0">
                <a:solidFill>
                  <a:srgbClr val="BBBBBB"/>
                </a:solidFill>
                <a:effectLst/>
                <a:latin typeface="Consolas" panose="020B0609020204030204" pitchFamily="49" charset="0"/>
              </a:rPr>
              <a: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2</a:t>
            </a:r>
            <a:r>
              <a:rPr lang="en-US" sz="1400" b="0" dirty="0">
                <a:solidFill>
                  <a:srgbClr val="BBBBBB"/>
                </a:solidFill>
                <a:effectLst/>
                <a:latin typeface="Consolas" panose="020B0609020204030204" pitchFamily="49" charset="0"/>
              </a:rPr>
              <a: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3</a:t>
            </a:r>
            <a:r>
              <a:rPr lang="en-US" sz="1400" b="0" dirty="0">
                <a:solidFill>
                  <a:srgbClr val="BBBBBB"/>
                </a:solidFill>
                <a:effectLst/>
                <a:latin typeface="Consolas" panose="020B0609020204030204" pitchFamily="49" charset="0"/>
              </a:rPr>
              <a: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8</a:t>
            </a:r>
            <a:r>
              <a:rPr lang="en-US" sz="1400" b="0" dirty="0">
                <a:solidFill>
                  <a:srgbClr val="BBBBBB"/>
                </a:solidFill>
                <a:effectLst/>
                <a:latin typeface="Consolas" panose="020B0609020204030204" pitchFamily="49" charset="0"/>
              </a:rPr>
              <a: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2</a:t>
            </a:r>
            <a:r>
              <a:rPr lang="en-US" sz="1400" b="0" dirty="0">
                <a:solidFill>
                  <a:srgbClr val="BBBBBB"/>
                </a:solidFill>
                <a:effectLst/>
                <a:latin typeface="Consolas" panose="020B0609020204030204" pitchFamily="49" charset="0"/>
              </a:rPr>
              <a: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3</a:t>
            </a:r>
            <a:r>
              <a:rPr lang="en-US" sz="1400" b="0" dirty="0">
                <a:solidFill>
                  <a:srgbClr val="BBBBBB"/>
                </a:solidFill>
                <a:effectLst/>
                <a:latin typeface="Consolas" panose="020B0609020204030204" pitchFamily="49" charset="0"/>
              </a:rPr>
              <a:t>))</a:t>
            </a: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(x)</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8016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600" b="1" dirty="0">
                <a:solidFill>
                  <a:srgbClr val="FFFFFF"/>
                </a:solidFill>
              </a:rPr>
              <a:t>🔄 Assignment Operators</a:t>
            </a:r>
          </a:p>
        </p:txBody>
      </p:sp>
      <p:sp>
        <p:nvSpPr>
          <p:cNvPr id="3" name="Rectangle 2"/>
          <p:cNvSpPr/>
          <p:nvPr/>
        </p:nvSpPr>
        <p:spPr>
          <a:xfrm>
            <a:off x="731520" y="1687982"/>
            <a:ext cx="10515600" cy="1858061"/>
          </a:xfrm>
          <a:prstGeom prst="rect">
            <a:avLst/>
          </a:prstGeom>
          <a:solidFill>
            <a:srgbClr val="282C34"/>
          </a:solidFill>
          <a:ln>
            <a:solidFill>
              <a:srgbClr val="555555"/>
            </a:solidFill>
          </a:ln>
        </p:spPr>
        <p:style>
          <a:lnRef idx="1">
            <a:schemeClr val="accent1"/>
          </a:lnRef>
          <a:fillRef idx="3">
            <a:schemeClr val="accent1"/>
          </a:fillRef>
          <a:effectRef idx="2">
            <a:schemeClr val="accent1"/>
          </a:effectRef>
          <a:fontRef idx="minor">
            <a:schemeClr val="lt1"/>
          </a:fontRef>
        </p:style>
        <p:txBody>
          <a:bodyPr wrap="none" rtlCol="0" anchor="ctr"/>
          <a:lstStyle/>
          <a:p>
            <a:pPr>
              <a:lnSpc>
                <a:spcPts val="1425"/>
              </a:lnSpc>
              <a:buNone/>
            </a:pPr>
            <a:r>
              <a:rPr lang="en-US" sz="1400" b="0" dirty="0">
                <a:solidFill>
                  <a:srgbClr val="BBBBBB"/>
                </a:solidFill>
                <a:effectLst/>
                <a:latin typeface="Consolas" panose="020B0609020204030204" pitchFamily="49" charset="0"/>
              </a:rPr>
              <a:t>x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10</a:t>
            </a:r>
            <a:r>
              <a:rPr lang="en-US" sz="1400" b="0" dirty="0">
                <a:solidFill>
                  <a:srgbClr val="BBBBBB"/>
                </a:solidFill>
                <a:effectLst/>
                <a:latin typeface="Consolas" panose="020B0609020204030204" pitchFamily="49" charset="0"/>
              </a:rPr>
              <a:t>     </a:t>
            </a:r>
            <a:r>
              <a:rPr lang="en-US" sz="1400" b="0" dirty="0">
                <a:solidFill>
                  <a:srgbClr val="676F7D"/>
                </a:solidFill>
                <a:effectLst/>
                <a:latin typeface="Consolas" panose="020B0609020204030204" pitchFamily="49" charset="0"/>
              </a:rPr>
              <a:t># Assign</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x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5</a:t>
            </a:r>
            <a:r>
              <a:rPr lang="en-US" sz="1400" b="0" dirty="0">
                <a:solidFill>
                  <a:srgbClr val="BBBBBB"/>
                </a:solidFill>
                <a:effectLst/>
                <a:latin typeface="Consolas" panose="020B0609020204030204" pitchFamily="49" charset="0"/>
              </a:rPr>
              <a:t>     </a:t>
            </a:r>
            <a:r>
              <a:rPr lang="en-US" sz="1400" b="0" dirty="0">
                <a:solidFill>
                  <a:srgbClr val="676F7D"/>
                </a:solidFill>
                <a:effectLst/>
                <a:latin typeface="Consolas" panose="020B0609020204030204" pitchFamily="49" charset="0"/>
              </a:rPr>
              <a:t># x = x + 5   → 15</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x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3</a:t>
            </a:r>
            <a:r>
              <a:rPr lang="en-US" sz="1400" b="0" dirty="0">
                <a:solidFill>
                  <a:srgbClr val="BBBBBB"/>
                </a:solidFill>
                <a:effectLst/>
                <a:latin typeface="Consolas" panose="020B0609020204030204" pitchFamily="49" charset="0"/>
              </a:rPr>
              <a:t>     </a:t>
            </a:r>
            <a:r>
              <a:rPr lang="en-US" sz="1400" b="0" dirty="0">
                <a:solidFill>
                  <a:srgbClr val="676F7D"/>
                </a:solidFill>
                <a:effectLst/>
                <a:latin typeface="Consolas" panose="020B0609020204030204" pitchFamily="49" charset="0"/>
              </a:rPr>
              <a:t># x = x - 3   → 12</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x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2</a:t>
            </a:r>
            <a:r>
              <a:rPr lang="en-US" sz="1400" b="0" dirty="0">
                <a:solidFill>
                  <a:srgbClr val="BBBBBB"/>
                </a:solidFill>
                <a:effectLst/>
                <a:latin typeface="Consolas" panose="020B0609020204030204" pitchFamily="49" charset="0"/>
              </a:rPr>
              <a:t>     </a:t>
            </a:r>
            <a:r>
              <a:rPr lang="en-US" sz="1400" b="0" dirty="0">
                <a:solidFill>
                  <a:srgbClr val="676F7D"/>
                </a:solidFill>
                <a:effectLst/>
                <a:latin typeface="Consolas" panose="020B0609020204030204" pitchFamily="49" charset="0"/>
              </a:rPr>
              <a:t># x = x * 2   → 24</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x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4</a:t>
            </a:r>
            <a:r>
              <a:rPr lang="en-US" sz="1400" b="0" dirty="0">
                <a:solidFill>
                  <a:srgbClr val="BBBBBB"/>
                </a:solidFill>
                <a:effectLst/>
                <a:latin typeface="Consolas" panose="020B0609020204030204" pitchFamily="49" charset="0"/>
              </a:rPr>
              <a:t>     </a:t>
            </a:r>
            <a:r>
              <a:rPr lang="en-US" sz="1400" b="0" dirty="0">
                <a:solidFill>
                  <a:srgbClr val="676F7D"/>
                </a:solidFill>
                <a:effectLst/>
                <a:latin typeface="Consolas" panose="020B0609020204030204" pitchFamily="49" charset="0"/>
              </a:rPr>
              <a:t># x = x / 4   → 6.0</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x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2</a:t>
            </a:r>
            <a:r>
              <a:rPr lang="en-US" sz="1400" b="0" dirty="0">
                <a:solidFill>
                  <a:srgbClr val="BBBBBB"/>
                </a:solidFill>
                <a:effectLst/>
                <a:latin typeface="Consolas" panose="020B0609020204030204" pitchFamily="49" charset="0"/>
              </a:rPr>
              <a:t>    </a:t>
            </a:r>
            <a:r>
              <a:rPr lang="en-US" sz="1400" b="0" dirty="0">
                <a:solidFill>
                  <a:srgbClr val="676F7D"/>
                </a:solidFill>
                <a:effectLst/>
                <a:latin typeface="Consolas" panose="020B0609020204030204" pitchFamily="49" charset="0"/>
              </a:rPr>
              <a:t># x = x // 2  → 3.0</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x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3</a:t>
            </a:r>
            <a:r>
              <a:rPr lang="en-US" sz="1400" b="0" dirty="0">
                <a:solidFill>
                  <a:srgbClr val="BBBBBB"/>
                </a:solidFill>
                <a:effectLst/>
                <a:latin typeface="Consolas" panose="020B0609020204030204" pitchFamily="49" charset="0"/>
              </a:rPr>
              <a:t>    </a:t>
            </a:r>
            <a:r>
              <a:rPr lang="en-US" sz="1400" b="0" dirty="0">
                <a:solidFill>
                  <a:srgbClr val="676F7D"/>
                </a:solidFill>
                <a:effectLst/>
                <a:latin typeface="Consolas" panose="020B0609020204030204" pitchFamily="49" charset="0"/>
              </a:rPr>
              <a:t># x = x ** 3  → 27.0</a:t>
            </a:r>
            <a:endParaRPr lang="en-US" sz="1400" b="0" dirty="0">
              <a:solidFill>
                <a:srgbClr val="BBBBBB"/>
              </a:solidFill>
              <a:effectLst/>
              <a:latin typeface="Consolas" panose="020B0609020204030204" pitchFamily="49" charset="0"/>
            </a:endParaRPr>
          </a:p>
        </p:txBody>
      </p:sp>
      <p:sp>
        <p:nvSpPr>
          <p:cNvPr id="4" name="TextBox 3"/>
          <p:cNvSpPr txBox="1"/>
          <p:nvPr/>
        </p:nvSpPr>
        <p:spPr>
          <a:xfrm>
            <a:off x="731520" y="3953865"/>
            <a:ext cx="10515600" cy="457200"/>
          </a:xfrm>
          <a:prstGeom prst="rect">
            <a:avLst/>
          </a:prstGeom>
          <a:noFill/>
        </p:spPr>
        <p:txBody>
          <a:bodyPr wrap="square">
            <a:spAutoFit/>
          </a:bodyPr>
          <a:lstStyle/>
          <a:p>
            <a:pPr algn="l"/>
            <a:r>
              <a:rPr sz="2000" b="1" i="0">
                <a:solidFill>
                  <a:srgbClr val="1F3964"/>
                </a:solidFill>
              </a:rPr>
              <a:t>String operations:</a:t>
            </a:r>
          </a:p>
        </p:txBody>
      </p:sp>
      <p:sp>
        <p:nvSpPr>
          <p:cNvPr id="5" name="Rectangle 4"/>
          <p:cNvSpPr/>
          <p:nvPr/>
        </p:nvSpPr>
        <p:spPr>
          <a:xfrm>
            <a:off x="731520" y="4411064"/>
            <a:ext cx="10515600" cy="2077517"/>
          </a:xfrm>
          <a:prstGeom prst="rect">
            <a:avLst/>
          </a:prstGeom>
          <a:solidFill>
            <a:srgbClr val="282C34"/>
          </a:solidFill>
          <a:ln>
            <a:solidFill>
              <a:srgbClr val="555555"/>
            </a:solidFill>
          </a:ln>
        </p:spPr>
        <p:style>
          <a:lnRef idx="1">
            <a:schemeClr val="accent1"/>
          </a:lnRef>
          <a:fillRef idx="3">
            <a:schemeClr val="accent1"/>
          </a:fillRef>
          <a:effectRef idx="2">
            <a:schemeClr val="accent1"/>
          </a:effectRef>
          <a:fontRef idx="minor">
            <a:schemeClr val="lt1"/>
          </a:fontRef>
        </p:style>
        <p:txBody>
          <a:bodyPr wrap="none" rtlCol="0" anchor="ctr"/>
          <a:lstStyle/>
          <a:p>
            <a:pPr>
              <a:lnSpc>
                <a:spcPts val="1425"/>
              </a:lnSpc>
              <a:buNone/>
            </a:pPr>
            <a:r>
              <a:rPr lang="en-US" sz="1400" b="0" dirty="0">
                <a:solidFill>
                  <a:srgbClr val="BBBBBB"/>
                </a:solidFill>
                <a:effectLst/>
                <a:latin typeface="Consolas" panose="020B0609020204030204" pitchFamily="49" charset="0"/>
              </a:rPr>
              <a:t>first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E5C07B"/>
                </a:solidFill>
                <a:effectLst/>
                <a:latin typeface="Consolas" panose="020B0609020204030204" pitchFamily="49" charset="0"/>
              </a:rPr>
              <a:t>"Hello"</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last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E5C07B"/>
                </a:solidFill>
                <a:effectLst/>
                <a:latin typeface="Consolas" panose="020B0609020204030204" pitchFamily="49" charset="0"/>
              </a:rPr>
              <a:t>"World"</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full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first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E5C07B"/>
                </a:solidFill>
                <a:effectLst/>
                <a:latin typeface="Consolas" panose="020B0609020204030204" pitchFamily="49" charset="0"/>
              </a:rPr>
              <a:t>" "</a:t>
            </a:r>
            <a:r>
              <a:rPr lang="en-US" sz="1400" b="0" dirty="0">
                <a:solidFill>
                  <a:srgbClr val="BBBBBB"/>
                </a:solidFill>
                <a:effectLst/>
                <a:latin typeface="Consolas" panose="020B0609020204030204" pitchFamily="49" charset="0"/>
              </a:rPr>
              <a: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last   </a:t>
            </a:r>
            <a:r>
              <a:rPr lang="en-US" sz="1400" b="0" dirty="0">
                <a:solidFill>
                  <a:srgbClr val="676F7D"/>
                </a:solidFill>
                <a:effectLst/>
                <a:latin typeface="Consolas" panose="020B0609020204030204" pitchFamily="49" charset="0"/>
              </a:rPr>
              <a:t># "Hello World"  — concatenation</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repeated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E5C07B"/>
                </a:solidFill>
                <a:effectLst/>
                <a:latin typeface="Consolas" panose="020B0609020204030204" pitchFamily="49" charset="0"/>
              </a:rPr>
              <a:t>"Ha"</a:t>
            </a:r>
            <a:r>
              <a:rPr lang="en-US" sz="1400" b="0" dirty="0">
                <a:solidFill>
                  <a:srgbClr val="BBBBBB"/>
                </a:solidFill>
                <a:effectLst/>
                <a:latin typeface="Consolas" panose="020B0609020204030204" pitchFamily="49" charset="0"/>
              </a:rPr>
              <a: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3</a:t>
            </a:r>
            <a:r>
              <a:rPr lang="en-US" sz="1400" b="0" dirty="0">
                <a:solidFill>
                  <a:srgbClr val="BBBBBB"/>
                </a:solidFill>
                <a:effectLst/>
                <a:latin typeface="Consolas" panose="020B0609020204030204" pitchFamily="49" charset="0"/>
              </a:rPr>
              <a:t>             </a:t>
            </a:r>
            <a:r>
              <a:rPr lang="en-US" sz="1400" b="0" dirty="0">
                <a:solidFill>
                  <a:srgbClr val="676F7D"/>
                </a:solidFill>
                <a:effectLst/>
                <a:latin typeface="Consolas" panose="020B0609020204030204" pitchFamily="49" charset="0"/>
              </a:rPr>
              <a:t># "</a:t>
            </a:r>
            <a:r>
              <a:rPr lang="en-US" sz="1400" b="0" dirty="0" err="1">
                <a:solidFill>
                  <a:srgbClr val="676F7D"/>
                </a:solidFill>
                <a:effectLst/>
                <a:latin typeface="Consolas" panose="020B0609020204030204" pitchFamily="49" charset="0"/>
              </a:rPr>
              <a:t>HaHaHa</a:t>
            </a:r>
            <a:r>
              <a:rPr lang="en-US" sz="1400" b="0" dirty="0">
                <a:solidFill>
                  <a:srgbClr val="676F7D"/>
                </a:solidFill>
                <a:effectLst/>
                <a:latin typeface="Consolas" panose="020B0609020204030204" pitchFamily="49" charset="0"/>
              </a:rPr>
              <a:t>"       — repetition</a:t>
            </a:r>
          </a:p>
          <a:p>
            <a:pPr>
              <a:lnSpc>
                <a:spcPts val="1425"/>
              </a:lnSpc>
              <a:buNone/>
            </a:pPr>
            <a:endParaRPr lang="en-US" sz="1400" dirty="0">
              <a:solidFill>
                <a:srgbClr val="676F7D"/>
              </a:solidFill>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text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E5C07B"/>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50</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text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E5C07B"/>
                </a:solidFill>
                <a:effectLst/>
                <a:latin typeface="Consolas" panose="020B0609020204030204" pitchFamily="49" charset="0"/>
              </a:rPr>
              <a:t>"</a:t>
            </a:r>
            <a:r>
              <a:rPr lang="en-US" sz="1400" b="0" dirty="0">
                <a:solidFill>
                  <a:srgbClr val="56B6C2"/>
                </a:solidFill>
                <a:effectLst/>
                <a:latin typeface="Consolas" panose="020B0609020204030204" pitchFamily="49" charset="0"/>
              </a:rPr>
              <a:t>\</a:t>
            </a:r>
            <a:r>
              <a:rPr lang="en-US" sz="1400" dirty="0">
                <a:solidFill>
                  <a:srgbClr val="56B6C2"/>
                </a:solidFill>
                <a:latin typeface="Consolas" panose="020B0609020204030204" pitchFamily="49" charset="0"/>
              </a:rPr>
              <a:t>n ⭐ ⭐ ⭐ </a:t>
            </a:r>
            <a:r>
              <a:rPr lang="en-US" sz="1400" b="0" dirty="0">
                <a:solidFill>
                  <a:srgbClr val="E5C07B"/>
                </a:solidFill>
                <a:effectLst/>
                <a:latin typeface="Consolas" panose="020B0609020204030204" pitchFamily="49" charset="0"/>
              </a:rPr>
              <a:t>Welcome to Python</a:t>
            </a:r>
            <a:r>
              <a:rPr lang="en-US" sz="1400" dirty="0">
                <a:solidFill>
                  <a:srgbClr val="56B6C2"/>
                </a:solidFill>
                <a:latin typeface="Consolas" panose="020B0609020204030204" pitchFamily="49" charset="0"/>
              </a:rPr>
              <a:t> ⭐ ⭐ ⭐</a:t>
            </a:r>
            <a:r>
              <a:rPr lang="en-US" sz="1400" b="0" dirty="0">
                <a:solidFill>
                  <a:srgbClr val="E5C07B"/>
                </a:solidFill>
                <a:effectLst/>
                <a:latin typeface="Consolas" panose="020B0609020204030204" pitchFamily="49" charset="0"/>
              </a:rPr>
              <a:t> </a:t>
            </a:r>
            <a:r>
              <a:rPr lang="en-US" sz="1400" b="0" dirty="0">
                <a:solidFill>
                  <a:srgbClr val="56B6C2"/>
                </a:solidFill>
                <a:effectLst/>
                <a:latin typeface="Consolas" panose="020B0609020204030204" pitchFamily="49" charset="0"/>
              </a:rPr>
              <a:t>\n</a:t>
            </a:r>
            <a:r>
              <a:rPr lang="en-US" sz="1400" b="0" dirty="0">
                <a:solidFill>
                  <a:srgbClr val="E5C07B"/>
                </a:solidFill>
                <a:effectLst/>
                <a:latin typeface="Consolas" panose="020B0609020204030204" pitchFamily="49" charset="0"/>
              </a:rPr>
              <a:t>"</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text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E5C07B"/>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50</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(text)</a:t>
            </a:r>
          </a:p>
          <a:p>
            <a:pPr>
              <a:lnSpc>
                <a:spcPts val="1425"/>
              </a:lnSpc>
              <a:buNone/>
            </a:pPr>
            <a:endParaRPr lang="en-US" sz="1400" b="0" dirty="0">
              <a:solidFill>
                <a:srgbClr val="BBBBBB"/>
              </a:solidFill>
              <a:effectLst/>
              <a:latin typeface="Consolas" panose="020B0609020204030204" pitchFamily="49"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8016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600" b="1">
                <a:solidFill>
                  <a:srgbClr val="FFFFFF"/>
                </a:solidFill>
              </a:rPr>
              <a:t>🔠 Data Types</a:t>
            </a:r>
          </a:p>
        </p:txBody>
      </p:sp>
      <p:sp>
        <p:nvSpPr>
          <p:cNvPr id="3" name="Rectangle 2"/>
          <p:cNvSpPr/>
          <p:nvPr/>
        </p:nvSpPr>
        <p:spPr>
          <a:xfrm>
            <a:off x="731520" y="2004364"/>
            <a:ext cx="10515600" cy="4396435"/>
          </a:xfrm>
          <a:prstGeom prst="rect">
            <a:avLst/>
          </a:prstGeom>
          <a:solidFill>
            <a:srgbClr val="282C34"/>
          </a:solidFill>
          <a:ln>
            <a:solidFill>
              <a:srgbClr val="555555"/>
            </a:solidFill>
          </a:ln>
        </p:spPr>
        <p:style>
          <a:lnRef idx="1">
            <a:schemeClr val="accent1"/>
          </a:lnRef>
          <a:fillRef idx="3">
            <a:schemeClr val="accent1"/>
          </a:fillRef>
          <a:effectRef idx="2">
            <a:schemeClr val="accent1"/>
          </a:effectRef>
          <a:fontRef idx="minor">
            <a:schemeClr val="lt1"/>
          </a:fontRef>
        </p:style>
        <p:txBody>
          <a:bodyPr wrap="none" rtlCol="0" anchor="ctr"/>
          <a:lstStyle/>
          <a:p>
            <a:pPr>
              <a:lnSpc>
                <a:spcPts val="1425"/>
              </a:lnSpc>
              <a:buNone/>
            </a:pPr>
            <a:r>
              <a:rPr lang="en-US" sz="1400" b="0" dirty="0">
                <a:solidFill>
                  <a:srgbClr val="676F7D"/>
                </a:solidFill>
                <a:effectLst/>
                <a:latin typeface="Consolas" panose="020B0609020204030204" pitchFamily="49" charset="0"/>
              </a:rPr>
              <a:t># Integer — whole numbers</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score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100</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year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2024</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 </a:t>
            </a:r>
          </a:p>
          <a:p>
            <a:pPr>
              <a:lnSpc>
                <a:spcPts val="1425"/>
              </a:lnSpc>
              <a:buNone/>
            </a:pPr>
            <a:r>
              <a:rPr lang="en-US" sz="1400" b="0" dirty="0">
                <a:solidFill>
                  <a:srgbClr val="676F7D"/>
                </a:solidFill>
                <a:effectLst/>
                <a:latin typeface="Consolas" panose="020B0609020204030204" pitchFamily="49" charset="0"/>
              </a:rPr>
              <a:t># Float — decimal numbers</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price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9.99</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pi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3.14159</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 </a:t>
            </a:r>
          </a:p>
          <a:p>
            <a:pPr>
              <a:lnSpc>
                <a:spcPts val="1425"/>
              </a:lnSpc>
              <a:buNone/>
            </a:pPr>
            <a:r>
              <a:rPr lang="en-US" sz="1400" b="0" dirty="0">
                <a:solidFill>
                  <a:srgbClr val="676F7D"/>
                </a:solidFill>
                <a:effectLst/>
                <a:latin typeface="Consolas" panose="020B0609020204030204" pitchFamily="49" charset="0"/>
              </a:rPr>
              <a:t># String — text (use quotes)</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greeting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E5C07B"/>
                </a:solidFill>
                <a:effectLst/>
                <a:latin typeface="Consolas" panose="020B0609020204030204" pitchFamily="49" charset="0"/>
              </a:rPr>
              <a:t>"Hello!"</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city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E5C07B"/>
                </a:solidFill>
                <a:effectLst/>
                <a:latin typeface="Consolas" panose="020B0609020204030204" pitchFamily="49" charset="0"/>
              </a:rPr>
              <a:t>'Bucharest'</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 </a:t>
            </a:r>
          </a:p>
          <a:p>
            <a:pPr>
              <a:lnSpc>
                <a:spcPts val="1425"/>
              </a:lnSpc>
              <a:buNone/>
            </a:pPr>
            <a:r>
              <a:rPr lang="en-US" sz="1400" b="0" dirty="0">
                <a:solidFill>
                  <a:srgbClr val="676F7D"/>
                </a:solidFill>
                <a:effectLst/>
                <a:latin typeface="Consolas" panose="020B0609020204030204" pitchFamily="49" charset="0"/>
              </a:rPr>
              <a:t># Boolean — True or False</a:t>
            </a:r>
            <a:endParaRPr lang="en-US" sz="1400" b="0" dirty="0">
              <a:solidFill>
                <a:srgbClr val="BBBBBB"/>
              </a:solidFill>
              <a:effectLst/>
              <a:latin typeface="Consolas" panose="020B0609020204030204" pitchFamily="49" charset="0"/>
            </a:endParaRPr>
          </a:p>
          <a:p>
            <a:pPr>
              <a:lnSpc>
                <a:spcPts val="1425"/>
              </a:lnSpc>
              <a:buNone/>
            </a:pPr>
            <a:r>
              <a:rPr lang="en-US" sz="1400" b="0" dirty="0" err="1">
                <a:solidFill>
                  <a:srgbClr val="BBBBBB"/>
                </a:solidFill>
                <a:effectLst/>
                <a:latin typeface="Consolas" panose="020B0609020204030204" pitchFamily="49" charset="0"/>
              </a:rPr>
              <a:t>is_raining</a:t>
            </a:r>
            <a:r>
              <a:rPr lang="en-US" sz="1400" b="0" dirty="0">
                <a:solidFill>
                  <a:srgbClr val="BBBBBB"/>
                </a:solidFill>
                <a:effectLst/>
                <a:latin typeface="Consolas" panose="020B0609020204030204" pitchFamily="49" charset="0"/>
              </a:rPr>
              <a: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56B6C2"/>
                </a:solidFill>
                <a:effectLst/>
                <a:latin typeface="Consolas" panose="020B0609020204030204" pitchFamily="49" charset="0"/>
              </a:rPr>
              <a:t>False</a:t>
            </a:r>
            <a:endParaRPr lang="en-US" sz="1400" b="0" dirty="0">
              <a:solidFill>
                <a:srgbClr val="BBBBBB"/>
              </a:solidFill>
              <a:effectLst/>
              <a:latin typeface="Consolas" panose="020B0609020204030204" pitchFamily="49" charset="0"/>
            </a:endParaRPr>
          </a:p>
          <a:p>
            <a:pPr>
              <a:lnSpc>
                <a:spcPts val="1425"/>
              </a:lnSpc>
              <a:buNone/>
            </a:pPr>
            <a:r>
              <a:rPr lang="en-US" sz="1400" b="0" dirty="0" err="1">
                <a:solidFill>
                  <a:srgbClr val="BBBBBB"/>
                </a:solidFill>
                <a:effectLst/>
                <a:latin typeface="Consolas" panose="020B0609020204030204" pitchFamily="49" charset="0"/>
              </a:rPr>
              <a:t>passed_exam</a:t>
            </a:r>
            <a:r>
              <a:rPr lang="en-US" sz="1400" b="0" dirty="0">
                <a:solidFill>
                  <a:srgbClr val="BBBBBB"/>
                </a:solidFill>
                <a:effectLst/>
                <a:latin typeface="Consolas" panose="020B0609020204030204" pitchFamily="49" charset="0"/>
              </a:rPr>
              <a: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56B6C2"/>
                </a:solidFill>
                <a:effectLst/>
                <a:latin typeface="Consolas" panose="020B0609020204030204" pitchFamily="49" charset="0"/>
              </a:rPr>
              <a:t>True</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 </a:t>
            </a:r>
          </a:p>
          <a:p>
            <a:pPr>
              <a:lnSpc>
                <a:spcPts val="1425"/>
              </a:lnSpc>
              <a:buNone/>
            </a:pPr>
            <a:r>
              <a:rPr lang="en-US" sz="1400" b="0" dirty="0">
                <a:solidFill>
                  <a:srgbClr val="676F7D"/>
                </a:solidFill>
                <a:effectLst/>
                <a:latin typeface="Consolas" panose="020B0609020204030204" pitchFamily="49" charset="0"/>
              </a:rPr>
              <a:t># Check a type with type()</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a:t>
            </a:r>
            <a:r>
              <a:rPr lang="en-US" sz="1400" b="0" dirty="0">
                <a:solidFill>
                  <a:srgbClr val="56B6C2"/>
                </a:solidFill>
                <a:effectLst/>
                <a:latin typeface="Consolas" panose="020B0609020204030204" pitchFamily="49" charset="0"/>
              </a:rPr>
              <a:t>type</a:t>
            </a:r>
            <a:r>
              <a:rPr lang="en-US" sz="1400" b="0" dirty="0">
                <a:solidFill>
                  <a:srgbClr val="BBBBBB"/>
                </a:solidFill>
                <a:effectLst/>
                <a:latin typeface="Consolas" panose="020B0609020204030204" pitchFamily="49" charset="0"/>
              </a:rPr>
              <a:t>(score))       </a:t>
            </a:r>
            <a:r>
              <a:rPr lang="en-US" sz="1400" b="0" dirty="0">
                <a:solidFill>
                  <a:srgbClr val="676F7D"/>
                </a:solidFill>
                <a:effectLst/>
                <a:latin typeface="Consolas" panose="020B0609020204030204" pitchFamily="49" charset="0"/>
              </a:rPr>
              <a:t># &lt;class 'int'&gt;</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a:t>
            </a:r>
            <a:r>
              <a:rPr lang="en-US" sz="1400" b="0" dirty="0">
                <a:solidFill>
                  <a:srgbClr val="56B6C2"/>
                </a:solidFill>
                <a:effectLst/>
                <a:latin typeface="Consolas" panose="020B0609020204030204" pitchFamily="49" charset="0"/>
              </a:rPr>
              <a:t>type</a:t>
            </a:r>
            <a:r>
              <a:rPr lang="en-US" sz="1400" b="0" dirty="0">
                <a:solidFill>
                  <a:srgbClr val="BBBBBB"/>
                </a:solidFill>
                <a:effectLst/>
                <a:latin typeface="Consolas" panose="020B0609020204030204" pitchFamily="49" charset="0"/>
              </a:rPr>
              <a:t>(price))       </a:t>
            </a:r>
            <a:r>
              <a:rPr lang="en-US" sz="1400" b="0" dirty="0">
                <a:solidFill>
                  <a:srgbClr val="676F7D"/>
                </a:solidFill>
                <a:effectLst/>
                <a:latin typeface="Consolas" panose="020B0609020204030204" pitchFamily="49" charset="0"/>
              </a:rPr>
              <a:t># &lt;class 'float'&gt;</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a:t>
            </a:r>
            <a:r>
              <a:rPr lang="en-US" sz="1400" b="0" dirty="0">
                <a:solidFill>
                  <a:srgbClr val="56B6C2"/>
                </a:solidFill>
                <a:effectLst/>
                <a:latin typeface="Consolas" panose="020B0609020204030204" pitchFamily="49" charset="0"/>
              </a:rPr>
              <a:t>type</a:t>
            </a:r>
            <a:r>
              <a:rPr lang="en-US" sz="1400" b="0" dirty="0">
                <a:solidFill>
                  <a:srgbClr val="BBBBBB"/>
                </a:solidFill>
                <a:effectLst/>
                <a:latin typeface="Consolas" panose="020B0609020204030204" pitchFamily="49" charset="0"/>
              </a:rPr>
              <a:t>(greeting))    </a:t>
            </a:r>
            <a:r>
              <a:rPr lang="en-US" sz="1400" b="0" dirty="0">
                <a:solidFill>
                  <a:srgbClr val="676F7D"/>
                </a:solidFill>
                <a:effectLst/>
                <a:latin typeface="Consolas" panose="020B0609020204030204" pitchFamily="49" charset="0"/>
              </a:rPr>
              <a:t># &lt;class 'str'&gt;</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a:t>
            </a:r>
            <a:r>
              <a:rPr lang="en-US" sz="1400" b="0" dirty="0">
                <a:solidFill>
                  <a:srgbClr val="56B6C2"/>
                </a:solidFill>
                <a:effectLst/>
                <a:latin typeface="Consolas" panose="020B0609020204030204" pitchFamily="49" charset="0"/>
              </a:rPr>
              <a:t>type</a:t>
            </a:r>
            <a:r>
              <a:rPr lang="en-US" sz="1400" b="0" dirty="0">
                <a:solidFill>
                  <a:srgbClr val="BBBBBB"/>
                </a:solidFill>
                <a:effectLst/>
                <a:latin typeface="Consolas" panose="020B0609020204030204" pitchFamily="49" charset="0"/>
              </a:rPr>
              <a:t>(</a:t>
            </a:r>
            <a:r>
              <a:rPr lang="en-US" sz="1400" b="0" dirty="0" err="1">
                <a:solidFill>
                  <a:srgbClr val="BBBBBB"/>
                </a:solidFill>
                <a:effectLst/>
                <a:latin typeface="Consolas" panose="020B0609020204030204" pitchFamily="49" charset="0"/>
              </a:rPr>
              <a:t>is_raining</a:t>
            </a:r>
            <a:r>
              <a:rPr lang="en-US" sz="1400" b="0" dirty="0">
                <a:solidFill>
                  <a:srgbClr val="BBBBBB"/>
                </a:solidFill>
                <a:effectLst/>
                <a:latin typeface="Consolas" panose="020B0609020204030204" pitchFamily="49" charset="0"/>
              </a:rPr>
              <a:t>))  </a:t>
            </a:r>
            <a:r>
              <a:rPr lang="en-US" sz="1400" b="0" dirty="0">
                <a:solidFill>
                  <a:srgbClr val="676F7D"/>
                </a:solidFill>
                <a:effectLst/>
                <a:latin typeface="Consolas" panose="020B0609020204030204" pitchFamily="49" charset="0"/>
              </a:rPr>
              <a:t># &lt;class 'bool'&gt;</a:t>
            </a:r>
            <a:endParaRPr lang="en-US" sz="1400" b="0" dirty="0">
              <a:solidFill>
                <a:srgbClr val="BBBBBB"/>
              </a:solidFill>
              <a:effectLst/>
              <a:latin typeface="Consolas" panose="020B0609020204030204" pitchFamily="49" charset="0"/>
            </a:endParaRPr>
          </a:p>
        </p:txBody>
      </p:sp>
      <p:sp>
        <p:nvSpPr>
          <p:cNvPr id="4" name="TextBox 3">
            <a:extLst>
              <a:ext uri="{FF2B5EF4-FFF2-40B4-BE49-F238E27FC236}">
                <a16:creationId xmlns:a16="http://schemas.microsoft.com/office/drawing/2014/main" id="{B1E2D4EB-1A0F-79A1-967D-D513773FD8ED}"/>
              </a:ext>
            </a:extLst>
          </p:cNvPr>
          <p:cNvSpPr txBox="1"/>
          <p:nvPr/>
        </p:nvSpPr>
        <p:spPr>
          <a:xfrm>
            <a:off x="680314" y="1431993"/>
            <a:ext cx="3996159" cy="369332"/>
          </a:xfrm>
          <a:prstGeom prst="rect">
            <a:avLst/>
          </a:prstGeom>
          <a:noFill/>
        </p:spPr>
        <p:txBody>
          <a:bodyPr wrap="none" rtlCol="0">
            <a:spAutoFit/>
          </a:bodyPr>
          <a:lstStyle/>
          <a:p>
            <a:r>
              <a:rPr lang="en-US" dirty="0"/>
              <a:t>Python knows what “</a:t>
            </a:r>
            <a:r>
              <a:rPr lang="en-US" dirty="0">
                <a:solidFill>
                  <a:srgbClr val="FF0000"/>
                </a:solidFill>
              </a:rPr>
              <a:t>type</a:t>
            </a:r>
            <a:r>
              <a:rPr lang="en-US" dirty="0"/>
              <a:t>” everything is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2D183-3D67-36BB-9FF2-8AE9148C1A0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B732875-048C-325F-7C4B-594E73C05F18}"/>
              </a:ext>
            </a:extLst>
          </p:cNvPr>
          <p:cNvSpPr/>
          <p:nvPr/>
        </p:nvSpPr>
        <p:spPr>
          <a:xfrm>
            <a:off x="0" y="0"/>
            <a:ext cx="12188952" cy="128016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600" b="1" dirty="0">
                <a:solidFill>
                  <a:srgbClr val="FFFFFF"/>
                </a:solidFill>
              </a:rPr>
              <a:t>🔠 Type</a:t>
            </a:r>
            <a:r>
              <a:rPr lang="en-US" sz="3600" b="1" dirty="0">
                <a:solidFill>
                  <a:srgbClr val="FFFFFF"/>
                </a:solidFill>
              </a:rPr>
              <a:t> Matters</a:t>
            </a:r>
            <a:endParaRPr sz="3600" b="1" dirty="0">
              <a:solidFill>
                <a:srgbClr val="FFFFFF"/>
              </a:solidFill>
            </a:endParaRPr>
          </a:p>
        </p:txBody>
      </p:sp>
      <p:sp>
        <p:nvSpPr>
          <p:cNvPr id="3" name="Rectangle 2">
            <a:extLst>
              <a:ext uri="{FF2B5EF4-FFF2-40B4-BE49-F238E27FC236}">
                <a16:creationId xmlns:a16="http://schemas.microsoft.com/office/drawing/2014/main" id="{3D82D070-3B77-A04E-AB83-64BF72F07A37}"/>
              </a:ext>
            </a:extLst>
          </p:cNvPr>
          <p:cNvSpPr/>
          <p:nvPr/>
        </p:nvSpPr>
        <p:spPr>
          <a:xfrm>
            <a:off x="731520" y="2355494"/>
            <a:ext cx="10515600" cy="4045306"/>
          </a:xfrm>
          <a:prstGeom prst="rect">
            <a:avLst/>
          </a:prstGeom>
          <a:solidFill>
            <a:srgbClr val="282C34"/>
          </a:solidFill>
          <a:ln>
            <a:solidFill>
              <a:srgbClr val="555555"/>
            </a:solidFill>
          </a:ln>
        </p:spPr>
        <p:style>
          <a:lnRef idx="1">
            <a:schemeClr val="accent1"/>
          </a:lnRef>
          <a:fillRef idx="3">
            <a:schemeClr val="accent1"/>
          </a:fillRef>
          <a:effectRef idx="2">
            <a:schemeClr val="accent1"/>
          </a:effectRef>
          <a:fontRef idx="minor">
            <a:schemeClr val="lt1"/>
          </a:fontRef>
        </p:style>
        <p:txBody>
          <a:bodyPr wrap="none" rtlCol="0" anchor="ctr"/>
          <a:lstStyle/>
          <a:p>
            <a:pPr>
              <a:lnSpc>
                <a:spcPts val="1425"/>
              </a:lnSpc>
              <a:buNone/>
            </a:pPr>
            <a:r>
              <a:rPr lang="en-US" sz="1400" b="0" dirty="0">
                <a:solidFill>
                  <a:srgbClr val="BBBBBB"/>
                </a:solidFill>
                <a:effectLst/>
                <a:latin typeface="Consolas" panose="020B0609020204030204" pitchFamily="49" charset="0"/>
              </a:rPr>
              <a:t>score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100</a:t>
            </a:r>
          </a:p>
          <a:p>
            <a:pPr>
              <a:lnSpc>
                <a:spcPts val="1425"/>
              </a:lnSpc>
              <a:buNone/>
            </a:pPr>
            <a:r>
              <a:rPr lang="en-US" sz="1400" b="0" dirty="0">
                <a:solidFill>
                  <a:srgbClr val="BBBBBB"/>
                </a:solidFill>
                <a:effectLst/>
                <a:latin typeface="Consolas" panose="020B0609020204030204" pitchFamily="49" charset="0"/>
              </a:rPr>
              <a:t>greeting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E5C07B"/>
                </a:solidFill>
                <a:effectLst/>
                <a:latin typeface="Consolas" panose="020B0609020204030204" pitchFamily="49" charset="0"/>
              </a:rPr>
              <a:t>"Hello!"</a:t>
            </a:r>
            <a:endParaRPr lang="en-US" sz="1400" b="0" dirty="0">
              <a:solidFill>
                <a:srgbClr val="BBBBBB"/>
              </a:solidFill>
              <a:effectLst/>
              <a:latin typeface="Consolas" panose="020B0609020204030204" pitchFamily="49" charset="0"/>
            </a:endParaRPr>
          </a:p>
          <a:p>
            <a:pPr>
              <a:lnSpc>
                <a:spcPts val="1425"/>
              </a:lnSpc>
              <a:buNone/>
            </a:pPr>
            <a:endParaRPr lang="en-US" sz="1400" b="0" dirty="0">
              <a:solidFill>
                <a:srgbClr val="676F7D"/>
              </a:solidFill>
              <a:effectLst/>
              <a:latin typeface="Consolas" panose="020B0609020204030204" pitchFamily="49" charset="0"/>
            </a:endParaRPr>
          </a:p>
          <a:p>
            <a:pPr>
              <a:lnSpc>
                <a:spcPts val="1425"/>
              </a:lnSpc>
              <a:buNone/>
            </a:pPr>
            <a:r>
              <a:rPr lang="en-US" sz="1400" b="0" dirty="0">
                <a:solidFill>
                  <a:srgbClr val="676F7D"/>
                </a:solidFill>
                <a:effectLst/>
                <a:latin typeface="Consolas" panose="020B0609020204030204" pitchFamily="49" charset="0"/>
              </a:rPr>
              <a:t># Check a type with type()</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a:t>
            </a:r>
            <a:r>
              <a:rPr lang="en-US" sz="1400" b="0" dirty="0">
                <a:solidFill>
                  <a:srgbClr val="56B6C2"/>
                </a:solidFill>
                <a:effectLst/>
                <a:latin typeface="Consolas" panose="020B0609020204030204" pitchFamily="49" charset="0"/>
              </a:rPr>
              <a:t>type</a:t>
            </a:r>
            <a:r>
              <a:rPr lang="en-US" sz="1400" b="0" dirty="0">
                <a:solidFill>
                  <a:srgbClr val="BBBBBB"/>
                </a:solidFill>
                <a:effectLst/>
                <a:latin typeface="Consolas" panose="020B0609020204030204" pitchFamily="49" charset="0"/>
              </a:rPr>
              <a:t>(score))       </a:t>
            </a:r>
            <a:r>
              <a:rPr lang="en-US" sz="1400" b="0" dirty="0">
                <a:solidFill>
                  <a:srgbClr val="676F7D"/>
                </a:solidFill>
                <a:effectLst/>
                <a:latin typeface="Consolas" panose="020B0609020204030204" pitchFamily="49" charset="0"/>
              </a:rPr>
              <a:t># &lt;class 'int'&gt;</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a:t>
            </a:r>
            <a:r>
              <a:rPr lang="en-US" sz="1400" b="0" dirty="0">
                <a:solidFill>
                  <a:srgbClr val="56B6C2"/>
                </a:solidFill>
                <a:effectLst/>
                <a:latin typeface="Consolas" panose="020B0609020204030204" pitchFamily="49" charset="0"/>
              </a:rPr>
              <a:t>type</a:t>
            </a:r>
            <a:r>
              <a:rPr lang="en-US" sz="1400" b="0" dirty="0">
                <a:solidFill>
                  <a:srgbClr val="BBBBBB"/>
                </a:solidFill>
                <a:effectLst/>
                <a:latin typeface="Consolas" panose="020B0609020204030204" pitchFamily="49" charset="0"/>
              </a:rPr>
              <a:t>(greeting))    </a:t>
            </a:r>
            <a:r>
              <a:rPr lang="en-US" sz="1400" b="0" dirty="0">
                <a:solidFill>
                  <a:srgbClr val="676F7D"/>
                </a:solidFill>
                <a:effectLst/>
                <a:latin typeface="Consolas" panose="020B0609020204030204" pitchFamily="49" charset="0"/>
              </a:rPr>
              <a:t># &lt;class 'str'&gt;</a:t>
            </a:r>
            <a:endParaRPr lang="en-US" sz="1400" b="0" dirty="0">
              <a:solidFill>
                <a:srgbClr val="BBBBBB"/>
              </a:solidFill>
              <a:effectLst/>
              <a:latin typeface="Consolas" panose="020B0609020204030204" pitchFamily="49" charset="0"/>
            </a:endParaRPr>
          </a:p>
          <a:p>
            <a:pPr>
              <a:lnSpc>
                <a:spcPts val="1425"/>
              </a:lnSpc>
              <a:buNone/>
            </a:pPr>
            <a:endParaRPr lang="en-US" sz="1400" b="0" dirty="0">
              <a:solidFill>
                <a:srgbClr val="676F7D"/>
              </a:solidFill>
              <a:effectLst/>
              <a:latin typeface="Consolas" panose="020B0609020204030204" pitchFamily="49" charset="0"/>
            </a:endParaRPr>
          </a:p>
          <a:p>
            <a:pPr>
              <a:lnSpc>
                <a:spcPts val="1425"/>
              </a:lnSpc>
              <a:buNone/>
            </a:pPr>
            <a:r>
              <a:rPr lang="en-US" sz="1400" b="0" dirty="0">
                <a:solidFill>
                  <a:srgbClr val="676F7D"/>
                </a:solidFill>
                <a:effectLst/>
                <a:latin typeface="Consolas" panose="020B0609020204030204" pitchFamily="49" charset="0"/>
              </a:rPr>
              <a:t># Type matters</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676F7D"/>
                </a:solidFill>
                <a:effectLst/>
                <a:latin typeface="Consolas" panose="020B0609020204030204" pitchFamily="49" charset="0"/>
              </a:rPr>
              <a:t># Python knows what type everything is, and it will not allow you to mix </a:t>
            </a:r>
          </a:p>
          <a:p>
            <a:pPr>
              <a:lnSpc>
                <a:spcPts val="1425"/>
              </a:lnSpc>
              <a:buNone/>
            </a:pPr>
            <a:r>
              <a:rPr lang="en-US" sz="1400" dirty="0">
                <a:solidFill>
                  <a:srgbClr val="676F7D"/>
                </a:solidFill>
                <a:latin typeface="Consolas" panose="020B0609020204030204" pitchFamily="49" charset="0"/>
              </a:rPr>
              <a:t># </a:t>
            </a:r>
            <a:r>
              <a:rPr lang="en-US" sz="1400" b="0" dirty="0">
                <a:solidFill>
                  <a:srgbClr val="676F7D"/>
                </a:solidFill>
                <a:effectLst/>
                <a:latin typeface="Consolas" panose="020B0609020204030204" pitchFamily="49" charset="0"/>
              </a:rPr>
              <a:t>incompatible types without explicit conversion.</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676F7D"/>
                </a:solidFill>
                <a:effectLst/>
                <a:latin typeface="Consolas" panose="020B0609020204030204" pitchFamily="49" charset="0"/>
              </a:rPr>
              <a:t># For example, you cannot add a number and a string directly:</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676F7D"/>
                </a:solidFill>
                <a:effectLst/>
                <a:latin typeface="Consolas" panose="020B0609020204030204" pitchFamily="49" charset="0"/>
              </a:rPr>
              <a:t># This will cause an error:</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676F7D"/>
                </a:solidFill>
                <a:effectLst/>
                <a:latin typeface="Consolas" panose="020B0609020204030204" pitchFamily="49" charset="0"/>
              </a:rPr>
              <a:t># result = score + greeting  # </a:t>
            </a:r>
            <a:r>
              <a:rPr lang="en-US" sz="1400" b="0" dirty="0" err="1">
                <a:solidFill>
                  <a:srgbClr val="676F7D"/>
                </a:solidFill>
                <a:effectLst/>
                <a:latin typeface="Consolas" panose="020B0609020204030204" pitchFamily="49" charset="0"/>
              </a:rPr>
              <a:t>TypeError</a:t>
            </a:r>
            <a:r>
              <a:rPr lang="en-US" sz="1400" b="0" dirty="0">
                <a:solidFill>
                  <a:srgbClr val="676F7D"/>
                </a:solidFill>
                <a:effectLst/>
                <a:latin typeface="Consolas" panose="020B0609020204030204" pitchFamily="49" charset="0"/>
              </a:rPr>
              <a:t>: unsupported operand type(s) for +: 'int' and 'str'</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676F7D"/>
                </a:solidFill>
                <a:effectLst/>
                <a:latin typeface="Consolas" panose="020B0609020204030204" pitchFamily="49" charset="0"/>
              </a:rPr>
              <a:t># To combine different types, you need to convert them to a common type:</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result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56B6C2"/>
                </a:solidFill>
                <a:effectLst/>
                <a:latin typeface="Consolas" panose="020B0609020204030204" pitchFamily="49" charset="0"/>
              </a:rPr>
              <a:t>str</a:t>
            </a:r>
            <a:r>
              <a:rPr lang="en-US" sz="1400" b="0" dirty="0">
                <a:solidFill>
                  <a:srgbClr val="BBBBBB"/>
                </a:solidFill>
                <a:effectLst/>
                <a:latin typeface="Consolas" panose="020B0609020204030204" pitchFamily="49" charset="0"/>
              </a:rPr>
              <a:t>(score)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E5C07B"/>
                </a:solidFill>
                <a:effectLst/>
                <a:latin typeface="Consolas" panose="020B0609020204030204" pitchFamily="49" charset="0"/>
              </a:rPr>
              <a:t>" "</a:t>
            </a:r>
            <a:r>
              <a:rPr lang="en-US" sz="1400" b="0" dirty="0">
                <a:solidFill>
                  <a:srgbClr val="BBBBBB"/>
                </a:solidFill>
                <a:effectLst/>
                <a:latin typeface="Consolas" panose="020B0609020204030204" pitchFamily="49" charset="0"/>
              </a:rPr>
              <a: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greeting  </a:t>
            </a:r>
            <a:r>
              <a:rPr lang="en-US" sz="1400" b="0" dirty="0">
                <a:solidFill>
                  <a:srgbClr val="676F7D"/>
                </a:solidFill>
                <a:effectLst/>
                <a:latin typeface="Consolas" panose="020B0609020204030204" pitchFamily="49" charset="0"/>
              </a:rPr>
              <a:t># Convert score to string and concatenate</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(result)  </a:t>
            </a:r>
            <a:r>
              <a:rPr lang="en-US" sz="1400" b="0" dirty="0">
                <a:solidFill>
                  <a:srgbClr val="676F7D"/>
                </a:solidFill>
                <a:effectLst/>
                <a:latin typeface="Consolas" panose="020B0609020204030204" pitchFamily="49" charset="0"/>
              </a:rPr>
              <a:t># "100 Hello!"</a:t>
            </a:r>
            <a:endParaRPr lang="en-US" sz="1400" b="0" dirty="0">
              <a:solidFill>
                <a:srgbClr val="BBBBBB"/>
              </a:solidFill>
              <a:effectLst/>
              <a:latin typeface="Consolas" panose="020B0609020204030204" pitchFamily="49" charset="0"/>
            </a:endParaRPr>
          </a:p>
        </p:txBody>
      </p:sp>
    </p:spTree>
    <p:extLst>
      <p:ext uri="{BB962C8B-B14F-4D97-AF65-F5344CB8AC3E}">
        <p14:creationId xmlns:p14="http://schemas.microsoft.com/office/powerpoint/2010/main" val="34856861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C9BF0-0423-1C20-6334-9542F914C98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5F28629-19C4-1E9C-9758-D163C95D5C1C}"/>
              </a:ext>
            </a:extLst>
          </p:cNvPr>
          <p:cNvSpPr/>
          <p:nvPr/>
        </p:nvSpPr>
        <p:spPr>
          <a:xfrm>
            <a:off x="0" y="0"/>
            <a:ext cx="12188952" cy="128016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600" b="1" dirty="0">
                <a:solidFill>
                  <a:srgbClr val="FFFFFF"/>
                </a:solidFill>
              </a:rPr>
              <a:t>🔁 </a:t>
            </a:r>
            <a:r>
              <a:rPr lang="en-US" sz="3600" b="1" dirty="0">
                <a:solidFill>
                  <a:srgbClr val="FFFFFF"/>
                </a:solidFill>
              </a:rPr>
              <a:t>Dynamic typing</a:t>
            </a:r>
            <a:endParaRPr sz="3600" b="1" dirty="0">
              <a:solidFill>
                <a:srgbClr val="FFFFFF"/>
              </a:solidFill>
            </a:endParaRPr>
          </a:p>
        </p:txBody>
      </p:sp>
      <p:sp>
        <p:nvSpPr>
          <p:cNvPr id="3" name="TextBox 2">
            <a:extLst>
              <a:ext uri="{FF2B5EF4-FFF2-40B4-BE49-F238E27FC236}">
                <a16:creationId xmlns:a16="http://schemas.microsoft.com/office/drawing/2014/main" id="{6FCECA73-C4C8-3951-4AEB-927E9B812B51}"/>
              </a:ext>
            </a:extLst>
          </p:cNvPr>
          <p:cNvSpPr txBox="1"/>
          <p:nvPr/>
        </p:nvSpPr>
        <p:spPr>
          <a:xfrm>
            <a:off x="731519" y="1719072"/>
            <a:ext cx="10746030" cy="1323439"/>
          </a:xfrm>
          <a:prstGeom prst="rect">
            <a:avLst/>
          </a:prstGeom>
          <a:noFill/>
        </p:spPr>
        <p:txBody>
          <a:bodyPr wrap="square">
            <a:spAutoFit/>
          </a:bodyPr>
          <a:lstStyle/>
          <a:p>
            <a:pPr marL="457200" indent="-457200" algn="l">
              <a:buFont typeface="Arial" panose="020B0604020202020204" pitchFamily="34" charset="0"/>
              <a:buChar char="•"/>
            </a:pPr>
            <a:r>
              <a:rPr lang="en-US" sz="2000" b="0" i="0" dirty="0">
                <a:solidFill>
                  <a:srgbClr val="444444"/>
                </a:solidFill>
              </a:rPr>
              <a:t>Dynamic typing is one of Python's core features that sets it apart from statically typed languages.</a:t>
            </a:r>
          </a:p>
          <a:p>
            <a:pPr marL="457200" indent="-457200" algn="l">
              <a:buFont typeface="Arial" panose="020B0604020202020204" pitchFamily="34" charset="0"/>
              <a:buChar char="•"/>
            </a:pPr>
            <a:r>
              <a:rPr lang="en-US" sz="2000" b="0" i="0" dirty="0">
                <a:solidFill>
                  <a:srgbClr val="444444"/>
                </a:solidFill>
              </a:rPr>
              <a:t>In Python, variables are not bound to a specific type at declaration.</a:t>
            </a:r>
          </a:p>
          <a:p>
            <a:pPr marL="457200" indent="-457200" algn="l">
              <a:buFont typeface="Arial" panose="020B0604020202020204" pitchFamily="34" charset="0"/>
              <a:buChar char="•"/>
            </a:pPr>
            <a:r>
              <a:rPr lang="en-US" sz="2000" b="0" i="0" dirty="0">
                <a:solidFill>
                  <a:srgbClr val="444444"/>
                </a:solidFill>
              </a:rPr>
              <a:t>Instead, the type is determined at runtime based on the assigned value.</a:t>
            </a:r>
          </a:p>
          <a:p>
            <a:pPr marL="457200" indent="-457200" algn="l">
              <a:buFont typeface="Arial" panose="020B0604020202020204" pitchFamily="34" charset="0"/>
              <a:buChar char="•"/>
            </a:pPr>
            <a:r>
              <a:rPr lang="en-US" sz="2000" b="0" i="0" dirty="0">
                <a:solidFill>
                  <a:srgbClr val="444444"/>
                </a:solidFill>
              </a:rPr>
              <a:t>This means that a single variable can hold data of different types throughout its lifetime.</a:t>
            </a:r>
          </a:p>
        </p:txBody>
      </p:sp>
      <p:sp>
        <p:nvSpPr>
          <p:cNvPr id="4" name="Rectangle 3">
            <a:extLst>
              <a:ext uri="{FF2B5EF4-FFF2-40B4-BE49-F238E27FC236}">
                <a16:creationId xmlns:a16="http://schemas.microsoft.com/office/drawing/2014/main" id="{92C1EDAB-5960-66D8-27CA-D579D3CE10A9}"/>
              </a:ext>
            </a:extLst>
          </p:cNvPr>
          <p:cNvSpPr/>
          <p:nvPr/>
        </p:nvSpPr>
        <p:spPr>
          <a:xfrm>
            <a:off x="731519" y="3573475"/>
            <a:ext cx="10515600" cy="2190903"/>
          </a:xfrm>
          <a:prstGeom prst="rect">
            <a:avLst/>
          </a:prstGeom>
          <a:solidFill>
            <a:srgbClr val="282C34"/>
          </a:solidFill>
          <a:ln>
            <a:solidFill>
              <a:srgbClr val="555555"/>
            </a:solidFill>
          </a:ln>
        </p:spPr>
        <p:style>
          <a:lnRef idx="1">
            <a:schemeClr val="accent1"/>
          </a:lnRef>
          <a:fillRef idx="3">
            <a:schemeClr val="accent1"/>
          </a:fillRef>
          <a:effectRef idx="2">
            <a:schemeClr val="accent1"/>
          </a:effectRef>
          <a:fontRef idx="minor">
            <a:schemeClr val="lt1"/>
          </a:fontRef>
        </p:style>
        <p:txBody>
          <a:bodyPr wrap="none" rtlCol="0" anchor="ctr"/>
          <a:lstStyle/>
          <a:p>
            <a:pPr>
              <a:lnSpc>
                <a:spcPts val="1425"/>
              </a:lnSpc>
              <a:buNone/>
            </a:pPr>
            <a:r>
              <a:rPr lang="en-US" sz="1400" b="0" dirty="0">
                <a:solidFill>
                  <a:srgbClr val="676F7D"/>
                </a:solidFill>
                <a:effectLst/>
                <a:latin typeface="Consolas" panose="020B0609020204030204" pitchFamily="49" charset="0"/>
              </a:rPr>
              <a:t># Initially assigning an integer value</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x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42</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a:t>
            </a:r>
            <a:r>
              <a:rPr lang="en-US" sz="1400" b="0" dirty="0">
                <a:solidFill>
                  <a:srgbClr val="E5C07B"/>
                </a:solidFill>
                <a:effectLst/>
                <a:latin typeface="Consolas" panose="020B0609020204030204" pitchFamily="49" charset="0"/>
              </a:rPr>
              <a:t>"x ="</a:t>
            </a:r>
            <a:r>
              <a:rPr lang="en-US" sz="1400" b="0" dirty="0">
                <a:solidFill>
                  <a:srgbClr val="ABB2BF"/>
                </a:solidFill>
                <a:effectLst/>
                <a:latin typeface="Consolas" panose="020B0609020204030204" pitchFamily="49" charset="0"/>
              </a:rPr>
              <a:t>,</a:t>
            </a:r>
            <a:r>
              <a:rPr lang="en-US" sz="1400" b="0" dirty="0">
                <a:solidFill>
                  <a:srgbClr val="BBBBBB"/>
                </a:solidFill>
                <a:effectLst/>
                <a:latin typeface="Consolas" panose="020B0609020204030204" pitchFamily="49" charset="0"/>
              </a:rPr>
              <a:t> x</a:t>
            </a:r>
            <a:r>
              <a:rPr lang="en-US" sz="1400" b="0" dirty="0">
                <a:solidFill>
                  <a:srgbClr val="ABB2BF"/>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E5C07B"/>
                </a:solidFill>
                <a:effectLst/>
                <a:latin typeface="Consolas" panose="020B0609020204030204" pitchFamily="49" charset="0"/>
              </a:rPr>
              <a:t>"| Type:"</a:t>
            </a:r>
            <a:r>
              <a:rPr lang="en-US" sz="1400" b="0" dirty="0">
                <a:solidFill>
                  <a:srgbClr val="ABB2BF"/>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56B6C2"/>
                </a:solidFill>
                <a:effectLst/>
                <a:latin typeface="Consolas" panose="020B0609020204030204" pitchFamily="49" charset="0"/>
              </a:rPr>
              <a:t>type</a:t>
            </a:r>
            <a:r>
              <a:rPr lang="en-US" sz="1400" b="0" dirty="0">
                <a:solidFill>
                  <a:srgbClr val="BBBBBB"/>
                </a:solidFill>
                <a:effectLst/>
                <a:latin typeface="Consolas" panose="020B0609020204030204" pitchFamily="49" charset="0"/>
              </a:rPr>
              <a:t>(x))</a:t>
            </a:r>
          </a:p>
          <a:p>
            <a:pPr>
              <a:lnSpc>
                <a:spcPts val="1425"/>
              </a:lnSpc>
              <a:buNone/>
            </a:pPr>
            <a:br>
              <a:rPr lang="en-US" sz="1400" b="0" dirty="0">
                <a:solidFill>
                  <a:srgbClr val="BBBBBB"/>
                </a:solidFill>
                <a:effectLst/>
                <a:latin typeface="Consolas" panose="020B0609020204030204" pitchFamily="49" charset="0"/>
              </a:rPr>
            </a:b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676F7D"/>
                </a:solidFill>
                <a:effectLst/>
                <a:latin typeface="Consolas" panose="020B0609020204030204" pitchFamily="49" charset="0"/>
              </a:rPr>
              <a:t># Reassigning a string value to the same variable</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x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E5C07B"/>
                </a:solidFill>
                <a:effectLst/>
                <a:latin typeface="Consolas" panose="020B0609020204030204" pitchFamily="49" charset="0"/>
              </a:rPr>
              <a:t>"Dynamic Typing in Python"</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a:t>
            </a:r>
            <a:r>
              <a:rPr lang="en-US" sz="1400" b="0" dirty="0">
                <a:solidFill>
                  <a:srgbClr val="E5C07B"/>
                </a:solidFill>
                <a:effectLst/>
                <a:latin typeface="Consolas" panose="020B0609020204030204" pitchFamily="49" charset="0"/>
              </a:rPr>
              <a:t>"x ="</a:t>
            </a:r>
            <a:r>
              <a:rPr lang="en-US" sz="1400" b="0" dirty="0">
                <a:solidFill>
                  <a:srgbClr val="ABB2BF"/>
                </a:solidFill>
                <a:effectLst/>
                <a:latin typeface="Consolas" panose="020B0609020204030204" pitchFamily="49" charset="0"/>
              </a:rPr>
              <a:t>,</a:t>
            </a:r>
            <a:r>
              <a:rPr lang="en-US" sz="1400" b="0" dirty="0">
                <a:solidFill>
                  <a:srgbClr val="BBBBBB"/>
                </a:solidFill>
                <a:effectLst/>
                <a:latin typeface="Consolas" panose="020B0609020204030204" pitchFamily="49" charset="0"/>
              </a:rPr>
              <a:t> x</a:t>
            </a:r>
            <a:r>
              <a:rPr lang="en-US" sz="1400" b="0" dirty="0">
                <a:solidFill>
                  <a:srgbClr val="ABB2BF"/>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E5C07B"/>
                </a:solidFill>
                <a:effectLst/>
                <a:latin typeface="Consolas" panose="020B0609020204030204" pitchFamily="49" charset="0"/>
              </a:rPr>
              <a:t>"| Type:"</a:t>
            </a:r>
            <a:r>
              <a:rPr lang="en-US" sz="1400" b="0" dirty="0">
                <a:solidFill>
                  <a:srgbClr val="ABB2BF"/>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56B6C2"/>
                </a:solidFill>
                <a:effectLst/>
                <a:latin typeface="Consolas" panose="020B0609020204030204" pitchFamily="49" charset="0"/>
              </a:rPr>
              <a:t>type</a:t>
            </a:r>
            <a:r>
              <a:rPr lang="en-US" sz="1400" b="0" dirty="0">
                <a:solidFill>
                  <a:srgbClr val="BBBBBB"/>
                </a:solidFill>
                <a:effectLst/>
                <a:latin typeface="Consolas" panose="020B0609020204030204" pitchFamily="49" charset="0"/>
              </a:rPr>
              <a:t>(x))</a:t>
            </a:r>
          </a:p>
        </p:txBody>
      </p:sp>
    </p:spTree>
    <p:extLst>
      <p:ext uri="{BB962C8B-B14F-4D97-AF65-F5344CB8AC3E}">
        <p14:creationId xmlns:p14="http://schemas.microsoft.com/office/powerpoint/2010/main" val="11054356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8016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600" b="1">
                <a:solidFill>
                  <a:srgbClr val="FFFFFF"/>
                </a:solidFill>
              </a:rPr>
              <a:t>🔁 Type Conversion</a:t>
            </a:r>
          </a:p>
        </p:txBody>
      </p:sp>
      <p:sp>
        <p:nvSpPr>
          <p:cNvPr id="3" name="TextBox 2"/>
          <p:cNvSpPr txBox="1"/>
          <p:nvPr/>
        </p:nvSpPr>
        <p:spPr>
          <a:xfrm>
            <a:off x="731520" y="1463040"/>
            <a:ext cx="10515600" cy="457200"/>
          </a:xfrm>
          <a:prstGeom prst="rect">
            <a:avLst/>
          </a:prstGeom>
          <a:noFill/>
        </p:spPr>
        <p:txBody>
          <a:bodyPr wrap="square">
            <a:spAutoFit/>
          </a:bodyPr>
          <a:lstStyle/>
          <a:p>
            <a:pPr algn="l"/>
            <a:r>
              <a:rPr sz="2000" b="0" i="0" dirty="0">
                <a:solidFill>
                  <a:srgbClr val="444444"/>
                </a:solidFill>
              </a:rPr>
              <a:t>Convert between types using built-in functions:</a:t>
            </a:r>
          </a:p>
        </p:txBody>
      </p:sp>
      <p:sp>
        <p:nvSpPr>
          <p:cNvPr id="4" name="Rectangle 3"/>
          <p:cNvSpPr/>
          <p:nvPr/>
        </p:nvSpPr>
        <p:spPr>
          <a:xfrm>
            <a:off x="731520" y="1920240"/>
            <a:ext cx="10515600" cy="4480560"/>
          </a:xfrm>
          <a:prstGeom prst="rect">
            <a:avLst/>
          </a:prstGeom>
          <a:solidFill>
            <a:srgbClr val="282C34"/>
          </a:solidFill>
          <a:ln>
            <a:solidFill>
              <a:srgbClr val="555555"/>
            </a:solidFill>
          </a:ln>
        </p:spPr>
        <p:style>
          <a:lnRef idx="1">
            <a:schemeClr val="accent1"/>
          </a:lnRef>
          <a:fillRef idx="3">
            <a:schemeClr val="accent1"/>
          </a:fillRef>
          <a:effectRef idx="2">
            <a:schemeClr val="accent1"/>
          </a:effectRef>
          <a:fontRef idx="minor">
            <a:schemeClr val="lt1"/>
          </a:fontRef>
        </p:style>
        <p:txBody>
          <a:bodyPr wrap="none" rtlCol="0" anchor="ctr"/>
          <a:lstStyle/>
          <a:p>
            <a:pPr>
              <a:lnSpc>
                <a:spcPts val="1425"/>
              </a:lnSpc>
              <a:buNone/>
            </a:pPr>
            <a:r>
              <a:rPr lang="en-US" sz="1400" b="0" dirty="0">
                <a:solidFill>
                  <a:srgbClr val="676F7D"/>
                </a:solidFill>
                <a:effectLst/>
                <a:latin typeface="Consolas" panose="020B0609020204030204" pitchFamily="49" charset="0"/>
              </a:rPr>
              <a:t># String → number</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age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56B6C2"/>
                </a:solidFill>
                <a:effectLst/>
                <a:latin typeface="Consolas" panose="020B0609020204030204" pitchFamily="49" charset="0"/>
              </a:rPr>
              <a:t>int</a:t>
            </a:r>
            <a:r>
              <a:rPr lang="en-US" sz="1400" b="0" dirty="0">
                <a:solidFill>
                  <a:srgbClr val="BBBBBB"/>
                </a:solidFill>
                <a:effectLst/>
                <a:latin typeface="Consolas" panose="020B0609020204030204" pitchFamily="49" charset="0"/>
              </a:rPr>
              <a:t>(</a:t>
            </a:r>
            <a:r>
              <a:rPr lang="en-US" sz="1400" b="0" dirty="0">
                <a:solidFill>
                  <a:srgbClr val="E5C07B"/>
                </a:solidFill>
                <a:effectLst/>
                <a:latin typeface="Consolas" panose="020B0609020204030204" pitchFamily="49" charset="0"/>
              </a:rPr>
              <a:t>"25"</a:t>
            </a:r>
            <a:r>
              <a:rPr lang="en-US" sz="1400" b="0" dirty="0">
                <a:solidFill>
                  <a:srgbClr val="BBBBBB"/>
                </a:solidFill>
                <a:effectLst/>
                <a:latin typeface="Consolas" panose="020B0609020204030204" pitchFamily="49" charset="0"/>
              </a:rPr>
              <a:t>)         </a:t>
            </a:r>
            <a:r>
              <a:rPr lang="en-US" sz="1400" b="0" dirty="0">
                <a:solidFill>
                  <a:srgbClr val="676F7D"/>
                </a:solidFill>
                <a:effectLst/>
                <a:latin typeface="Consolas" panose="020B0609020204030204" pitchFamily="49" charset="0"/>
              </a:rPr>
              <a:t># 25</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age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56B6C2"/>
                </a:solidFill>
                <a:effectLst/>
                <a:latin typeface="Consolas" panose="020B0609020204030204" pitchFamily="49" charset="0"/>
              </a:rPr>
              <a:t>int</a:t>
            </a:r>
            <a:r>
              <a:rPr lang="en-US" sz="1400" b="0" dirty="0">
                <a:solidFill>
                  <a:srgbClr val="BBBBBB"/>
                </a:solidFill>
                <a:effectLst/>
                <a:latin typeface="Consolas" panose="020B0609020204030204" pitchFamily="49" charset="0"/>
              </a:rPr>
              <a:t>(</a:t>
            </a:r>
            <a:r>
              <a:rPr lang="en-US" sz="1400" b="0" dirty="0">
                <a:solidFill>
                  <a:srgbClr val="E5C07B"/>
                </a:solidFill>
                <a:effectLst/>
                <a:latin typeface="Consolas" panose="020B0609020204030204" pitchFamily="49" charset="0"/>
              </a:rPr>
              <a:t>"0x35"</a:t>
            </a:r>
            <a:r>
              <a:rPr lang="en-US" sz="1400" b="0" dirty="0">
                <a:solidFill>
                  <a:srgbClr val="ABB2BF"/>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16</a:t>
            </a:r>
            <a:r>
              <a:rPr lang="en-US" sz="1400" b="0" dirty="0">
                <a:solidFill>
                  <a:srgbClr val="BBBBBB"/>
                </a:solidFill>
                <a:effectLst/>
                <a:latin typeface="Consolas" panose="020B0609020204030204" pitchFamily="49" charset="0"/>
              </a:rPr>
              <a:t>)   </a:t>
            </a:r>
            <a:r>
              <a:rPr lang="en-US" sz="1400" b="0" dirty="0">
                <a:solidFill>
                  <a:srgbClr val="676F7D"/>
                </a:solidFill>
                <a:effectLst/>
                <a:latin typeface="Consolas" panose="020B0609020204030204" pitchFamily="49" charset="0"/>
              </a:rPr>
              <a:t># 53 (hexadecimal to decimal)</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676F7D"/>
                </a:solidFill>
                <a:effectLst/>
                <a:latin typeface="Consolas" panose="020B0609020204030204" pitchFamily="49" charset="0"/>
              </a:rPr>
              <a:t># age   = int("test")     # This would cause a </a:t>
            </a:r>
            <a:r>
              <a:rPr lang="en-US" sz="1400" b="0" dirty="0" err="1">
                <a:solidFill>
                  <a:srgbClr val="676F7D"/>
                </a:solidFill>
                <a:effectLst/>
                <a:latin typeface="Consolas" panose="020B0609020204030204" pitchFamily="49" charset="0"/>
              </a:rPr>
              <a:t>ValueError</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price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56B6C2"/>
                </a:solidFill>
                <a:effectLst/>
                <a:latin typeface="Consolas" panose="020B0609020204030204" pitchFamily="49" charset="0"/>
              </a:rPr>
              <a:t>float</a:t>
            </a:r>
            <a:r>
              <a:rPr lang="en-US" sz="1400" b="0" dirty="0">
                <a:solidFill>
                  <a:srgbClr val="BBBBBB"/>
                </a:solidFill>
                <a:effectLst/>
                <a:latin typeface="Consolas" panose="020B0609020204030204" pitchFamily="49" charset="0"/>
              </a:rPr>
              <a:t>(</a:t>
            </a:r>
            <a:r>
              <a:rPr lang="en-US" sz="1400" b="0" dirty="0">
                <a:solidFill>
                  <a:srgbClr val="E5C07B"/>
                </a:solidFill>
                <a:effectLst/>
                <a:latin typeface="Consolas" panose="020B0609020204030204" pitchFamily="49" charset="0"/>
              </a:rPr>
              <a:t>"9.99"</a:t>
            </a:r>
            <a:r>
              <a:rPr lang="en-US" sz="1400" b="0" dirty="0">
                <a:solidFill>
                  <a:srgbClr val="BBBBBB"/>
                </a:solidFill>
                <a:effectLst/>
                <a:latin typeface="Consolas" panose="020B0609020204030204" pitchFamily="49" charset="0"/>
              </a:rPr>
              <a:t>)     </a:t>
            </a:r>
            <a:r>
              <a:rPr lang="en-US" sz="1400" b="0" dirty="0">
                <a:solidFill>
                  <a:srgbClr val="676F7D"/>
                </a:solidFill>
                <a:effectLst/>
                <a:latin typeface="Consolas" panose="020B0609020204030204" pitchFamily="49" charset="0"/>
              </a:rPr>
              <a:t># 9.99</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 </a:t>
            </a:r>
          </a:p>
          <a:p>
            <a:pPr>
              <a:lnSpc>
                <a:spcPts val="1425"/>
              </a:lnSpc>
              <a:buNone/>
            </a:pPr>
            <a:r>
              <a:rPr lang="en-US" sz="1400" b="0" dirty="0">
                <a:solidFill>
                  <a:srgbClr val="676F7D"/>
                </a:solidFill>
                <a:effectLst/>
                <a:latin typeface="Consolas" panose="020B0609020204030204" pitchFamily="49" charset="0"/>
              </a:rPr>
              <a:t># Number → string</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text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56B6C2"/>
                </a:solidFill>
                <a:effectLst/>
                <a:latin typeface="Consolas" panose="020B0609020204030204" pitchFamily="49" charset="0"/>
              </a:rPr>
              <a:t>str</a:t>
            </a:r>
            <a:r>
              <a:rPr lang="en-US" sz="1400" b="0" dirty="0">
                <a:solidFill>
                  <a:srgbClr val="BBBBBB"/>
                </a:solidFill>
                <a:effectLst/>
                <a:latin typeface="Consolas" panose="020B0609020204030204" pitchFamily="49" charset="0"/>
              </a:rPr>
              <a:t>(</a:t>
            </a:r>
            <a:r>
              <a:rPr lang="en-US" sz="1400" b="0" dirty="0">
                <a:solidFill>
                  <a:srgbClr val="C678DD"/>
                </a:solidFill>
                <a:effectLst/>
                <a:latin typeface="Consolas" panose="020B0609020204030204" pitchFamily="49" charset="0"/>
              </a:rPr>
              <a:t>42</a:t>
            </a:r>
            <a:r>
              <a:rPr lang="en-US" sz="1400" b="0" dirty="0">
                <a:solidFill>
                  <a:srgbClr val="BBBBBB"/>
                </a:solidFill>
                <a:effectLst/>
                <a:latin typeface="Consolas" panose="020B0609020204030204" pitchFamily="49" charset="0"/>
              </a:rPr>
              <a:t>)             </a:t>
            </a:r>
            <a:r>
              <a:rPr lang="en-US" sz="1400" b="0" dirty="0">
                <a:solidFill>
                  <a:srgbClr val="676F7D"/>
                </a:solidFill>
                <a:effectLst/>
                <a:latin typeface="Consolas" panose="020B0609020204030204" pitchFamily="49" charset="0"/>
              </a:rPr>
              <a:t># "42"</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text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56B6C2"/>
                </a:solidFill>
                <a:effectLst/>
                <a:latin typeface="Consolas" panose="020B0609020204030204" pitchFamily="49" charset="0"/>
              </a:rPr>
              <a:t>str</a:t>
            </a:r>
            <a:r>
              <a:rPr lang="en-US" sz="1400" b="0" dirty="0">
                <a:solidFill>
                  <a:srgbClr val="BBBBBB"/>
                </a:solidFill>
                <a:effectLst/>
                <a:latin typeface="Consolas" panose="020B0609020204030204" pitchFamily="49" charset="0"/>
              </a:rPr>
              <a:t>(</a:t>
            </a:r>
            <a:r>
              <a:rPr lang="en-US" sz="1400" b="0" dirty="0">
                <a:solidFill>
                  <a:srgbClr val="C678DD"/>
                </a:solidFill>
                <a:effectLst/>
                <a:latin typeface="Consolas" panose="020B0609020204030204" pitchFamily="49" charset="0"/>
              </a:rPr>
              <a:t>3.14</a:t>
            </a:r>
            <a:r>
              <a:rPr lang="en-US" sz="1400" b="0" dirty="0">
                <a:solidFill>
                  <a:srgbClr val="BBBBBB"/>
                </a:solidFill>
                <a:effectLst/>
                <a:latin typeface="Consolas" panose="020B0609020204030204" pitchFamily="49" charset="0"/>
              </a:rPr>
              <a:t>)           </a:t>
            </a:r>
            <a:r>
              <a:rPr lang="en-US" sz="1400" b="0" dirty="0">
                <a:solidFill>
                  <a:srgbClr val="676F7D"/>
                </a:solidFill>
                <a:effectLst/>
                <a:latin typeface="Consolas" panose="020B0609020204030204" pitchFamily="49" charset="0"/>
              </a:rPr>
              <a:t># "3.14"</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 </a:t>
            </a:r>
          </a:p>
          <a:p>
            <a:pPr>
              <a:lnSpc>
                <a:spcPts val="1425"/>
              </a:lnSpc>
              <a:buNone/>
            </a:pPr>
            <a:r>
              <a:rPr lang="en-US" sz="1400" b="0" dirty="0">
                <a:solidFill>
                  <a:srgbClr val="676F7D"/>
                </a:solidFill>
                <a:effectLst/>
                <a:latin typeface="Consolas" panose="020B0609020204030204" pitchFamily="49" charset="0"/>
              </a:rPr>
              <a:t># Boolean conversions</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56B6C2"/>
                </a:solidFill>
                <a:effectLst/>
                <a:latin typeface="Consolas" panose="020B0609020204030204" pitchFamily="49" charset="0"/>
              </a:rPr>
              <a:t>bool</a:t>
            </a:r>
            <a:r>
              <a:rPr lang="en-US" sz="1400" b="0" dirty="0">
                <a:solidFill>
                  <a:srgbClr val="BBBBBB"/>
                </a:solidFill>
                <a:effectLst/>
                <a:latin typeface="Consolas" panose="020B0609020204030204" pitchFamily="49" charset="0"/>
              </a:rPr>
              <a:t>(</a:t>
            </a:r>
            <a:r>
              <a:rPr lang="en-US" sz="1400" b="0" dirty="0">
                <a:solidFill>
                  <a:srgbClr val="C678DD"/>
                </a:solidFill>
                <a:effectLst/>
                <a:latin typeface="Consolas" panose="020B0609020204030204" pitchFamily="49" charset="0"/>
              </a:rPr>
              <a:t>0</a:t>
            </a:r>
            <a:r>
              <a:rPr lang="en-US" sz="1400" b="0" dirty="0">
                <a:solidFill>
                  <a:srgbClr val="BBBBBB"/>
                </a:solidFill>
                <a:effectLst/>
                <a:latin typeface="Consolas" panose="020B0609020204030204" pitchFamily="49" charset="0"/>
              </a:rPr>
              <a:t>)    </a:t>
            </a:r>
            <a:r>
              <a:rPr lang="en-US" sz="1400" b="0" dirty="0">
                <a:solidFill>
                  <a:srgbClr val="676F7D"/>
                </a:solidFill>
                <a:effectLst/>
                <a:latin typeface="Consolas" panose="020B0609020204030204" pitchFamily="49" charset="0"/>
              </a:rPr>
              <a:t># False</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56B6C2"/>
                </a:solidFill>
                <a:effectLst/>
                <a:latin typeface="Consolas" panose="020B0609020204030204" pitchFamily="49" charset="0"/>
              </a:rPr>
              <a:t>bool</a:t>
            </a:r>
            <a:r>
              <a:rPr lang="en-US" sz="1400" b="0" dirty="0">
                <a:solidFill>
                  <a:srgbClr val="BBBBBB"/>
                </a:solidFill>
                <a:effectLst/>
                <a:latin typeface="Consolas" panose="020B0609020204030204" pitchFamily="49" charset="0"/>
              </a:rPr>
              <a:t>(</a:t>
            </a:r>
            <a:r>
              <a:rPr lang="en-US" sz="1400" b="0" dirty="0">
                <a:solidFill>
                  <a:srgbClr val="C678DD"/>
                </a:solidFill>
                <a:effectLst/>
                <a:latin typeface="Consolas" panose="020B0609020204030204" pitchFamily="49" charset="0"/>
              </a:rPr>
              <a:t>1</a:t>
            </a:r>
            <a:r>
              <a:rPr lang="en-US" sz="1400" b="0" dirty="0">
                <a:solidFill>
                  <a:srgbClr val="BBBBBB"/>
                </a:solidFill>
                <a:effectLst/>
                <a:latin typeface="Consolas" panose="020B0609020204030204" pitchFamily="49" charset="0"/>
              </a:rPr>
              <a:t>)    </a:t>
            </a:r>
            <a:r>
              <a:rPr lang="en-US" sz="1400" b="0" dirty="0">
                <a:solidFill>
                  <a:srgbClr val="676F7D"/>
                </a:solidFill>
                <a:effectLst/>
                <a:latin typeface="Consolas" panose="020B0609020204030204" pitchFamily="49" charset="0"/>
              </a:rPr>
              <a:t># True</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56B6C2"/>
                </a:solidFill>
                <a:effectLst/>
                <a:latin typeface="Consolas" panose="020B0609020204030204" pitchFamily="49" charset="0"/>
              </a:rPr>
              <a:t>bool</a:t>
            </a:r>
            <a:r>
              <a:rPr lang="en-US" sz="1400" b="0" dirty="0">
                <a:solidFill>
                  <a:srgbClr val="BBBBBB"/>
                </a:solidFill>
                <a:effectLst/>
                <a:latin typeface="Consolas" panose="020B0609020204030204" pitchFamily="49" charset="0"/>
              </a:rPr>
              <a:t>(</a:t>
            </a:r>
            <a:r>
              <a:rPr lang="en-US" sz="1400" b="0" dirty="0">
                <a:solidFill>
                  <a:srgbClr val="E5C07B"/>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676F7D"/>
                </a:solidFill>
                <a:effectLst/>
                <a:latin typeface="Consolas" panose="020B0609020204030204" pitchFamily="49" charset="0"/>
              </a:rPr>
              <a:t># False</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56B6C2"/>
                </a:solidFill>
                <a:effectLst/>
                <a:latin typeface="Consolas" panose="020B0609020204030204" pitchFamily="49" charset="0"/>
              </a:rPr>
              <a:t>bool</a:t>
            </a:r>
            <a:r>
              <a:rPr lang="en-US" sz="1400" b="0" dirty="0">
                <a:solidFill>
                  <a:srgbClr val="BBBBBB"/>
                </a:solidFill>
                <a:effectLst/>
                <a:latin typeface="Consolas" panose="020B0609020204030204" pitchFamily="49" charset="0"/>
              </a:rPr>
              <a:t>(</a:t>
            </a:r>
            <a:r>
              <a:rPr lang="en-US" sz="1400" b="0" dirty="0">
                <a:solidFill>
                  <a:srgbClr val="E5C07B"/>
                </a:solidFill>
                <a:effectLst/>
                <a:latin typeface="Consolas" panose="020B0609020204030204" pitchFamily="49" charset="0"/>
              </a:rPr>
              <a:t>"hi"</a:t>
            </a:r>
            <a:r>
              <a:rPr lang="en-US" sz="1400" b="0" dirty="0">
                <a:solidFill>
                  <a:srgbClr val="BBBBBB"/>
                </a:solidFill>
                <a:effectLst/>
                <a:latin typeface="Consolas" panose="020B0609020204030204" pitchFamily="49" charset="0"/>
              </a:rPr>
              <a:t>) </a:t>
            </a:r>
            <a:r>
              <a:rPr lang="en-US" sz="1400" b="0" dirty="0">
                <a:solidFill>
                  <a:srgbClr val="676F7D"/>
                </a:solidFill>
                <a:effectLst/>
                <a:latin typeface="Consolas" panose="020B0609020204030204" pitchFamily="49" charset="0"/>
              </a:rPr>
              <a:t># True</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56B6C2"/>
                </a:solidFill>
                <a:effectLst/>
                <a:latin typeface="Consolas" panose="020B0609020204030204" pitchFamily="49" charset="0"/>
              </a:rPr>
              <a:t>int</a:t>
            </a:r>
            <a:r>
              <a:rPr lang="en-US" sz="1400" b="0" dirty="0">
                <a:solidFill>
                  <a:srgbClr val="BBBBBB"/>
                </a:solidFill>
                <a:effectLst/>
                <a:latin typeface="Consolas" panose="020B0609020204030204" pitchFamily="49" charset="0"/>
              </a:rPr>
              <a:t>(</a:t>
            </a:r>
            <a:r>
              <a:rPr lang="en-US" sz="1400" b="0" dirty="0">
                <a:solidFill>
                  <a:srgbClr val="56B6C2"/>
                </a:solidFill>
                <a:effectLst/>
                <a:latin typeface="Consolas" panose="020B0609020204030204" pitchFamily="49" charset="0"/>
              </a:rPr>
              <a:t>True</a:t>
            </a:r>
            <a:r>
              <a:rPr lang="en-US" sz="1400" b="0" dirty="0">
                <a:solidFill>
                  <a:srgbClr val="BBBBBB"/>
                </a:solidFill>
                <a:effectLst/>
                <a:latin typeface="Consolas" panose="020B0609020204030204" pitchFamily="49" charset="0"/>
              </a:rPr>
              <a:t>)   </a:t>
            </a:r>
            <a:r>
              <a:rPr lang="en-US" sz="1400" b="0" dirty="0">
                <a:solidFill>
                  <a:srgbClr val="676F7D"/>
                </a:solidFill>
                <a:effectLst/>
                <a:latin typeface="Consolas" panose="020B0609020204030204" pitchFamily="49" charset="0"/>
              </a:rPr>
              <a:t># 1</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56B6C2"/>
                </a:solidFill>
                <a:effectLst/>
                <a:latin typeface="Consolas" panose="020B0609020204030204" pitchFamily="49" charset="0"/>
              </a:rPr>
              <a:t>int</a:t>
            </a:r>
            <a:r>
              <a:rPr lang="en-US" sz="1400" b="0" dirty="0">
                <a:solidFill>
                  <a:srgbClr val="BBBBBB"/>
                </a:solidFill>
                <a:effectLst/>
                <a:latin typeface="Consolas" panose="020B0609020204030204" pitchFamily="49" charset="0"/>
              </a:rPr>
              <a:t>(</a:t>
            </a:r>
            <a:r>
              <a:rPr lang="en-US" sz="1400" b="0" dirty="0">
                <a:solidFill>
                  <a:srgbClr val="56B6C2"/>
                </a:solidFill>
                <a:effectLst/>
                <a:latin typeface="Consolas" panose="020B0609020204030204" pitchFamily="49" charset="0"/>
              </a:rPr>
              <a:t>False</a:t>
            </a:r>
            <a:r>
              <a:rPr lang="en-US" sz="1400" b="0" dirty="0">
                <a:solidFill>
                  <a:srgbClr val="BBBBBB"/>
                </a:solidFill>
                <a:effectLst/>
                <a:latin typeface="Consolas" panose="020B0609020204030204" pitchFamily="49" charset="0"/>
              </a:rPr>
              <a:t>)  </a:t>
            </a:r>
            <a:r>
              <a:rPr lang="en-US" sz="1400" b="0" dirty="0">
                <a:solidFill>
                  <a:srgbClr val="676F7D"/>
                </a:solidFill>
                <a:effectLst/>
                <a:latin typeface="Consolas" panose="020B0609020204030204" pitchFamily="49" charset="0"/>
              </a:rPr>
              <a:t># 0</a:t>
            </a:r>
            <a:endParaRPr lang="en-US" sz="1400" b="0" dirty="0">
              <a:solidFill>
                <a:srgbClr val="BBBBBB"/>
              </a:solidFill>
              <a:effectLst/>
              <a:latin typeface="Consolas" panose="020B0609020204030204" pitchFamily="49" charset="0"/>
            </a:endParaRPr>
          </a:p>
          <a:p>
            <a:pPr>
              <a:lnSpc>
                <a:spcPts val="1425"/>
              </a:lnSpc>
              <a:buNone/>
            </a:pPr>
            <a:br>
              <a:rPr lang="en-US" sz="1400" b="0" dirty="0">
                <a:solidFill>
                  <a:srgbClr val="BBBBBB"/>
                </a:solidFill>
                <a:effectLst/>
                <a:latin typeface="Consolas" panose="020B0609020204030204" pitchFamily="49" charset="0"/>
              </a:rPr>
            </a:b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676F7D"/>
                </a:solidFill>
                <a:effectLst/>
                <a:latin typeface="Consolas" panose="020B0609020204030204" pitchFamily="49" charset="0"/>
              </a:rPr>
              <a:t># One-liner (common pattern):</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56B6C2"/>
                </a:solidFill>
                <a:effectLst/>
                <a:latin typeface="Consolas" panose="020B0609020204030204" pitchFamily="49" charset="0"/>
              </a:rPr>
              <a:t>int</a:t>
            </a:r>
            <a:r>
              <a:rPr lang="en-US" sz="1400" b="0" dirty="0">
                <a:solidFill>
                  <a:srgbClr val="BBBBBB"/>
                </a:solidFill>
                <a:effectLst/>
                <a:latin typeface="Consolas" panose="020B0609020204030204" pitchFamily="49" charset="0"/>
              </a:rPr>
              <a:t>(</a:t>
            </a:r>
            <a:r>
              <a:rPr lang="en-US" sz="1400" b="0" dirty="0">
                <a:solidFill>
                  <a:srgbClr val="56B6C2"/>
                </a:solidFill>
                <a:effectLst/>
                <a:latin typeface="Consolas" panose="020B0609020204030204" pitchFamily="49" charset="0"/>
              </a:rPr>
              <a:t>bool</a:t>
            </a:r>
            <a:r>
              <a:rPr lang="en-US" sz="1400" b="0" dirty="0">
                <a:solidFill>
                  <a:srgbClr val="BBBBBB"/>
                </a:solidFill>
                <a:effectLst/>
                <a:latin typeface="Consolas" panose="020B0609020204030204" pitchFamily="49" charset="0"/>
              </a:rPr>
              <a:t>(</a:t>
            </a:r>
            <a:r>
              <a:rPr lang="en-US" sz="1400" b="0" dirty="0">
                <a:solidFill>
                  <a:srgbClr val="E5C07B"/>
                </a:solidFill>
                <a:effectLst/>
                <a:latin typeface="Consolas" panose="020B0609020204030204" pitchFamily="49" charset="0"/>
              </a:rPr>
              <a:t>"hi"</a:t>
            </a:r>
            <a:r>
              <a:rPr lang="en-US" sz="1400" b="0" dirty="0">
                <a:solidFill>
                  <a:srgbClr val="BBBBBB"/>
                </a:solidFill>
                <a:effectLst/>
                <a:latin typeface="Consolas" panose="020B0609020204030204" pitchFamily="49" charset="0"/>
              </a:rPr>
              <a:t>)) </a:t>
            </a:r>
            <a:r>
              <a:rPr lang="en-US" sz="1400" b="0" dirty="0">
                <a:solidFill>
                  <a:srgbClr val="676F7D"/>
                </a:solidFill>
                <a:effectLst/>
                <a:latin typeface="Consolas" panose="020B0609020204030204" pitchFamily="49" charset="0"/>
              </a:rPr>
              <a:t># True → 1</a:t>
            </a:r>
            <a:endParaRPr lang="en-US" sz="1400" b="0" dirty="0">
              <a:solidFill>
                <a:srgbClr val="BBBBBB"/>
              </a:solidFill>
              <a:effectLst/>
              <a:latin typeface="Consolas" panose="020B0609020204030204" pitchFamily="49"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8016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600" b="1">
                <a:solidFill>
                  <a:srgbClr val="FFFFFF"/>
                </a:solidFill>
              </a:rPr>
              <a:t>⌨️ User Input with input()</a:t>
            </a:r>
          </a:p>
        </p:txBody>
      </p:sp>
      <p:sp>
        <p:nvSpPr>
          <p:cNvPr id="3" name="TextBox 2"/>
          <p:cNvSpPr txBox="1"/>
          <p:nvPr/>
        </p:nvSpPr>
        <p:spPr>
          <a:xfrm>
            <a:off x="731520" y="1463040"/>
            <a:ext cx="10515600" cy="457200"/>
          </a:xfrm>
          <a:prstGeom prst="rect">
            <a:avLst/>
          </a:prstGeom>
          <a:noFill/>
        </p:spPr>
        <p:txBody>
          <a:bodyPr wrap="square">
            <a:spAutoFit/>
          </a:bodyPr>
          <a:lstStyle/>
          <a:p>
            <a:pPr algn="l"/>
            <a:r>
              <a:rPr sz="2000" b="0" i="0" dirty="0">
                <a:solidFill>
                  <a:srgbClr val="444444"/>
                </a:solidFill>
              </a:rPr>
              <a:t>input()  pauses the program and waits for the user to type something.</a:t>
            </a:r>
          </a:p>
        </p:txBody>
      </p:sp>
      <p:sp>
        <p:nvSpPr>
          <p:cNvPr id="4" name="Rectangle 3"/>
          <p:cNvSpPr/>
          <p:nvPr/>
        </p:nvSpPr>
        <p:spPr>
          <a:xfrm>
            <a:off x="731520" y="1920240"/>
            <a:ext cx="10515600" cy="1097280"/>
          </a:xfrm>
          <a:prstGeom prst="rect">
            <a:avLst/>
          </a:prstGeom>
          <a:solidFill>
            <a:srgbClr val="282C34"/>
          </a:solidFill>
          <a:ln>
            <a:solidFill>
              <a:srgbClr val="555555"/>
            </a:solidFill>
          </a:ln>
        </p:spPr>
        <p:style>
          <a:lnRef idx="1">
            <a:schemeClr val="accent1"/>
          </a:lnRef>
          <a:fillRef idx="3">
            <a:schemeClr val="accent1"/>
          </a:fillRef>
          <a:effectRef idx="2">
            <a:schemeClr val="accent1"/>
          </a:effectRef>
          <a:fontRef idx="minor">
            <a:schemeClr val="lt1"/>
          </a:fontRef>
        </p:style>
        <p:txBody>
          <a:bodyPr wrap="none" rtlCol="0" anchor="ctr"/>
          <a:lstStyle/>
          <a:p>
            <a:pPr>
              <a:lnSpc>
                <a:spcPts val="1425"/>
              </a:lnSpc>
              <a:buNone/>
            </a:pPr>
            <a:r>
              <a:rPr lang="en-US" sz="1400" b="0" dirty="0">
                <a:solidFill>
                  <a:srgbClr val="BBBBBB"/>
                </a:solidFill>
                <a:effectLst/>
                <a:latin typeface="Consolas" panose="020B0609020204030204" pitchFamily="49" charset="0"/>
              </a:rPr>
              <a:t>name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98C379"/>
                </a:solidFill>
                <a:effectLst/>
                <a:latin typeface="Consolas" panose="020B0609020204030204" pitchFamily="49" charset="0"/>
              </a:rPr>
              <a:t>input</a:t>
            </a:r>
            <a:r>
              <a:rPr lang="en-US" sz="1400" b="0" dirty="0">
                <a:solidFill>
                  <a:srgbClr val="BBBBBB"/>
                </a:solidFill>
                <a:effectLst/>
                <a:latin typeface="Consolas" panose="020B0609020204030204" pitchFamily="49" charset="0"/>
              </a:rPr>
              <a:t>(</a:t>
            </a:r>
            <a:r>
              <a:rPr lang="en-US" sz="1400" b="0" dirty="0">
                <a:solidFill>
                  <a:srgbClr val="E5C07B"/>
                </a:solidFill>
                <a:effectLst/>
                <a:latin typeface="Consolas" panose="020B0609020204030204" pitchFamily="49" charset="0"/>
              </a:rPr>
              <a:t>"What is your name? "</a:t>
            </a:r>
            <a:r>
              <a:rPr lang="en-US" sz="1400" b="0" dirty="0">
                <a:solidFill>
                  <a:srgbClr val="BBBBBB"/>
                </a:solidFill>
                <a:effectLst/>
                <a:latin typeface="Consolas" panose="020B0609020204030204" pitchFamily="49" charset="0"/>
              </a:rPr>
              <a:t>)</a:t>
            </a: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a:t>
            </a:r>
            <a:r>
              <a:rPr lang="en-US" sz="1400" b="0" dirty="0">
                <a:solidFill>
                  <a:srgbClr val="E5C07B"/>
                </a:solidFill>
                <a:effectLst/>
                <a:latin typeface="Consolas" panose="020B0609020204030204" pitchFamily="49" charset="0"/>
              </a:rPr>
              <a:t>"Hello,"</a:t>
            </a:r>
            <a:r>
              <a:rPr lang="en-US" sz="1400" b="0" dirty="0">
                <a:solidFill>
                  <a:srgbClr val="ABB2BF"/>
                </a:solidFill>
                <a:effectLst/>
                <a:latin typeface="Consolas" panose="020B0609020204030204" pitchFamily="49" charset="0"/>
              </a:rPr>
              <a:t>,</a:t>
            </a:r>
            <a:r>
              <a:rPr lang="en-US" sz="1400" b="0" dirty="0">
                <a:solidFill>
                  <a:srgbClr val="BBBBBB"/>
                </a:solidFill>
                <a:effectLst/>
                <a:latin typeface="Consolas" panose="020B0609020204030204" pitchFamily="49" charset="0"/>
              </a:rPr>
              <a:t> name)</a:t>
            </a:r>
          </a:p>
          <a:p>
            <a:pPr>
              <a:lnSpc>
                <a:spcPts val="1425"/>
              </a:lnSpc>
              <a:buNone/>
            </a:pPr>
            <a:r>
              <a:rPr lang="en-US" sz="1400" b="0" dirty="0">
                <a:solidFill>
                  <a:srgbClr val="BBBBBB"/>
                </a:solidFill>
                <a:effectLst/>
                <a:latin typeface="Consolas" panose="020B0609020204030204" pitchFamily="49" charset="0"/>
              </a:rPr>
              <a:t>age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98C379"/>
                </a:solidFill>
                <a:effectLst/>
                <a:latin typeface="Consolas" panose="020B0609020204030204" pitchFamily="49" charset="0"/>
              </a:rPr>
              <a:t>input</a:t>
            </a:r>
            <a:r>
              <a:rPr lang="en-US" sz="1400" b="0" dirty="0">
                <a:solidFill>
                  <a:srgbClr val="BBBBBB"/>
                </a:solidFill>
                <a:effectLst/>
                <a:latin typeface="Consolas" panose="020B0609020204030204" pitchFamily="49" charset="0"/>
              </a:rPr>
              <a:t>(</a:t>
            </a:r>
            <a:r>
              <a:rPr lang="en-US" sz="1400" b="0" dirty="0">
                <a:solidFill>
                  <a:srgbClr val="E5C07B"/>
                </a:solidFill>
                <a:effectLst/>
                <a:latin typeface="Consolas" panose="020B0609020204030204" pitchFamily="49" charset="0"/>
              </a:rPr>
              <a:t>"How old are you? "</a:t>
            </a:r>
            <a:r>
              <a:rPr lang="en-US" sz="1400" b="0" dirty="0">
                <a:solidFill>
                  <a:srgbClr val="BBBBBB"/>
                </a:solidFill>
                <a:effectLst/>
                <a:latin typeface="Consolas" panose="020B0609020204030204" pitchFamily="49" charset="0"/>
              </a:rPr>
              <a:t>)</a:t>
            </a: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a:t>
            </a:r>
            <a:r>
              <a:rPr lang="en-US" sz="1400" b="0" dirty="0">
                <a:solidFill>
                  <a:srgbClr val="E5C07B"/>
                </a:solidFill>
                <a:effectLst/>
                <a:latin typeface="Consolas" panose="020B0609020204030204" pitchFamily="49" charset="0"/>
              </a:rPr>
              <a:t>"You are"</a:t>
            </a:r>
            <a:r>
              <a:rPr lang="en-US" sz="1400" b="0" dirty="0">
                <a:solidFill>
                  <a:srgbClr val="ABB2BF"/>
                </a:solidFill>
                <a:effectLst/>
                <a:latin typeface="Consolas" panose="020B0609020204030204" pitchFamily="49" charset="0"/>
              </a:rPr>
              <a:t>,</a:t>
            </a:r>
            <a:r>
              <a:rPr lang="en-US" sz="1400" b="0" dirty="0">
                <a:solidFill>
                  <a:srgbClr val="BBBBBB"/>
                </a:solidFill>
                <a:effectLst/>
                <a:latin typeface="Consolas" panose="020B0609020204030204" pitchFamily="49" charset="0"/>
              </a:rPr>
              <a:t> age</a:t>
            </a:r>
            <a:r>
              <a:rPr lang="en-US" sz="1400" b="0" dirty="0">
                <a:solidFill>
                  <a:srgbClr val="ABB2BF"/>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E5C07B"/>
                </a:solidFill>
                <a:effectLst/>
                <a:latin typeface="Consolas" panose="020B0609020204030204" pitchFamily="49" charset="0"/>
              </a:rPr>
              <a:t>"years old."</a:t>
            </a:r>
            <a:r>
              <a:rPr lang="en-US" sz="1400" b="0" dirty="0">
                <a:solidFill>
                  <a:srgbClr val="BBBBBB"/>
                </a:solidFill>
                <a:effectLst/>
                <a:latin typeface="Consolas" panose="020B0609020204030204" pitchFamily="49" charset="0"/>
              </a:rPr>
              <a:t>)</a:t>
            </a:r>
          </a:p>
        </p:txBody>
      </p:sp>
      <p:sp>
        <p:nvSpPr>
          <p:cNvPr id="5" name="TextBox 4"/>
          <p:cNvSpPr txBox="1"/>
          <p:nvPr/>
        </p:nvSpPr>
        <p:spPr>
          <a:xfrm>
            <a:off x="731520" y="3108960"/>
            <a:ext cx="10515600" cy="457200"/>
          </a:xfrm>
          <a:prstGeom prst="rect">
            <a:avLst/>
          </a:prstGeom>
          <a:noFill/>
        </p:spPr>
        <p:txBody>
          <a:bodyPr wrap="square">
            <a:spAutoFit/>
          </a:bodyPr>
          <a:lstStyle/>
          <a:p>
            <a:pPr algn="l"/>
            <a:r>
              <a:rPr sz="2000" b="1" i="0" dirty="0">
                <a:solidFill>
                  <a:srgbClr val="C55612"/>
                </a:solidFill>
              </a:rPr>
              <a:t>⚠  Important:  input()  always returns a string!</a:t>
            </a:r>
          </a:p>
        </p:txBody>
      </p:sp>
      <p:sp>
        <p:nvSpPr>
          <p:cNvPr id="6" name="Rectangle 5"/>
          <p:cNvSpPr/>
          <p:nvPr/>
        </p:nvSpPr>
        <p:spPr>
          <a:xfrm>
            <a:off x="731520" y="3566160"/>
            <a:ext cx="10515600" cy="2560320"/>
          </a:xfrm>
          <a:prstGeom prst="rect">
            <a:avLst/>
          </a:prstGeom>
          <a:solidFill>
            <a:srgbClr val="1E1E1E"/>
          </a:solidFill>
          <a:ln>
            <a:solidFill>
              <a:srgbClr val="555555"/>
            </a:solidFill>
          </a:ln>
        </p:spPr>
        <p:style>
          <a:lnRef idx="1">
            <a:schemeClr val="accent1"/>
          </a:lnRef>
          <a:fillRef idx="3">
            <a:schemeClr val="accent1"/>
          </a:fillRef>
          <a:effectRef idx="2">
            <a:schemeClr val="accent1"/>
          </a:effectRef>
          <a:fontRef idx="minor">
            <a:schemeClr val="lt1"/>
          </a:fontRef>
        </p:style>
        <p:txBody>
          <a:bodyPr wrap="none" rtlCol="0" anchor="ctr"/>
          <a:lstStyle/>
          <a:p>
            <a:pPr>
              <a:lnSpc>
                <a:spcPts val="1425"/>
              </a:lnSpc>
              <a:buNone/>
            </a:pPr>
            <a:r>
              <a:rPr lang="en-US" sz="1400" b="0" dirty="0">
                <a:solidFill>
                  <a:srgbClr val="676F7D"/>
                </a:solidFill>
                <a:effectLst/>
                <a:latin typeface="Consolas" panose="020B0609020204030204" pitchFamily="49" charset="0"/>
              </a:rPr>
              <a:t># If you want to treat the input as a number, you need to convert it using int() or float():</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a:t>
            </a:r>
            <a:r>
              <a:rPr lang="en-US" sz="1400" b="0" dirty="0">
                <a:solidFill>
                  <a:srgbClr val="56B6C2"/>
                </a:solidFill>
                <a:effectLst/>
                <a:latin typeface="Consolas" panose="020B0609020204030204" pitchFamily="49" charset="0"/>
              </a:rPr>
              <a:t>type</a:t>
            </a:r>
            <a:r>
              <a:rPr lang="en-US" sz="1400" b="0" dirty="0">
                <a:solidFill>
                  <a:srgbClr val="BBBBBB"/>
                </a:solidFill>
                <a:effectLst/>
                <a:latin typeface="Consolas" panose="020B0609020204030204" pitchFamily="49" charset="0"/>
              </a:rPr>
              <a:t>(age))  </a:t>
            </a:r>
            <a:r>
              <a:rPr lang="en-US" sz="1400" b="0" dirty="0">
                <a:solidFill>
                  <a:srgbClr val="676F7D"/>
                </a:solidFill>
                <a:effectLst/>
                <a:latin typeface="Consolas" panose="020B0609020204030204" pitchFamily="49" charset="0"/>
              </a:rPr>
              <a:t># &lt;class 'str'&gt;  — age is a string</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a:t>
            </a:r>
            <a:r>
              <a:rPr lang="en-US" sz="1400" b="0" dirty="0">
                <a:solidFill>
                  <a:srgbClr val="E5C07B"/>
                </a:solidFill>
                <a:effectLst/>
                <a:latin typeface="Consolas" panose="020B0609020204030204" pitchFamily="49" charset="0"/>
              </a:rPr>
              <a:t>"You are "</a:t>
            </a:r>
            <a:r>
              <a:rPr lang="en-US" sz="1400" b="0" dirty="0">
                <a:solidFill>
                  <a:srgbClr val="BBBBBB"/>
                </a:solidFill>
                <a:effectLst/>
                <a:latin typeface="Consolas" panose="020B0609020204030204" pitchFamily="49" charset="0"/>
              </a:rPr>
              <a: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age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E5C07B"/>
                </a:solidFill>
                <a:effectLst/>
                <a:latin typeface="Consolas" panose="020B0609020204030204" pitchFamily="49" charset="0"/>
              </a:rPr>
              <a:t>" years old."</a:t>
            </a:r>
            <a:r>
              <a:rPr lang="en-US" sz="1400" b="0" dirty="0">
                <a:solidFill>
                  <a:srgbClr val="BBBBBB"/>
                </a:solidFill>
                <a:effectLst/>
                <a:latin typeface="Consolas" panose="020B0609020204030204" pitchFamily="49" charset="0"/>
              </a:rPr>
              <a:t>) </a:t>
            </a:r>
            <a:r>
              <a:rPr lang="en-US" sz="1400" b="0" dirty="0">
                <a:solidFill>
                  <a:srgbClr val="676F7D"/>
                </a:solidFill>
                <a:effectLst/>
                <a:latin typeface="Consolas" panose="020B0609020204030204" pitchFamily="49" charset="0"/>
              </a:rPr>
              <a:t># This works because age is a string</a:t>
            </a:r>
          </a:p>
          <a:p>
            <a:pPr>
              <a:lnSpc>
                <a:spcPts val="1425"/>
              </a:lnSpc>
              <a:buNone/>
            </a:pPr>
            <a:r>
              <a:rPr lang="en-US" sz="1400" b="0" dirty="0" err="1">
                <a:solidFill>
                  <a:srgbClr val="BBBBBB"/>
                </a:solidFill>
                <a:effectLst/>
                <a:latin typeface="Consolas" panose="020B0609020204030204" pitchFamily="49" charset="0"/>
              </a:rPr>
              <a:t>new_age</a:t>
            </a:r>
            <a:r>
              <a:rPr lang="en-US" sz="1400" b="0" dirty="0">
                <a:solidFill>
                  <a:srgbClr val="BBBBBB"/>
                </a:solidFill>
                <a:effectLst/>
                <a:latin typeface="Consolas" panose="020B0609020204030204" pitchFamily="49" charset="0"/>
              </a:rPr>
              <a: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age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1</a:t>
            </a:r>
            <a:r>
              <a:rPr lang="en-US" sz="1400" b="0" dirty="0">
                <a:solidFill>
                  <a:srgbClr val="BBBBBB"/>
                </a:solidFill>
                <a:effectLst/>
                <a:latin typeface="Consolas" panose="020B0609020204030204" pitchFamily="49" charset="0"/>
              </a:rPr>
              <a:t>  </a:t>
            </a:r>
            <a:r>
              <a:rPr lang="en-US" sz="1400" b="0" dirty="0">
                <a:solidFill>
                  <a:srgbClr val="676F7D"/>
                </a:solidFill>
                <a:effectLst/>
                <a:latin typeface="Consolas" panose="020B0609020204030204" pitchFamily="49" charset="0"/>
              </a:rPr>
              <a:t># This will cause an error because you cannot add a string and an integer.</a:t>
            </a:r>
          </a:p>
          <a:p>
            <a:pPr>
              <a:lnSpc>
                <a:spcPts val="1425"/>
              </a:lnSpc>
              <a:buNone/>
            </a:pP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676F7D"/>
                </a:solidFill>
                <a:effectLst/>
                <a:latin typeface="Consolas" panose="020B0609020204030204" pitchFamily="49" charset="0"/>
              </a:rPr>
              <a:t># To fix this, we need to convert age to an integer first: </a:t>
            </a:r>
            <a:endParaRPr lang="en-US" sz="1400" b="0" dirty="0">
              <a:solidFill>
                <a:srgbClr val="BBBBBB"/>
              </a:solidFill>
              <a:effectLst/>
              <a:latin typeface="Consolas" panose="020B0609020204030204" pitchFamily="49" charset="0"/>
            </a:endParaRPr>
          </a:p>
          <a:p>
            <a:pPr>
              <a:lnSpc>
                <a:spcPts val="1425"/>
              </a:lnSpc>
              <a:buNone/>
            </a:pPr>
            <a:r>
              <a:rPr lang="en-US" sz="1400" b="0" dirty="0" err="1">
                <a:solidFill>
                  <a:srgbClr val="BBBBBB"/>
                </a:solidFill>
                <a:effectLst/>
                <a:latin typeface="Consolas" panose="020B0609020204030204" pitchFamily="49" charset="0"/>
              </a:rPr>
              <a:t>new_age</a:t>
            </a:r>
            <a:r>
              <a:rPr lang="en-US" sz="1400" b="0" dirty="0">
                <a:solidFill>
                  <a:srgbClr val="BBBBBB"/>
                </a:solidFill>
                <a:effectLst/>
                <a:latin typeface="Consolas" panose="020B0609020204030204" pitchFamily="49" charset="0"/>
              </a:rPr>
              <a: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56B6C2"/>
                </a:solidFill>
                <a:effectLst/>
                <a:latin typeface="Consolas" panose="020B0609020204030204" pitchFamily="49" charset="0"/>
              </a:rPr>
              <a:t>int</a:t>
            </a:r>
            <a:r>
              <a:rPr lang="en-US" sz="1400" b="0" dirty="0">
                <a:solidFill>
                  <a:srgbClr val="BBBBBB"/>
                </a:solidFill>
                <a:effectLst/>
                <a:latin typeface="Consolas" panose="020B0609020204030204" pitchFamily="49" charset="0"/>
              </a:rPr>
              <a:t>(age)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1</a:t>
            </a:r>
            <a:r>
              <a:rPr lang="en-US" sz="1400" b="0" dirty="0">
                <a:solidFill>
                  <a:srgbClr val="BBBBBB"/>
                </a:solidFill>
                <a:effectLst/>
                <a:latin typeface="Consolas" panose="020B0609020204030204" pitchFamily="49" charset="0"/>
              </a:rPr>
              <a:t>  </a:t>
            </a:r>
            <a:r>
              <a:rPr lang="en-US" sz="1400" b="0" dirty="0">
                <a:solidFill>
                  <a:srgbClr val="676F7D"/>
                </a:solidFill>
                <a:effectLst/>
                <a:latin typeface="Consolas" panose="020B0609020204030204" pitchFamily="49" charset="0"/>
              </a:rPr>
              <a:t># Convert age to an integer before adding 1</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a:t>
            </a:r>
            <a:r>
              <a:rPr lang="en-US" sz="1400" b="0" dirty="0">
                <a:solidFill>
                  <a:srgbClr val="E5C07B"/>
                </a:solidFill>
                <a:effectLst/>
                <a:latin typeface="Consolas" panose="020B0609020204030204" pitchFamily="49" charset="0"/>
              </a:rPr>
              <a:t>"Next year, you will be "</a:t>
            </a:r>
            <a:r>
              <a:rPr lang="en-US" sz="1400" b="0" dirty="0">
                <a:solidFill>
                  <a:srgbClr val="BBBBBB"/>
                </a:solidFill>
                <a:effectLst/>
                <a:latin typeface="Consolas" panose="020B0609020204030204" pitchFamily="49" charset="0"/>
              </a:rPr>
              <a: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56B6C2"/>
                </a:solidFill>
                <a:effectLst/>
                <a:latin typeface="Consolas" panose="020B0609020204030204" pitchFamily="49" charset="0"/>
              </a:rPr>
              <a:t>str</a:t>
            </a:r>
            <a:r>
              <a:rPr lang="en-US" sz="1400" b="0" dirty="0">
                <a:solidFill>
                  <a:srgbClr val="BBBBBB"/>
                </a:solidFill>
                <a:effectLst/>
                <a:latin typeface="Consolas" panose="020B0609020204030204" pitchFamily="49" charset="0"/>
              </a:rPr>
              <a:t>(</a:t>
            </a:r>
            <a:r>
              <a:rPr lang="en-US" sz="1400" b="0" dirty="0" err="1">
                <a:solidFill>
                  <a:srgbClr val="BBBBBB"/>
                </a:solidFill>
                <a:effectLst/>
                <a:latin typeface="Consolas" panose="020B0609020204030204" pitchFamily="49" charset="0"/>
              </a:rPr>
              <a:t>new_age</a:t>
            </a:r>
            <a:r>
              <a:rPr lang="en-US" sz="1400" b="0" dirty="0">
                <a:solidFill>
                  <a:srgbClr val="BBBBBB"/>
                </a:solidFill>
                <a:effectLst/>
                <a:latin typeface="Consolas" panose="020B0609020204030204" pitchFamily="49" charset="0"/>
              </a:rPr>
              <a: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E5C07B"/>
                </a:solidFill>
                <a:effectLst/>
                <a:latin typeface="Consolas" panose="020B0609020204030204" pitchFamily="49" charset="0"/>
              </a:rPr>
              <a:t>" years old."</a:t>
            </a:r>
            <a:r>
              <a:rPr lang="en-US" sz="1400" b="0" dirty="0">
                <a:solidFill>
                  <a:srgbClr val="BBBBBB"/>
                </a:solidFill>
                <a:effectLst/>
                <a:latin typeface="Consolas" panose="020B0609020204030204" pitchFamily="49" charset="0"/>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28016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600" b="1" dirty="0">
                <a:solidFill>
                  <a:srgbClr val="FFFFFF"/>
                </a:solidFill>
              </a:rPr>
              <a:t>⚖️ Comparison Operators</a:t>
            </a:r>
          </a:p>
        </p:txBody>
      </p:sp>
      <p:sp>
        <p:nvSpPr>
          <p:cNvPr id="3" name="TextBox 2"/>
          <p:cNvSpPr txBox="1"/>
          <p:nvPr/>
        </p:nvSpPr>
        <p:spPr>
          <a:xfrm>
            <a:off x="731520" y="1417320"/>
            <a:ext cx="10515600" cy="707886"/>
          </a:xfrm>
          <a:prstGeom prst="rect">
            <a:avLst/>
          </a:prstGeom>
          <a:noFill/>
        </p:spPr>
        <p:txBody>
          <a:bodyPr wrap="square">
            <a:spAutoFit/>
          </a:bodyPr>
          <a:lstStyle/>
          <a:p>
            <a:pPr algn="l"/>
            <a:r>
              <a:rPr sz="2000" b="0" i="0" dirty="0">
                <a:solidFill>
                  <a:srgbClr val="444444"/>
                </a:solidFill>
              </a:rPr>
              <a:t>These return</a:t>
            </a:r>
            <a:r>
              <a:rPr lang="en-US" sz="2000" b="0" i="0" dirty="0">
                <a:solidFill>
                  <a:srgbClr val="444444"/>
                </a:solidFill>
              </a:rPr>
              <a:t>:</a:t>
            </a:r>
            <a:r>
              <a:rPr sz="2000" b="0" i="0" dirty="0">
                <a:solidFill>
                  <a:srgbClr val="444444"/>
                </a:solidFill>
              </a:rPr>
              <a:t>  </a:t>
            </a:r>
            <a:r>
              <a:rPr sz="2000" b="1" i="0" dirty="0">
                <a:solidFill>
                  <a:srgbClr val="444444"/>
                </a:solidFill>
              </a:rPr>
              <a:t>True</a:t>
            </a:r>
            <a:r>
              <a:rPr sz="2000" b="0" i="0" dirty="0">
                <a:solidFill>
                  <a:srgbClr val="444444"/>
                </a:solidFill>
              </a:rPr>
              <a:t>  or  </a:t>
            </a:r>
            <a:r>
              <a:rPr sz="2000" b="1" i="0" dirty="0">
                <a:solidFill>
                  <a:srgbClr val="444444"/>
                </a:solidFill>
              </a:rPr>
              <a:t>False</a:t>
            </a:r>
            <a:r>
              <a:rPr lang="en-US" sz="2000" b="0" i="0" dirty="0">
                <a:solidFill>
                  <a:srgbClr val="444444"/>
                </a:solidFill>
              </a:rPr>
              <a:t>.</a:t>
            </a:r>
          </a:p>
          <a:p>
            <a:pPr algn="l"/>
            <a:r>
              <a:rPr lang="en-US" sz="2000" b="0" i="0" dirty="0">
                <a:solidFill>
                  <a:srgbClr val="444444"/>
                </a:solidFill>
              </a:rPr>
              <a:t>Comparison operators look at variables but do not change the variables.</a:t>
            </a:r>
          </a:p>
        </p:txBody>
      </p:sp>
      <p:sp>
        <p:nvSpPr>
          <p:cNvPr id="4" name="Rectangle 3"/>
          <p:cNvSpPr/>
          <p:nvPr/>
        </p:nvSpPr>
        <p:spPr>
          <a:xfrm>
            <a:off x="731520" y="2187106"/>
            <a:ext cx="10515600" cy="2545689"/>
          </a:xfrm>
          <a:prstGeom prst="rect">
            <a:avLst/>
          </a:prstGeom>
          <a:solidFill>
            <a:srgbClr val="282C34"/>
          </a:solidFill>
          <a:ln>
            <a:solidFill>
              <a:srgbClr val="555555"/>
            </a:solidFill>
          </a:ln>
        </p:spPr>
        <p:style>
          <a:lnRef idx="1">
            <a:schemeClr val="accent1"/>
          </a:lnRef>
          <a:fillRef idx="3">
            <a:schemeClr val="accent1"/>
          </a:fillRef>
          <a:effectRef idx="2">
            <a:schemeClr val="accent1"/>
          </a:effectRef>
          <a:fontRef idx="minor">
            <a:schemeClr val="lt1"/>
          </a:fontRef>
        </p:style>
        <p:txBody>
          <a:bodyPr wrap="none" rtlCol="0" anchor="ctr"/>
          <a:lstStyle/>
          <a:p>
            <a:pPr>
              <a:lnSpc>
                <a:spcPts val="1425"/>
              </a:lnSpc>
              <a:buNone/>
            </a:pPr>
            <a:r>
              <a:rPr lang="en-US" sz="1400" b="0" dirty="0">
                <a:solidFill>
                  <a:srgbClr val="BBBBBB"/>
                </a:solidFill>
                <a:effectLst/>
                <a:latin typeface="Consolas" panose="020B0609020204030204" pitchFamily="49" charset="0"/>
              </a:rPr>
              <a:t>x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10</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y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5</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 </a:t>
            </a: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(x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y)   </a:t>
            </a:r>
            <a:r>
              <a:rPr lang="en-US" sz="1400" b="0" dirty="0">
                <a:solidFill>
                  <a:srgbClr val="676F7D"/>
                </a:solidFill>
                <a:effectLst/>
                <a:latin typeface="Consolas" panose="020B0609020204030204" pitchFamily="49" charset="0"/>
              </a:rPr>
              <a:t># False  — Equal to</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(x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y)   </a:t>
            </a:r>
            <a:r>
              <a:rPr lang="en-US" sz="1400" b="0" dirty="0">
                <a:solidFill>
                  <a:srgbClr val="676F7D"/>
                </a:solidFill>
                <a:effectLst/>
                <a:latin typeface="Consolas" panose="020B0609020204030204" pitchFamily="49" charset="0"/>
              </a:rPr>
              <a:t># True   — Not equal to</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(x </a:t>
            </a:r>
            <a:r>
              <a:rPr lang="en-US" sz="1400" b="0" dirty="0">
                <a:solidFill>
                  <a:srgbClr val="E06C75"/>
                </a:solidFill>
                <a:effectLst/>
                <a:latin typeface="Consolas" panose="020B0609020204030204" pitchFamily="49" charset="0"/>
              </a:rPr>
              <a:t>&gt;</a:t>
            </a:r>
            <a:r>
              <a:rPr lang="en-US" sz="1400" b="0" dirty="0">
                <a:solidFill>
                  <a:srgbClr val="BBBBBB"/>
                </a:solidFill>
                <a:effectLst/>
                <a:latin typeface="Consolas" panose="020B0609020204030204" pitchFamily="49" charset="0"/>
              </a:rPr>
              <a:t> y)    </a:t>
            </a:r>
            <a:r>
              <a:rPr lang="en-US" sz="1400" b="0" dirty="0">
                <a:solidFill>
                  <a:srgbClr val="676F7D"/>
                </a:solidFill>
                <a:effectLst/>
                <a:latin typeface="Consolas" panose="020B0609020204030204" pitchFamily="49" charset="0"/>
              </a:rPr>
              <a:t># True   — Greater than</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(x </a:t>
            </a:r>
            <a:r>
              <a:rPr lang="en-US" sz="1400" b="0" dirty="0">
                <a:solidFill>
                  <a:srgbClr val="E06C75"/>
                </a:solidFill>
                <a:effectLst/>
                <a:latin typeface="Consolas" panose="020B0609020204030204" pitchFamily="49" charset="0"/>
              </a:rPr>
              <a:t>&lt;</a:t>
            </a:r>
            <a:r>
              <a:rPr lang="en-US" sz="1400" b="0" dirty="0">
                <a:solidFill>
                  <a:srgbClr val="BBBBBB"/>
                </a:solidFill>
                <a:effectLst/>
                <a:latin typeface="Consolas" panose="020B0609020204030204" pitchFamily="49" charset="0"/>
              </a:rPr>
              <a:t> y)    </a:t>
            </a:r>
            <a:r>
              <a:rPr lang="en-US" sz="1400" b="0" dirty="0">
                <a:solidFill>
                  <a:srgbClr val="676F7D"/>
                </a:solidFill>
                <a:effectLst/>
                <a:latin typeface="Consolas" panose="020B0609020204030204" pitchFamily="49" charset="0"/>
              </a:rPr>
              <a:t># False  — Less than</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(x </a:t>
            </a:r>
            <a:r>
              <a:rPr lang="en-US" sz="1400" b="0" dirty="0">
                <a:solidFill>
                  <a:srgbClr val="E06C75"/>
                </a:solidFill>
                <a:effectLst/>
                <a:latin typeface="Consolas" panose="020B0609020204030204" pitchFamily="49" charset="0"/>
              </a:rPr>
              <a:t>&gt;=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10</a:t>
            </a:r>
            <a:r>
              <a:rPr lang="en-US" sz="1400" b="0" dirty="0">
                <a:solidFill>
                  <a:srgbClr val="BBBBBB"/>
                </a:solidFill>
                <a:effectLst/>
                <a:latin typeface="Consolas" panose="020B0609020204030204" pitchFamily="49" charset="0"/>
              </a:rPr>
              <a:t>)  </a:t>
            </a:r>
            <a:r>
              <a:rPr lang="en-US" sz="1400" b="0" dirty="0">
                <a:solidFill>
                  <a:srgbClr val="676F7D"/>
                </a:solidFill>
                <a:effectLst/>
                <a:latin typeface="Consolas" panose="020B0609020204030204" pitchFamily="49" charset="0"/>
              </a:rPr>
              <a:t># True   — Greater than or equal</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(x </a:t>
            </a:r>
            <a:r>
              <a:rPr lang="en-US" sz="1400" b="0" dirty="0">
                <a:solidFill>
                  <a:srgbClr val="E06C75"/>
                </a:solidFill>
                <a:effectLst/>
                <a:latin typeface="Consolas" panose="020B0609020204030204" pitchFamily="49" charset="0"/>
              </a:rPr>
              <a:t>&lt;=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9</a:t>
            </a:r>
            <a:r>
              <a:rPr lang="en-US" sz="1400" b="0" dirty="0">
                <a:solidFill>
                  <a:srgbClr val="BBBBBB"/>
                </a:solidFill>
                <a:effectLst/>
                <a:latin typeface="Consolas" panose="020B0609020204030204" pitchFamily="49" charset="0"/>
              </a:rPr>
              <a:t>)   </a:t>
            </a:r>
            <a:r>
              <a:rPr lang="en-US" sz="1400" b="0" dirty="0">
                <a:solidFill>
                  <a:srgbClr val="676F7D"/>
                </a:solidFill>
                <a:effectLst/>
                <a:latin typeface="Consolas" panose="020B0609020204030204" pitchFamily="49" charset="0"/>
              </a:rPr>
              <a:t># False  — Less than or equal</a:t>
            </a:r>
          </a:p>
          <a:p>
            <a:pPr>
              <a:lnSpc>
                <a:spcPts val="1425"/>
              </a:lnSpc>
              <a:buNone/>
            </a:pPr>
            <a:endParaRPr lang="en-US" sz="1400" dirty="0">
              <a:solidFill>
                <a:srgbClr val="676F7D"/>
              </a:solidFill>
              <a:latin typeface="Consolas" panose="020B0609020204030204" pitchFamily="49" charset="0"/>
            </a:endParaRPr>
          </a:p>
          <a:p>
            <a:pPr>
              <a:lnSpc>
                <a:spcPts val="1425"/>
              </a:lnSpc>
              <a:buNone/>
            </a:pPr>
            <a:r>
              <a:rPr lang="en-US" sz="1400" b="0" dirty="0" err="1">
                <a:solidFill>
                  <a:srgbClr val="BBBBBB"/>
                </a:solidFill>
                <a:effectLst/>
                <a:latin typeface="Consolas" panose="020B0609020204030204" pitchFamily="49" charset="0"/>
              </a:rPr>
              <a:t>is_x_greater</a:t>
            </a:r>
            <a:r>
              <a:rPr lang="en-US" sz="1400" b="0" dirty="0">
                <a:solidFill>
                  <a:srgbClr val="BBBBBB"/>
                </a:solidFill>
                <a:effectLst/>
                <a:latin typeface="Consolas" panose="020B0609020204030204" pitchFamily="49" charset="0"/>
              </a:rPr>
              <a:t>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x </a:t>
            </a:r>
            <a:r>
              <a:rPr lang="en-US" sz="1400" b="0" dirty="0">
                <a:solidFill>
                  <a:srgbClr val="E06C75"/>
                </a:solidFill>
                <a:effectLst/>
                <a:latin typeface="Consolas" panose="020B0609020204030204" pitchFamily="49" charset="0"/>
              </a:rPr>
              <a:t>&gt;</a:t>
            </a:r>
            <a:r>
              <a:rPr lang="en-US" sz="1400" b="0" dirty="0">
                <a:solidFill>
                  <a:srgbClr val="BBBBBB"/>
                </a:solidFill>
                <a:effectLst/>
                <a:latin typeface="Consolas" panose="020B0609020204030204" pitchFamily="49" charset="0"/>
              </a:rPr>
              <a:t> y</a:t>
            </a: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a:t>
            </a:r>
            <a:r>
              <a:rPr lang="en-US" sz="1400" b="0" dirty="0" err="1">
                <a:solidFill>
                  <a:srgbClr val="BBBBBB"/>
                </a:solidFill>
                <a:effectLst/>
                <a:latin typeface="Consolas" panose="020B0609020204030204" pitchFamily="49" charset="0"/>
              </a:rPr>
              <a:t>is_x_greater</a:t>
            </a:r>
            <a:r>
              <a:rPr lang="en-US" sz="1400" b="0" dirty="0">
                <a:solidFill>
                  <a:srgbClr val="BBBBBB"/>
                </a:solidFill>
                <a:effectLst/>
                <a:latin typeface="Consolas" panose="020B0609020204030204" pitchFamily="49" charset="0"/>
              </a:rPr>
              <a:t>)  </a:t>
            </a:r>
            <a:r>
              <a:rPr lang="en-US" sz="1400" b="0" dirty="0">
                <a:solidFill>
                  <a:srgbClr val="676F7D"/>
                </a:solidFill>
                <a:effectLst/>
                <a:latin typeface="Consolas" panose="020B0609020204030204" pitchFamily="49" charset="0"/>
              </a:rPr>
              <a:t># True</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a:t>
            </a:r>
            <a:r>
              <a:rPr lang="en-US" sz="1400" b="0" dirty="0">
                <a:solidFill>
                  <a:srgbClr val="C678DD"/>
                </a:solidFill>
                <a:effectLst/>
                <a:latin typeface="Consolas" panose="020B0609020204030204" pitchFamily="49" charset="0"/>
              </a:rPr>
              <a:t>5</a:t>
            </a:r>
            <a:r>
              <a:rPr lang="en-US" sz="1400" b="0" dirty="0">
                <a:solidFill>
                  <a:srgbClr val="BBBBBB"/>
                </a:solidFill>
                <a:effectLst/>
                <a:latin typeface="Consolas" panose="020B0609020204030204" pitchFamily="49" charset="0"/>
              </a:rPr>
              <a:t> </a:t>
            </a:r>
            <a:r>
              <a:rPr lang="en-US" sz="1400" b="0" dirty="0">
                <a:solidFill>
                  <a:srgbClr val="E06C75"/>
                </a:solidFill>
                <a:effectLst/>
                <a:latin typeface="Consolas" panose="020B0609020204030204" pitchFamily="49" charset="0"/>
              </a:rPr>
              <a:t>&lt;</a:t>
            </a:r>
            <a:r>
              <a:rPr lang="en-US" sz="1400" b="0" dirty="0">
                <a:solidFill>
                  <a:srgbClr val="BBBBBB"/>
                </a:solidFill>
                <a:effectLst/>
                <a:latin typeface="Consolas" panose="020B0609020204030204" pitchFamily="49" charset="0"/>
              </a:rPr>
              <a:t> x </a:t>
            </a:r>
            <a:r>
              <a:rPr lang="en-US" sz="1400" b="0" dirty="0">
                <a:solidFill>
                  <a:srgbClr val="E06C75"/>
                </a:solidFill>
                <a:effectLst/>
                <a:latin typeface="Consolas" panose="020B0609020204030204" pitchFamily="49" charset="0"/>
              </a:rPr>
              <a:t>&lt;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15</a:t>
            </a:r>
            <a:r>
              <a:rPr lang="en-US" sz="1400" b="0" dirty="0">
                <a:solidFill>
                  <a:srgbClr val="BBBBBB"/>
                </a:solidFill>
                <a:effectLst/>
                <a:latin typeface="Consolas" panose="020B0609020204030204" pitchFamily="49" charset="0"/>
              </a:rPr>
              <a:t>)  </a:t>
            </a:r>
            <a:r>
              <a:rPr lang="en-US" sz="1400" b="0" dirty="0">
                <a:solidFill>
                  <a:srgbClr val="676F7D"/>
                </a:solidFill>
                <a:effectLst/>
                <a:latin typeface="Consolas" panose="020B0609020204030204" pitchFamily="49" charset="0"/>
              </a:rPr>
              <a:t># True  — x is greater than 5 and less than 15</a:t>
            </a:r>
            <a:endParaRPr lang="en-US" sz="1400" b="0" dirty="0">
              <a:solidFill>
                <a:srgbClr val="BBBBBB"/>
              </a:solidFill>
              <a:effectLst/>
              <a:latin typeface="Consolas" panose="020B0609020204030204" pitchFamily="49" charset="0"/>
            </a:endParaRPr>
          </a:p>
          <a:p>
            <a:pPr>
              <a:lnSpc>
                <a:spcPts val="1425"/>
              </a:lnSpc>
              <a:buNone/>
            </a:pPr>
            <a:endParaRPr lang="en-US" sz="1400" b="0" dirty="0">
              <a:solidFill>
                <a:srgbClr val="BBBBBB"/>
              </a:solidFill>
              <a:effectLst/>
              <a:latin typeface="Consolas" panose="020B0609020204030204" pitchFamily="49" charset="0"/>
            </a:endParaRPr>
          </a:p>
        </p:txBody>
      </p:sp>
      <p:sp>
        <p:nvSpPr>
          <p:cNvPr id="5" name="Rectangle 4"/>
          <p:cNvSpPr/>
          <p:nvPr/>
        </p:nvSpPr>
        <p:spPr>
          <a:xfrm>
            <a:off x="731520" y="4897526"/>
            <a:ext cx="10515600" cy="1371600"/>
          </a:xfrm>
          <a:prstGeom prst="rect">
            <a:avLst/>
          </a:prstGeom>
          <a:solidFill>
            <a:srgbClr val="282C34"/>
          </a:solidFill>
          <a:ln>
            <a:solidFill>
              <a:srgbClr val="555555"/>
            </a:solidFill>
          </a:ln>
        </p:spPr>
        <p:style>
          <a:lnRef idx="1">
            <a:schemeClr val="accent1"/>
          </a:lnRef>
          <a:fillRef idx="3">
            <a:schemeClr val="accent1"/>
          </a:fillRef>
          <a:effectRef idx="2">
            <a:schemeClr val="accent1"/>
          </a:effectRef>
          <a:fontRef idx="minor">
            <a:schemeClr val="lt1"/>
          </a:fontRef>
        </p:style>
        <p:txBody>
          <a:bodyPr wrap="none" rtlCol="0" anchor="ctr"/>
          <a:lstStyle/>
          <a:p>
            <a:pPr>
              <a:lnSpc>
                <a:spcPts val="1425"/>
              </a:lnSpc>
              <a:buNone/>
            </a:pPr>
            <a:r>
              <a:rPr lang="en-US" sz="1400" b="0" dirty="0">
                <a:solidFill>
                  <a:srgbClr val="676F7D"/>
                </a:solidFill>
                <a:effectLst/>
                <a:latin typeface="Consolas" panose="020B0609020204030204" pitchFamily="49" charset="0"/>
              </a:rPr>
              <a:t># Works with strings too!</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name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E5C07B"/>
                </a:solidFill>
                <a:effectLst/>
                <a:latin typeface="Consolas" panose="020B0609020204030204" pitchFamily="49" charset="0"/>
              </a:rPr>
              <a:t>"Alice"</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(name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E5C07B"/>
                </a:solidFill>
                <a:effectLst/>
                <a:latin typeface="Consolas" panose="020B0609020204030204" pitchFamily="49" charset="0"/>
              </a:rPr>
              <a:t>"Alice"</a:t>
            </a:r>
            <a:r>
              <a:rPr lang="en-US" sz="1400" b="0" dirty="0">
                <a:solidFill>
                  <a:srgbClr val="BBBBBB"/>
                </a:solidFill>
                <a:effectLst/>
                <a:latin typeface="Consolas" panose="020B0609020204030204" pitchFamily="49" charset="0"/>
              </a:rPr>
              <a:t>)   </a:t>
            </a:r>
            <a:r>
              <a:rPr lang="en-US" sz="1400" b="0" dirty="0">
                <a:solidFill>
                  <a:srgbClr val="676F7D"/>
                </a:solidFill>
                <a:effectLst/>
                <a:latin typeface="Consolas" panose="020B0609020204030204" pitchFamily="49" charset="0"/>
              </a:rPr>
              <a:t># True</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(name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E5C07B"/>
                </a:solidFill>
                <a:effectLst/>
                <a:latin typeface="Consolas" panose="020B0609020204030204" pitchFamily="49" charset="0"/>
              </a:rPr>
              <a:t>"</a:t>
            </a:r>
            <a:r>
              <a:rPr lang="en-US" sz="1400" b="0" dirty="0" err="1">
                <a:solidFill>
                  <a:srgbClr val="E5C07B"/>
                </a:solidFill>
                <a:effectLst/>
                <a:latin typeface="Consolas" panose="020B0609020204030204" pitchFamily="49" charset="0"/>
              </a:rPr>
              <a:t>alice</a:t>
            </a:r>
            <a:r>
              <a:rPr lang="en-US" sz="1400" b="0" dirty="0">
                <a:solidFill>
                  <a:srgbClr val="E5C07B"/>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676F7D"/>
                </a:solidFill>
                <a:effectLst/>
                <a:latin typeface="Consolas" panose="020B0609020204030204" pitchFamily="49" charset="0"/>
              </a:rPr>
              <a:t># False  ← case-sensitive!</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(name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E5C07B"/>
                </a:solidFill>
                <a:effectLst/>
                <a:latin typeface="Consolas" panose="020B0609020204030204" pitchFamily="49" charset="0"/>
              </a:rPr>
              <a:t>"Bob"</a:t>
            </a:r>
            <a:r>
              <a:rPr lang="en-US" sz="1400" b="0" dirty="0">
                <a:solidFill>
                  <a:srgbClr val="BBBBBB"/>
                </a:solidFill>
                <a:effectLst/>
                <a:latin typeface="Consolas" panose="020B0609020204030204" pitchFamily="49" charset="0"/>
              </a:rPr>
              <a:t>)     </a:t>
            </a:r>
            <a:r>
              <a:rPr lang="en-US" sz="1400" b="0" dirty="0">
                <a:solidFill>
                  <a:srgbClr val="676F7D"/>
                </a:solidFill>
                <a:effectLst/>
                <a:latin typeface="Consolas" panose="020B0609020204030204" pitchFamily="49" charset="0"/>
              </a:rPr>
              <a:t># True</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(name </a:t>
            </a:r>
            <a:r>
              <a:rPr lang="en-US" sz="1400" b="0" dirty="0">
                <a:solidFill>
                  <a:srgbClr val="E06C75"/>
                </a:solidFill>
                <a:effectLst/>
                <a:latin typeface="Consolas" panose="020B0609020204030204" pitchFamily="49" charset="0"/>
              </a:rPr>
              <a:t>&gt;</a:t>
            </a:r>
            <a:r>
              <a:rPr lang="en-US" sz="1400" b="0" dirty="0">
                <a:solidFill>
                  <a:srgbClr val="BBBBBB"/>
                </a:solidFill>
                <a:effectLst/>
                <a:latin typeface="Consolas" panose="020B0609020204030204" pitchFamily="49" charset="0"/>
              </a:rPr>
              <a:t> </a:t>
            </a:r>
            <a:r>
              <a:rPr lang="en-US" sz="1400" b="0" dirty="0">
                <a:solidFill>
                  <a:srgbClr val="E5C07B"/>
                </a:solidFill>
                <a:effectLst/>
                <a:latin typeface="Consolas" panose="020B0609020204030204" pitchFamily="49" charset="0"/>
              </a:rPr>
              <a:t>"Bob"</a:t>
            </a:r>
            <a:r>
              <a:rPr lang="en-US" sz="1400" b="0" dirty="0">
                <a:solidFill>
                  <a:srgbClr val="BBBBBB"/>
                </a:solidFill>
                <a:effectLst/>
                <a:latin typeface="Consolas" panose="020B0609020204030204" pitchFamily="49" charset="0"/>
              </a:rPr>
              <a:t>)      </a:t>
            </a:r>
            <a:r>
              <a:rPr lang="en-US" sz="1400" b="0" dirty="0">
                <a:solidFill>
                  <a:srgbClr val="676F7D"/>
                </a:solidFill>
                <a:effectLst/>
                <a:latin typeface="Consolas" panose="020B0609020204030204" pitchFamily="49" charset="0"/>
              </a:rPr>
              <a:t># False  — "Alice" comes before "Bob"</a:t>
            </a:r>
            <a:endParaRPr lang="en-US" sz="1400" b="0" dirty="0">
              <a:solidFill>
                <a:srgbClr val="BBBBBB"/>
              </a:solidFill>
              <a:effectLst/>
              <a:latin typeface="Consolas" panose="020B0609020204030204" pitchFamily="49"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795147-D5A5-D414-CFB5-29EC36F7676E}"/>
            </a:ext>
          </a:extLst>
        </p:cNvPr>
        <p:cNvGrpSpPr/>
        <p:nvPr/>
      </p:nvGrpSpPr>
      <p:grpSpPr>
        <a:xfrm>
          <a:off x="0" y="0"/>
          <a:ext cx="0" cy="0"/>
          <a:chOff x="0" y="0"/>
          <a:chExt cx="0" cy="0"/>
        </a:xfrm>
      </p:grpSpPr>
      <p:pic>
        <p:nvPicPr>
          <p:cNvPr id="49" name="Picture 48" descr="Woman peeking out a window">
            <a:extLst>
              <a:ext uri="{FF2B5EF4-FFF2-40B4-BE49-F238E27FC236}">
                <a16:creationId xmlns:a16="http://schemas.microsoft.com/office/drawing/2014/main" id="{0CB431A6-C9F5-34DE-DB08-6BFF02D4E021}"/>
              </a:ext>
            </a:extLst>
          </p:cNvPr>
          <p:cNvPicPr>
            <a:picLocks noChangeAspect="1"/>
          </p:cNvPicPr>
          <p:nvPr/>
        </p:nvPicPr>
        <p:blipFill>
          <a:blip r:embed="rId3"/>
          <a:srcRect l="33717" r="7033" b="-1"/>
          <a:stretch>
            <a:fillRect/>
          </a:stretch>
        </p:blipFill>
        <p:spPr>
          <a:xfrm>
            <a:off x="6101566" y="0"/>
            <a:ext cx="6087386" cy="6857990"/>
          </a:xfrm>
          <a:prstGeom prst="rect">
            <a:avLst/>
          </a:prstGeom>
        </p:spPr>
      </p:pic>
      <p:sp>
        <p:nvSpPr>
          <p:cNvPr id="51" name="TextBox 50">
            <a:extLst>
              <a:ext uri="{FF2B5EF4-FFF2-40B4-BE49-F238E27FC236}">
                <a16:creationId xmlns:a16="http://schemas.microsoft.com/office/drawing/2014/main" id="{71B41F41-EB62-4F92-FC71-89230C116F41}"/>
              </a:ext>
            </a:extLst>
          </p:cNvPr>
          <p:cNvSpPr txBox="1"/>
          <p:nvPr/>
        </p:nvSpPr>
        <p:spPr>
          <a:xfrm>
            <a:off x="457774" y="1541830"/>
            <a:ext cx="5352476" cy="5011369"/>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pPr>
            <a:r>
              <a:rPr lang="en-US" sz="2000" dirty="0"/>
              <a:t>Like a recipe or installation instructions, a program is a sequence of steps to be done in order.</a:t>
            </a:r>
          </a:p>
          <a:p>
            <a:pPr indent="-228600" defTabSz="914400">
              <a:lnSpc>
                <a:spcPct val="90000"/>
              </a:lnSpc>
              <a:spcAft>
                <a:spcPts val="600"/>
              </a:spcAft>
              <a:buFont typeface="Arial" panose="020B0604020202020204" pitchFamily="34" charset="0"/>
              <a:buChar char="•"/>
            </a:pPr>
            <a:r>
              <a:rPr lang="en-US" sz="2000" dirty="0"/>
              <a:t>Some steps are conditional - they may be skipped.</a:t>
            </a:r>
          </a:p>
          <a:p>
            <a:pPr indent="-228600" defTabSz="914400">
              <a:lnSpc>
                <a:spcPct val="90000"/>
              </a:lnSpc>
              <a:spcAft>
                <a:spcPts val="600"/>
              </a:spcAft>
              <a:buFont typeface="Arial" panose="020B0604020202020204" pitchFamily="34" charset="0"/>
              <a:buChar char="•"/>
            </a:pPr>
            <a:r>
              <a:rPr lang="en-US" sz="2000" dirty="0"/>
              <a:t>Sometimes a step or group of steps is to be repeated.</a:t>
            </a:r>
          </a:p>
          <a:p>
            <a:pPr indent="-228600" defTabSz="914400">
              <a:lnSpc>
                <a:spcPct val="90000"/>
              </a:lnSpc>
              <a:spcAft>
                <a:spcPts val="600"/>
              </a:spcAft>
              <a:buFont typeface="Arial" panose="020B0604020202020204" pitchFamily="34" charset="0"/>
              <a:buChar char="•"/>
            </a:pPr>
            <a:r>
              <a:rPr lang="en-US" sz="2000" dirty="0"/>
              <a:t>Sometimes we store a set of steps to be used over and over as needed several places throughout the program.</a:t>
            </a:r>
          </a:p>
        </p:txBody>
      </p:sp>
      <p:sp>
        <p:nvSpPr>
          <p:cNvPr id="26" name="Rectangle 25">
            <a:extLst>
              <a:ext uri="{FF2B5EF4-FFF2-40B4-BE49-F238E27FC236}">
                <a16:creationId xmlns:a16="http://schemas.microsoft.com/office/drawing/2014/main" id="{92546D99-A529-16EE-A643-B38D5CA1A4F1}"/>
              </a:ext>
            </a:extLst>
          </p:cNvPr>
          <p:cNvSpPr/>
          <p:nvPr/>
        </p:nvSpPr>
        <p:spPr>
          <a:xfrm>
            <a:off x="0" y="0"/>
            <a:ext cx="12188952" cy="128016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3600" b="1" dirty="0">
                <a:solidFill>
                  <a:srgbClr val="FFFFFF"/>
                </a:solidFill>
              </a:rPr>
              <a:t>📋 Program Steps or Program Flow</a:t>
            </a:r>
          </a:p>
        </p:txBody>
      </p:sp>
    </p:spTree>
    <p:extLst>
      <p:ext uri="{BB962C8B-B14F-4D97-AF65-F5344CB8AC3E}">
        <p14:creationId xmlns:p14="http://schemas.microsoft.com/office/powerpoint/2010/main" val="27215031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28016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600" b="1">
                <a:solidFill>
                  <a:srgbClr val="FFFFFF"/>
                </a:solidFill>
              </a:rPr>
              <a:t>🔀 if / elif / else</a:t>
            </a:r>
          </a:p>
        </p:txBody>
      </p:sp>
      <p:sp>
        <p:nvSpPr>
          <p:cNvPr id="6" name="Shape 298">
            <a:extLst>
              <a:ext uri="{FF2B5EF4-FFF2-40B4-BE49-F238E27FC236}">
                <a16:creationId xmlns:a16="http://schemas.microsoft.com/office/drawing/2014/main" id="{EDB74498-6069-906A-C073-CD1656ADA10D}"/>
              </a:ext>
            </a:extLst>
          </p:cNvPr>
          <p:cNvSpPr txBox="1">
            <a:spLocks noGrp="1"/>
          </p:cNvSpPr>
          <p:nvPr/>
        </p:nvSpPr>
        <p:spPr>
          <a:xfrm>
            <a:off x="518845" y="1366405"/>
            <a:ext cx="3915717" cy="646813"/>
          </a:xfrm>
          <a:prstGeom prst="rect">
            <a:avLst/>
          </a:prstGeom>
          <a:noFill/>
          <a:ln>
            <a:noFill/>
          </a:ln>
        </p:spPr>
        <p:txBody>
          <a:bodyPr lIns="38100" tIns="38100" rIns="38100" bIns="38100" anchor="ctr" anchorCtr="0">
            <a:noAutofit/>
          </a:bodyPr>
          <a:lstStyle>
            <a:defPPr marR="0" lvl="0" algn="l" rtl="0">
              <a:lnSpc>
                <a:spcPct val="100000"/>
              </a:lnSpc>
              <a:spcBef>
                <a:spcPts val="0"/>
              </a:spcBef>
              <a:spcAft>
                <a:spcPts val="0"/>
              </a:spcAft>
            </a:defPPr>
            <a:lvl1pPr marL="0" marR="0" lvl="0" indent="0" algn="ctr" rtl="0">
              <a:lnSpc>
                <a:spcPct val="100000"/>
              </a:lnSpc>
              <a:spcBef>
                <a:spcPts val="0"/>
              </a:spcBef>
              <a:spcAft>
                <a:spcPts val="0"/>
              </a:spcAft>
              <a:buNone/>
              <a:defRPr sz="4400" b="0" i="0" u="none" strike="noStrike" cap="none">
                <a:solidFill>
                  <a:srgbClr val="000000"/>
                </a:solidFill>
                <a:latin typeface="Arial"/>
                <a:ea typeface="Arial"/>
                <a:cs typeface="Arial"/>
                <a:sym typeface="Arial"/>
              </a:defRPr>
            </a:lvl1pPr>
            <a:lvl2pPr marL="0" marR="0" lvl="1" indent="0" algn="ctr" rtl="0">
              <a:spcBef>
                <a:spcPts val="0"/>
              </a:spcBef>
              <a:spcAft>
                <a:spcPts val="0"/>
              </a:spcAft>
              <a:defRPr/>
            </a:lvl2pPr>
            <a:lvl3pPr marL="0" marR="0" lvl="2" indent="0" algn="ctr" rtl="0">
              <a:spcBef>
                <a:spcPts val="0"/>
              </a:spcBef>
              <a:spcAft>
                <a:spcPts val="0"/>
              </a:spcAft>
              <a:defRPr/>
            </a:lvl3pPr>
            <a:lvl4pPr marL="0" marR="0" lvl="3" indent="0" algn="ctr" rtl="0">
              <a:spcBef>
                <a:spcPts val="0"/>
              </a:spcBef>
              <a:spcAft>
                <a:spcPts val="0"/>
              </a:spcAft>
              <a:defRPr/>
            </a:lvl4pPr>
            <a:lvl5pPr marL="0" marR="0" lvl="4" indent="0" algn="ctr" rtl="0">
              <a:spcBef>
                <a:spcPts val="0"/>
              </a:spcBef>
              <a:spcAft>
                <a:spcPts val="0"/>
              </a:spcAft>
              <a:defRPr/>
            </a:lvl5pPr>
            <a:lvl6pPr marL="457200" marR="0" lvl="5" indent="0" algn="ctr" rtl="0">
              <a:spcBef>
                <a:spcPts val="0"/>
              </a:spcBef>
              <a:spcAft>
                <a:spcPts val="0"/>
              </a:spcAft>
              <a:defRPr/>
            </a:lvl6pPr>
            <a:lvl7pPr marL="914400" marR="0" lvl="6" indent="0" algn="ctr" rtl="0">
              <a:spcBef>
                <a:spcPts val="0"/>
              </a:spcBef>
              <a:spcAft>
                <a:spcPts val="0"/>
              </a:spcAft>
              <a:defRPr/>
            </a:lvl7pPr>
            <a:lvl8pPr marL="1371600" marR="0" lvl="7" indent="0" algn="ctr" rtl="0">
              <a:spcBef>
                <a:spcPts val="0"/>
              </a:spcBef>
              <a:spcAft>
                <a:spcPts val="0"/>
              </a:spcAft>
              <a:defRPr/>
            </a:lvl8pPr>
            <a:lvl9pPr marL="1828800" marR="0" lvl="8" indent="0" algn="ctr" rtl="0">
              <a:spcBef>
                <a:spcPts val="0"/>
              </a:spcBef>
              <a:spcAft>
                <a:spcPts val="0"/>
              </a:spcAft>
              <a:defRPr/>
            </a:lvl9pPr>
          </a:lstStyle>
          <a:p>
            <a:pPr marL="0" marR="0" lvl="0" indent="0" algn="ctr" rtl="0">
              <a:lnSpc>
                <a:spcPct val="100000"/>
              </a:lnSpc>
              <a:spcBef>
                <a:spcPts val="0"/>
              </a:spcBef>
              <a:spcAft>
                <a:spcPts val="0"/>
              </a:spcAft>
              <a:buClr>
                <a:srgbClr val="FFFF00"/>
              </a:buClr>
              <a:buSzPct val="25000"/>
              <a:buFont typeface="Cabin"/>
              <a:buNone/>
            </a:pPr>
            <a:r>
              <a:rPr lang="en-US" sz="3200" b="1" u="none" strike="noStrike" cap="none" dirty="0">
                <a:solidFill>
                  <a:schemeClr val="tx1"/>
                </a:solidFill>
                <a:latin typeface="+mj-lt"/>
                <a:ea typeface="Arial" charset="0"/>
                <a:cs typeface="Arial" charset="0"/>
                <a:sym typeface="Cabin"/>
              </a:rPr>
              <a:t>One-Way Decisions</a:t>
            </a:r>
          </a:p>
        </p:txBody>
      </p:sp>
      <p:sp>
        <p:nvSpPr>
          <p:cNvPr id="7" name="Shape 299">
            <a:extLst>
              <a:ext uri="{FF2B5EF4-FFF2-40B4-BE49-F238E27FC236}">
                <a16:creationId xmlns:a16="http://schemas.microsoft.com/office/drawing/2014/main" id="{B7CAD5E1-A29E-52C2-A640-037AF0A64F82}"/>
              </a:ext>
            </a:extLst>
          </p:cNvPr>
          <p:cNvSpPr txBox="1"/>
          <p:nvPr/>
        </p:nvSpPr>
        <p:spPr>
          <a:xfrm>
            <a:off x="736613" y="2099463"/>
            <a:ext cx="4208462" cy="4286706"/>
          </a:xfrm>
          <a:prstGeom prst="rect">
            <a:avLst/>
          </a:prstGeom>
          <a:solidFill>
            <a:srgbClr val="282C34"/>
          </a:solidFill>
          <a:ln>
            <a:noFill/>
          </a:ln>
        </p:spPr>
        <p:txBody>
          <a:bodyPr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marL="0" marR="0" lvl="0" indent="0" algn="l" rtl="0">
              <a:lnSpc>
                <a:spcPct val="100000"/>
              </a:lnSpc>
              <a:spcBef>
                <a:spcPts val="0"/>
              </a:spcBef>
              <a:spcAft>
                <a:spcPts val="0"/>
              </a:spcAft>
              <a:buClr>
                <a:schemeClr val="lt1"/>
              </a:buClr>
              <a:buSzPct val="25000"/>
              <a:buFont typeface="Cabin"/>
              <a:buNone/>
            </a:pPr>
            <a:r>
              <a:rPr lang="en-US" sz="2000" i="0" u="none" strike="noStrike" cap="none" dirty="0">
                <a:solidFill>
                  <a:schemeClr val="lt1"/>
                </a:solidFill>
                <a:latin typeface="Consolas" panose="020B0609020204030204" pitchFamily="49" charset="0"/>
                <a:ea typeface="Courier"/>
                <a:cs typeface="Courier"/>
                <a:sym typeface="Courier New"/>
              </a:rPr>
              <a:t>x = 5</a:t>
            </a:r>
          </a:p>
          <a:p>
            <a:pPr lvl="0">
              <a:buClr>
                <a:srgbClr val="FF7F00"/>
              </a:buClr>
              <a:buSzPct val="25000"/>
            </a:pPr>
            <a:r>
              <a:rPr lang="en-US" sz="2000" i="0" u="none" strike="noStrike" cap="none" dirty="0">
                <a:solidFill>
                  <a:srgbClr val="FF9900"/>
                </a:solidFill>
                <a:latin typeface="Consolas" panose="020B0609020204030204" pitchFamily="49" charset="0"/>
                <a:ea typeface="Courier"/>
                <a:cs typeface="Courier"/>
                <a:sym typeface="Courier New"/>
              </a:rPr>
              <a:t>print('Before 5</a:t>
            </a:r>
            <a:r>
              <a:rPr lang="en-US" sz="2000" dirty="0">
                <a:solidFill>
                  <a:srgbClr val="FF9900"/>
                </a:solidFill>
                <a:latin typeface="Consolas" panose="020B0609020204030204" pitchFamily="49" charset="0"/>
                <a:ea typeface="Courier"/>
                <a:cs typeface="Courier"/>
                <a:sym typeface="Courier New"/>
              </a:rPr>
              <a:t>')</a:t>
            </a:r>
          </a:p>
          <a:p>
            <a:pPr marL="0" marR="0" lvl="0" indent="0" algn="l" rtl="0">
              <a:lnSpc>
                <a:spcPct val="100000"/>
              </a:lnSpc>
              <a:spcBef>
                <a:spcPts val="0"/>
              </a:spcBef>
              <a:spcAft>
                <a:spcPts val="0"/>
              </a:spcAft>
              <a:buClr>
                <a:srgbClr val="FF00FF"/>
              </a:buClr>
              <a:buSzPct val="25000"/>
              <a:buFont typeface="Cabin"/>
              <a:buNone/>
            </a:pPr>
            <a:r>
              <a:rPr lang="en-US" sz="2000" i="0" u="none" strike="noStrike" cap="none" dirty="0">
                <a:solidFill>
                  <a:srgbClr val="00FFFF"/>
                </a:solidFill>
                <a:latin typeface="Consolas" panose="020B0609020204030204" pitchFamily="49" charset="0"/>
                <a:ea typeface="Courier"/>
                <a:cs typeface="Courier"/>
                <a:sym typeface="Courier New"/>
              </a:rPr>
              <a:t>if  x == 5 :</a:t>
            </a:r>
          </a:p>
          <a:p>
            <a:pPr lvl="0">
              <a:buClr>
                <a:srgbClr val="FF00FF"/>
              </a:buClr>
              <a:buSzPct val="25000"/>
            </a:pPr>
            <a:r>
              <a:rPr lang="en-US" sz="2000" i="0" u="none" strike="noStrike" cap="none" dirty="0">
                <a:solidFill>
                  <a:srgbClr val="00FFFF"/>
                </a:solidFill>
                <a:latin typeface="Consolas" panose="020B0609020204030204" pitchFamily="49" charset="0"/>
                <a:ea typeface="Courier"/>
                <a:cs typeface="Courier"/>
                <a:sym typeface="Courier New"/>
              </a:rPr>
              <a:t>    print('Is 5</a:t>
            </a:r>
            <a:r>
              <a:rPr lang="en-US" sz="2000" dirty="0">
                <a:solidFill>
                  <a:srgbClr val="00FFFF"/>
                </a:solidFill>
                <a:latin typeface="Consolas" panose="020B0609020204030204" pitchFamily="49" charset="0"/>
                <a:ea typeface="Courier"/>
                <a:cs typeface="Courier"/>
                <a:sym typeface="Courier New"/>
              </a:rPr>
              <a:t>')</a:t>
            </a:r>
          </a:p>
          <a:p>
            <a:pPr lvl="0">
              <a:buClr>
                <a:srgbClr val="FF00FF"/>
              </a:buClr>
              <a:buSzPct val="25000"/>
            </a:pPr>
            <a:r>
              <a:rPr lang="en-US" sz="2000" i="0" u="none" strike="noStrike" cap="none" dirty="0">
                <a:solidFill>
                  <a:srgbClr val="00FFFF"/>
                </a:solidFill>
                <a:latin typeface="Consolas" panose="020B0609020204030204" pitchFamily="49" charset="0"/>
                <a:ea typeface="Courier"/>
                <a:cs typeface="Courier"/>
                <a:sym typeface="Courier New"/>
              </a:rPr>
              <a:t>    print('Is Still 5</a:t>
            </a:r>
            <a:r>
              <a:rPr lang="en-US" sz="2000" dirty="0">
                <a:solidFill>
                  <a:srgbClr val="00FFFF"/>
                </a:solidFill>
                <a:latin typeface="Consolas" panose="020B0609020204030204" pitchFamily="49" charset="0"/>
                <a:ea typeface="Courier"/>
                <a:cs typeface="Courier"/>
                <a:sym typeface="Courier New"/>
              </a:rPr>
              <a:t>')</a:t>
            </a:r>
          </a:p>
          <a:p>
            <a:pPr lvl="0">
              <a:buClr>
                <a:srgbClr val="FF00FF"/>
              </a:buClr>
              <a:buSzPct val="25000"/>
            </a:pPr>
            <a:r>
              <a:rPr lang="en-US" sz="2000" i="0" u="none" strike="noStrike" cap="none" dirty="0">
                <a:solidFill>
                  <a:srgbClr val="00FFFF"/>
                </a:solidFill>
                <a:latin typeface="Consolas" panose="020B0609020204030204" pitchFamily="49" charset="0"/>
                <a:ea typeface="Courier"/>
                <a:cs typeface="Courier"/>
                <a:sym typeface="Courier New"/>
              </a:rPr>
              <a:t>    print('Third 5</a:t>
            </a:r>
            <a:r>
              <a:rPr lang="en-US" sz="2000" dirty="0">
                <a:solidFill>
                  <a:srgbClr val="00FFFF"/>
                </a:solidFill>
                <a:latin typeface="Consolas" panose="020B0609020204030204" pitchFamily="49" charset="0"/>
                <a:ea typeface="Courier"/>
                <a:cs typeface="Courier"/>
                <a:sym typeface="Courier New"/>
              </a:rPr>
              <a:t>')</a:t>
            </a:r>
          </a:p>
          <a:p>
            <a:pPr lvl="0">
              <a:buClr>
                <a:srgbClr val="FF7F00"/>
              </a:buClr>
              <a:buSzPct val="25000"/>
            </a:pPr>
            <a:r>
              <a:rPr lang="en-US" sz="2000" i="0" u="none" strike="noStrike" cap="none" dirty="0">
                <a:solidFill>
                  <a:srgbClr val="FF9900"/>
                </a:solidFill>
                <a:latin typeface="Consolas" panose="020B0609020204030204" pitchFamily="49" charset="0"/>
                <a:ea typeface="Courier"/>
                <a:cs typeface="Courier"/>
                <a:sym typeface="Courier New"/>
              </a:rPr>
              <a:t>print('Afterwards </a:t>
            </a:r>
            <a:r>
              <a:rPr lang="en-US" sz="2000" dirty="0">
                <a:solidFill>
                  <a:srgbClr val="FF9900"/>
                </a:solidFill>
                <a:latin typeface="Consolas" panose="020B0609020204030204" pitchFamily="49" charset="0"/>
                <a:ea typeface="Courier"/>
                <a:cs typeface="Courier"/>
                <a:sym typeface="Courier New"/>
              </a:rPr>
              <a:t>5')</a:t>
            </a:r>
            <a:endParaRPr lang="en-US" sz="2000" i="0" u="none" strike="noStrike" cap="none" dirty="0">
              <a:solidFill>
                <a:srgbClr val="FF9900"/>
              </a:solidFill>
              <a:latin typeface="Consolas" panose="020B0609020204030204" pitchFamily="49" charset="0"/>
              <a:ea typeface="Courier"/>
              <a:cs typeface="Courier"/>
              <a:sym typeface="Courier New"/>
            </a:endParaRPr>
          </a:p>
          <a:p>
            <a:pPr lvl="0">
              <a:buClr>
                <a:srgbClr val="FF7F00"/>
              </a:buClr>
              <a:buSzPct val="25000"/>
            </a:pPr>
            <a:r>
              <a:rPr lang="en-US" sz="2000" dirty="0">
                <a:solidFill>
                  <a:srgbClr val="FF9900"/>
                </a:solidFill>
                <a:latin typeface="Consolas" panose="020B0609020204030204" pitchFamily="49" charset="0"/>
                <a:ea typeface="Courier"/>
                <a:cs typeface="Courier"/>
                <a:sym typeface="Courier New"/>
              </a:rPr>
              <a:t>p</a:t>
            </a:r>
            <a:r>
              <a:rPr lang="en-US" sz="2000" i="0" u="none" strike="noStrike" cap="none" dirty="0">
                <a:solidFill>
                  <a:srgbClr val="FF9900"/>
                </a:solidFill>
                <a:latin typeface="Consolas" panose="020B0609020204030204" pitchFamily="49" charset="0"/>
                <a:ea typeface="Courier"/>
                <a:cs typeface="Courier"/>
                <a:sym typeface="Courier New"/>
              </a:rPr>
              <a:t>rint('Before </a:t>
            </a:r>
            <a:r>
              <a:rPr lang="en-US" sz="2000" dirty="0">
                <a:solidFill>
                  <a:srgbClr val="FF9900"/>
                </a:solidFill>
                <a:latin typeface="Consolas" panose="020B0609020204030204" pitchFamily="49" charset="0"/>
                <a:ea typeface="Courier"/>
                <a:cs typeface="Courier"/>
                <a:sym typeface="Courier New"/>
              </a:rPr>
              <a:t>6')</a:t>
            </a:r>
            <a:endParaRPr lang="en-US" sz="2000" i="0" u="none" strike="noStrike" cap="none" dirty="0">
              <a:solidFill>
                <a:srgbClr val="FF9900"/>
              </a:solidFill>
              <a:latin typeface="Consolas" panose="020B0609020204030204" pitchFamily="49" charset="0"/>
              <a:ea typeface="Courier"/>
              <a:cs typeface="Courier"/>
              <a:sym typeface="Courier New"/>
            </a:endParaRPr>
          </a:p>
          <a:p>
            <a:pPr marL="0" marR="0" lvl="0" indent="0" algn="l" rtl="0">
              <a:lnSpc>
                <a:spcPct val="100000"/>
              </a:lnSpc>
              <a:spcBef>
                <a:spcPts val="0"/>
              </a:spcBef>
              <a:spcAft>
                <a:spcPts val="0"/>
              </a:spcAft>
              <a:buClr>
                <a:srgbClr val="00FF00"/>
              </a:buClr>
              <a:buSzPct val="25000"/>
              <a:buFont typeface="Cabin"/>
              <a:buNone/>
            </a:pPr>
            <a:r>
              <a:rPr lang="en-US" sz="2000" i="0" u="none" strike="noStrike" cap="none" dirty="0">
                <a:solidFill>
                  <a:srgbClr val="00FF00"/>
                </a:solidFill>
                <a:latin typeface="Consolas" panose="020B0609020204030204" pitchFamily="49" charset="0"/>
                <a:ea typeface="Courier"/>
                <a:cs typeface="Courier"/>
                <a:sym typeface="Courier New"/>
              </a:rPr>
              <a:t>if x == 6 :</a:t>
            </a:r>
          </a:p>
          <a:p>
            <a:pPr lvl="0">
              <a:buClr>
                <a:srgbClr val="00FF00"/>
              </a:buClr>
              <a:buSzPct val="25000"/>
            </a:pPr>
            <a:r>
              <a:rPr lang="en-US" sz="2000" i="0" u="none" strike="noStrike" cap="none" dirty="0">
                <a:solidFill>
                  <a:srgbClr val="00FF00"/>
                </a:solidFill>
                <a:latin typeface="Consolas" panose="020B0609020204030204" pitchFamily="49" charset="0"/>
                <a:ea typeface="Courier"/>
                <a:cs typeface="Courier"/>
                <a:sym typeface="Courier New"/>
              </a:rPr>
              <a:t>    print('Is </a:t>
            </a:r>
            <a:r>
              <a:rPr lang="en-US" sz="2000" dirty="0">
                <a:solidFill>
                  <a:srgbClr val="00FF00"/>
                </a:solidFill>
                <a:latin typeface="Consolas" panose="020B0609020204030204" pitchFamily="49" charset="0"/>
                <a:ea typeface="Courier"/>
                <a:cs typeface="Courier"/>
                <a:sym typeface="Courier New"/>
              </a:rPr>
              <a:t>6')</a:t>
            </a:r>
            <a:endParaRPr lang="en-US" sz="2000" dirty="0">
              <a:solidFill>
                <a:schemeClr val="accent1"/>
              </a:solidFill>
              <a:latin typeface="Consolas" panose="020B0609020204030204" pitchFamily="49" charset="0"/>
              <a:ea typeface="Courier"/>
              <a:cs typeface="Courier"/>
              <a:sym typeface="Courier New"/>
            </a:endParaRPr>
          </a:p>
          <a:p>
            <a:pPr lvl="0">
              <a:buClr>
                <a:srgbClr val="00FF00"/>
              </a:buClr>
              <a:buSzPct val="25000"/>
            </a:pPr>
            <a:r>
              <a:rPr lang="en-US" sz="2000" i="0" u="none" strike="noStrike" cap="none" dirty="0">
                <a:solidFill>
                  <a:srgbClr val="00FF00"/>
                </a:solidFill>
                <a:latin typeface="Consolas" panose="020B0609020204030204" pitchFamily="49" charset="0"/>
                <a:ea typeface="Courier"/>
                <a:cs typeface="Courier"/>
                <a:sym typeface="Courier New"/>
              </a:rPr>
              <a:t>    print('Is Still </a:t>
            </a:r>
            <a:r>
              <a:rPr lang="en-US" sz="2000" dirty="0">
                <a:solidFill>
                  <a:srgbClr val="00FF00"/>
                </a:solidFill>
                <a:latin typeface="Consolas" panose="020B0609020204030204" pitchFamily="49" charset="0"/>
                <a:ea typeface="Courier"/>
                <a:cs typeface="Courier"/>
                <a:sym typeface="Courier New"/>
              </a:rPr>
              <a:t>6')</a:t>
            </a:r>
            <a:endParaRPr lang="en-US" sz="2000" dirty="0">
              <a:solidFill>
                <a:schemeClr val="accent1"/>
              </a:solidFill>
              <a:latin typeface="Consolas" panose="020B0609020204030204" pitchFamily="49" charset="0"/>
              <a:ea typeface="Courier"/>
              <a:cs typeface="Courier"/>
              <a:sym typeface="Courier New"/>
            </a:endParaRPr>
          </a:p>
          <a:p>
            <a:pPr lvl="0">
              <a:buClr>
                <a:srgbClr val="00FF00"/>
              </a:buClr>
              <a:buSzPct val="25000"/>
            </a:pPr>
            <a:r>
              <a:rPr lang="en-US" sz="2000" i="0" u="none" strike="noStrike" cap="none" dirty="0">
                <a:solidFill>
                  <a:srgbClr val="00FF00"/>
                </a:solidFill>
                <a:latin typeface="Consolas" panose="020B0609020204030204" pitchFamily="49" charset="0"/>
                <a:ea typeface="Courier"/>
                <a:cs typeface="Courier"/>
                <a:sym typeface="Courier New"/>
              </a:rPr>
              <a:t>    print('Third </a:t>
            </a:r>
            <a:r>
              <a:rPr lang="en-US" sz="2000" dirty="0">
                <a:solidFill>
                  <a:srgbClr val="00FF00"/>
                </a:solidFill>
                <a:latin typeface="Consolas" panose="020B0609020204030204" pitchFamily="49" charset="0"/>
                <a:ea typeface="Courier"/>
                <a:cs typeface="Courier"/>
                <a:sym typeface="Courier New"/>
              </a:rPr>
              <a:t>6')</a:t>
            </a:r>
            <a:endParaRPr lang="en-US" sz="2000" dirty="0">
              <a:solidFill>
                <a:schemeClr val="accent1"/>
              </a:solidFill>
              <a:latin typeface="Consolas" panose="020B0609020204030204" pitchFamily="49" charset="0"/>
              <a:ea typeface="Courier"/>
              <a:cs typeface="Courier"/>
              <a:sym typeface="Courier New"/>
            </a:endParaRPr>
          </a:p>
          <a:p>
            <a:pPr lvl="0">
              <a:buClr>
                <a:srgbClr val="FF7F00"/>
              </a:buClr>
              <a:buSzPct val="25000"/>
            </a:pPr>
            <a:r>
              <a:rPr lang="en-US" sz="2000" dirty="0">
                <a:solidFill>
                  <a:srgbClr val="FF9900"/>
                </a:solidFill>
                <a:latin typeface="Consolas" panose="020B0609020204030204" pitchFamily="49" charset="0"/>
                <a:ea typeface="Courier"/>
                <a:cs typeface="Courier"/>
                <a:sym typeface="Courier New"/>
              </a:rPr>
              <a:t>p</a:t>
            </a:r>
            <a:r>
              <a:rPr lang="en-US" sz="2000" i="0" u="none" strike="noStrike" cap="none" dirty="0">
                <a:solidFill>
                  <a:srgbClr val="FF9900"/>
                </a:solidFill>
                <a:latin typeface="Consolas" panose="020B0609020204030204" pitchFamily="49" charset="0"/>
                <a:ea typeface="Courier"/>
                <a:cs typeface="Courier"/>
                <a:sym typeface="Courier New"/>
              </a:rPr>
              <a:t>rint('Afterwards 6</a:t>
            </a:r>
            <a:r>
              <a:rPr lang="en-US" sz="2000" dirty="0">
                <a:solidFill>
                  <a:srgbClr val="FF9900"/>
                </a:solidFill>
                <a:latin typeface="Consolas" panose="020B0609020204030204" pitchFamily="49" charset="0"/>
                <a:ea typeface="Courier"/>
                <a:cs typeface="Courier"/>
                <a:sym typeface="Courier New"/>
              </a:rPr>
              <a:t>')</a:t>
            </a:r>
            <a:endParaRPr lang="en-US" sz="2000" i="0" u="none" strike="noStrike" cap="none" dirty="0">
              <a:solidFill>
                <a:srgbClr val="FF9900"/>
              </a:solidFill>
              <a:latin typeface="Consolas" panose="020B0609020204030204" pitchFamily="49" charset="0"/>
              <a:ea typeface="Courier"/>
              <a:cs typeface="Courier"/>
              <a:sym typeface="Courier New"/>
            </a:endParaRPr>
          </a:p>
        </p:txBody>
      </p:sp>
      <p:sp>
        <p:nvSpPr>
          <p:cNvPr id="8" name="Shape 300">
            <a:extLst>
              <a:ext uri="{FF2B5EF4-FFF2-40B4-BE49-F238E27FC236}">
                <a16:creationId xmlns:a16="http://schemas.microsoft.com/office/drawing/2014/main" id="{4CF94E29-E7E1-B9E3-970F-B04BF49B85A8}"/>
              </a:ext>
            </a:extLst>
          </p:cNvPr>
          <p:cNvSpPr txBox="1"/>
          <p:nvPr/>
        </p:nvSpPr>
        <p:spPr>
          <a:xfrm>
            <a:off x="4945075" y="2099463"/>
            <a:ext cx="2826846" cy="4286706"/>
          </a:xfrm>
          <a:prstGeom prst="rect">
            <a:avLst/>
          </a:prstGeom>
          <a:solidFill>
            <a:srgbClr val="282C34"/>
          </a:solidFill>
          <a:ln>
            <a:noFill/>
          </a:ln>
        </p:spPr>
        <p:txBody>
          <a:bodyPr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marL="0" marR="0" lvl="0" indent="0" algn="l" rtl="0">
              <a:lnSpc>
                <a:spcPct val="100000"/>
              </a:lnSpc>
              <a:spcBef>
                <a:spcPts val="0"/>
              </a:spcBef>
              <a:spcAft>
                <a:spcPts val="0"/>
              </a:spcAft>
              <a:buClr>
                <a:srgbClr val="FF7F00"/>
              </a:buClr>
              <a:buSzPct val="25000"/>
              <a:buFont typeface="Cabin"/>
              <a:buNone/>
            </a:pPr>
            <a:r>
              <a:rPr lang="en-US" sz="2000" u="none" strike="noStrike" cap="none" dirty="0">
                <a:solidFill>
                  <a:srgbClr val="FF9900"/>
                </a:solidFill>
                <a:latin typeface="Consolas" panose="020B0609020204030204" pitchFamily="49" charset="0"/>
                <a:ea typeface="Arial" charset="0"/>
                <a:cs typeface="Arial" charset="0"/>
                <a:sym typeface="Cabin"/>
              </a:rPr>
              <a:t>Before 5</a:t>
            </a:r>
          </a:p>
          <a:p>
            <a:pPr marL="0" marR="0" lvl="0" indent="0" algn="l" rtl="0">
              <a:lnSpc>
                <a:spcPct val="100000"/>
              </a:lnSpc>
              <a:spcBef>
                <a:spcPts val="0"/>
              </a:spcBef>
              <a:spcAft>
                <a:spcPts val="0"/>
              </a:spcAft>
              <a:buClr>
                <a:srgbClr val="FF7F00"/>
              </a:buClr>
              <a:buSzPct val="25000"/>
              <a:buFont typeface="Cabin"/>
              <a:buNone/>
            </a:pPr>
            <a:endParaRPr lang="en-US" sz="2000" u="none" strike="noStrike" cap="none" dirty="0">
              <a:solidFill>
                <a:srgbClr val="FF9900"/>
              </a:solidFill>
              <a:latin typeface="Consolas" panose="020B0609020204030204" pitchFamily="49" charset="0"/>
              <a:ea typeface="Arial" charset="0"/>
              <a:cs typeface="Arial" charset="0"/>
              <a:sym typeface="Cabin"/>
            </a:endParaRPr>
          </a:p>
          <a:p>
            <a:pPr marL="0" marR="0" lvl="0" indent="0" algn="l" rtl="0">
              <a:lnSpc>
                <a:spcPct val="100000"/>
              </a:lnSpc>
              <a:spcBef>
                <a:spcPts val="0"/>
              </a:spcBef>
              <a:spcAft>
                <a:spcPts val="0"/>
              </a:spcAft>
              <a:buClr>
                <a:srgbClr val="FF00FF"/>
              </a:buClr>
              <a:buSzPct val="25000"/>
              <a:buFont typeface="Cabin"/>
              <a:buNone/>
            </a:pPr>
            <a:r>
              <a:rPr lang="en-US" sz="2000" u="none" strike="noStrike" cap="none" dirty="0">
                <a:solidFill>
                  <a:srgbClr val="00FFFF"/>
                </a:solidFill>
                <a:latin typeface="Consolas" panose="020B0609020204030204" pitchFamily="49" charset="0"/>
                <a:ea typeface="Arial" charset="0"/>
                <a:cs typeface="Arial" charset="0"/>
                <a:sym typeface="Cabin"/>
              </a:rPr>
              <a:t>Is 5</a:t>
            </a:r>
          </a:p>
          <a:p>
            <a:pPr marL="0" marR="0" lvl="0" indent="0" algn="l" rtl="0">
              <a:lnSpc>
                <a:spcPct val="100000"/>
              </a:lnSpc>
              <a:spcBef>
                <a:spcPts val="0"/>
              </a:spcBef>
              <a:spcAft>
                <a:spcPts val="0"/>
              </a:spcAft>
              <a:buClr>
                <a:srgbClr val="FF00FF"/>
              </a:buClr>
              <a:buSzPct val="25000"/>
              <a:buFont typeface="Cabin"/>
              <a:buNone/>
            </a:pPr>
            <a:r>
              <a:rPr lang="en-US" sz="2000" u="none" strike="noStrike" cap="none" dirty="0">
                <a:solidFill>
                  <a:srgbClr val="00FFFF"/>
                </a:solidFill>
                <a:latin typeface="Consolas" panose="020B0609020204030204" pitchFamily="49" charset="0"/>
                <a:ea typeface="Arial" charset="0"/>
                <a:cs typeface="Arial" charset="0"/>
                <a:sym typeface="Cabin"/>
              </a:rPr>
              <a:t>Is Still 5</a:t>
            </a:r>
          </a:p>
          <a:p>
            <a:pPr marL="0" marR="0" lvl="0" indent="0" algn="l" rtl="0">
              <a:lnSpc>
                <a:spcPct val="100000"/>
              </a:lnSpc>
              <a:spcBef>
                <a:spcPts val="0"/>
              </a:spcBef>
              <a:spcAft>
                <a:spcPts val="0"/>
              </a:spcAft>
              <a:buClr>
                <a:srgbClr val="FF00FF"/>
              </a:buClr>
              <a:buSzPct val="25000"/>
              <a:buFont typeface="Cabin"/>
              <a:buNone/>
            </a:pPr>
            <a:r>
              <a:rPr lang="en-US" sz="2000" u="none" strike="noStrike" cap="none" dirty="0">
                <a:solidFill>
                  <a:srgbClr val="00FFFF"/>
                </a:solidFill>
                <a:latin typeface="Consolas" panose="020B0609020204030204" pitchFamily="49" charset="0"/>
                <a:ea typeface="Arial" charset="0"/>
                <a:cs typeface="Arial" charset="0"/>
                <a:sym typeface="Cabin"/>
              </a:rPr>
              <a:t>Third 5</a:t>
            </a:r>
          </a:p>
          <a:p>
            <a:pPr marL="0" marR="0" lvl="0" indent="0" algn="l" rtl="0">
              <a:lnSpc>
                <a:spcPct val="100000"/>
              </a:lnSpc>
              <a:spcBef>
                <a:spcPts val="0"/>
              </a:spcBef>
              <a:spcAft>
                <a:spcPts val="0"/>
              </a:spcAft>
              <a:buClr>
                <a:srgbClr val="FF7F00"/>
              </a:buClr>
              <a:buSzPct val="25000"/>
              <a:buFont typeface="Cabin"/>
              <a:buNone/>
            </a:pPr>
            <a:r>
              <a:rPr lang="en-US" sz="2000" u="none" strike="noStrike" cap="none" dirty="0">
                <a:solidFill>
                  <a:srgbClr val="FF9900"/>
                </a:solidFill>
                <a:latin typeface="Consolas" panose="020B0609020204030204" pitchFamily="49" charset="0"/>
                <a:ea typeface="Arial" charset="0"/>
                <a:cs typeface="Arial" charset="0"/>
                <a:sym typeface="Cabin"/>
              </a:rPr>
              <a:t>Afterwards 5</a:t>
            </a:r>
          </a:p>
          <a:p>
            <a:pPr marL="0" marR="0" lvl="0" indent="0" algn="l" rtl="0">
              <a:lnSpc>
                <a:spcPct val="100000"/>
              </a:lnSpc>
              <a:spcBef>
                <a:spcPts val="0"/>
              </a:spcBef>
              <a:spcAft>
                <a:spcPts val="0"/>
              </a:spcAft>
              <a:buClr>
                <a:srgbClr val="FF7F00"/>
              </a:buClr>
              <a:buSzPct val="25000"/>
              <a:buFont typeface="Cabin"/>
              <a:buNone/>
            </a:pPr>
            <a:r>
              <a:rPr lang="en-US" sz="2000" u="none" strike="noStrike" cap="none" dirty="0">
                <a:solidFill>
                  <a:srgbClr val="FF9900"/>
                </a:solidFill>
                <a:latin typeface="Consolas" panose="020B0609020204030204" pitchFamily="49" charset="0"/>
                <a:ea typeface="Arial" charset="0"/>
                <a:cs typeface="Arial" charset="0"/>
                <a:sym typeface="Cabin"/>
              </a:rPr>
              <a:t>Before 6</a:t>
            </a:r>
          </a:p>
          <a:p>
            <a:pPr marL="0" marR="0" lvl="0" indent="0" algn="l" rtl="0">
              <a:lnSpc>
                <a:spcPct val="100000"/>
              </a:lnSpc>
              <a:spcBef>
                <a:spcPts val="0"/>
              </a:spcBef>
              <a:spcAft>
                <a:spcPts val="0"/>
              </a:spcAft>
              <a:buClr>
                <a:srgbClr val="FF7F00"/>
              </a:buClr>
              <a:buSzPct val="25000"/>
              <a:buFont typeface="Cabin"/>
              <a:buNone/>
            </a:pPr>
            <a:endParaRPr lang="en-US" sz="2000" dirty="0">
              <a:solidFill>
                <a:srgbClr val="FF9900"/>
              </a:solidFill>
              <a:latin typeface="Consolas" panose="020B0609020204030204" pitchFamily="49" charset="0"/>
              <a:ea typeface="Arial" charset="0"/>
              <a:cs typeface="Arial" charset="0"/>
              <a:sym typeface="Cabin"/>
            </a:endParaRPr>
          </a:p>
          <a:p>
            <a:pPr marL="0" marR="0" lvl="0" indent="0" algn="l" rtl="0">
              <a:lnSpc>
                <a:spcPct val="100000"/>
              </a:lnSpc>
              <a:spcBef>
                <a:spcPts val="0"/>
              </a:spcBef>
              <a:spcAft>
                <a:spcPts val="0"/>
              </a:spcAft>
              <a:buClr>
                <a:srgbClr val="FF7F00"/>
              </a:buClr>
              <a:buSzPct val="25000"/>
              <a:buFont typeface="Cabin"/>
              <a:buNone/>
            </a:pPr>
            <a:endParaRPr lang="en-US" sz="2000" u="none" strike="noStrike" cap="none" dirty="0">
              <a:solidFill>
                <a:srgbClr val="FF9900"/>
              </a:solidFill>
              <a:latin typeface="Consolas" panose="020B0609020204030204" pitchFamily="49" charset="0"/>
              <a:ea typeface="Arial" charset="0"/>
              <a:cs typeface="Arial" charset="0"/>
              <a:sym typeface="Cabin"/>
            </a:endParaRPr>
          </a:p>
          <a:p>
            <a:pPr marL="0" marR="0" lvl="0" indent="0" algn="l" rtl="0">
              <a:lnSpc>
                <a:spcPct val="100000"/>
              </a:lnSpc>
              <a:spcBef>
                <a:spcPts val="0"/>
              </a:spcBef>
              <a:spcAft>
                <a:spcPts val="0"/>
              </a:spcAft>
              <a:buClr>
                <a:srgbClr val="FF7F00"/>
              </a:buClr>
              <a:buSzPct val="25000"/>
              <a:buFont typeface="Cabin"/>
              <a:buNone/>
            </a:pPr>
            <a:endParaRPr lang="en-US" sz="2000" u="none" strike="noStrike" cap="none" dirty="0">
              <a:solidFill>
                <a:srgbClr val="FF9900"/>
              </a:solidFill>
              <a:latin typeface="Consolas" panose="020B0609020204030204" pitchFamily="49" charset="0"/>
              <a:ea typeface="Arial" charset="0"/>
              <a:cs typeface="Arial" charset="0"/>
              <a:sym typeface="Cabin"/>
            </a:endParaRPr>
          </a:p>
          <a:p>
            <a:pPr marL="0" marR="0" lvl="0" indent="0" algn="l" rtl="0">
              <a:lnSpc>
                <a:spcPct val="100000"/>
              </a:lnSpc>
              <a:spcBef>
                <a:spcPts val="0"/>
              </a:spcBef>
              <a:spcAft>
                <a:spcPts val="0"/>
              </a:spcAft>
              <a:buClr>
                <a:srgbClr val="FF7F00"/>
              </a:buClr>
              <a:buSzPct val="25000"/>
              <a:buFont typeface="Cabin"/>
              <a:buNone/>
            </a:pPr>
            <a:r>
              <a:rPr lang="en-US" sz="2000" u="none" strike="noStrike" cap="none" dirty="0">
                <a:solidFill>
                  <a:srgbClr val="FF9900"/>
                </a:solidFill>
                <a:latin typeface="Consolas" panose="020B0609020204030204" pitchFamily="49" charset="0"/>
                <a:ea typeface="Arial" charset="0"/>
                <a:cs typeface="Arial" charset="0"/>
                <a:sym typeface="Cabin"/>
              </a:rPr>
              <a:t>Afterwards 6</a:t>
            </a:r>
          </a:p>
        </p:txBody>
      </p:sp>
      <p:cxnSp>
        <p:nvCxnSpPr>
          <p:cNvPr id="9" name="Shape 301">
            <a:extLst>
              <a:ext uri="{FF2B5EF4-FFF2-40B4-BE49-F238E27FC236}">
                <a16:creationId xmlns:a16="http://schemas.microsoft.com/office/drawing/2014/main" id="{6C3521B0-94FE-98CE-F0DE-0E5BDA4598F8}"/>
              </a:ext>
            </a:extLst>
          </p:cNvPr>
          <p:cNvCxnSpPr>
            <a:cxnSpLocks/>
          </p:cNvCxnSpPr>
          <p:nvPr/>
        </p:nvCxnSpPr>
        <p:spPr>
          <a:xfrm flipH="1" flipV="1">
            <a:off x="4136191" y="3715580"/>
            <a:ext cx="596743" cy="65259"/>
          </a:xfrm>
          <a:prstGeom prst="straightConnector1">
            <a:avLst/>
          </a:prstGeom>
          <a:noFill/>
          <a:ln w="76200" cap="rnd" cmpd="sng">
            <a:solidFill>
              <a:srgbClr val="00FFFF"/>
            </a:solidFill>
            <a:prstDash val="solid"/>
            <a:miter/>
            <a:headEnd type="stealth" w="med" len="med"/>
            <a:tailEnd type="none" w="med" len="med"/>
          </a:ln>
        </p:spPr>
      </p:cxnSp>
      <p:cxnSp>
        <p:nvCxnSpPr>
          <p:cNvPr id="11" name="Shape 302">
            <a:extLst>
              <a:ext uri="{FF2B5EF4-FFF2-40B4-BE49-F238E27FC236}">
                <a16:creationId xmlns:a16="http://schemas.microsoft.com/office/drawing/2014/main" id="{F076EFB0-0956-25BD-078B-F38713AA247D}"/>
              </a:ext>
            </a:extLst>
          </p:cNvPr>
          <p:cNvCxnSpPr/>
          <p:nvPr/>
        </p:nvCxnSpPr>
        <p:spPr>
          <a:xfrm flipH="1">
            <a:off x="4110365" y="5222373"/>
            <a:ext cx="1669419" cy="116062"/>
          </a:xfrm>
          <a:prstGeom prst="straightConnector1">
            <a:avLst/>
          </a:prstGeom>
          <a:noFill/>
          <a:ln w="76200" cap="rnd" cmpd="sng">
            <a:solidFill>
              <a:srgbClr val="00FF00"/>
            </a:solidFill>
            <a:prstDash val="solid"/>
            <a:miter/>
            <a:headEnd type="stealth" w="med" len="med"/>
            <a:tailEnd type="none" w="med" len="med"/>
          </a:ln>
        </p:spPr>
      </p:cxnSp>
      <p:sp>
        <p:nvSpPr>
          <p:cNvPr id="17" name="TextBox 16">
            <a:extLst>
              <a:ext uri="{FF2B5EF4-FFF2-40B4-BE49-F238E27FC236}">
                <a16:creationId xmlns:a16="http://schemas.microsoft.com/office/drawing/2014/main" id="{AC7BB643-41EE-1E9E-73B6-D278E2D49142}"/>
              </a:ext>
            </a:extLst>
          </p:cNvPr>
          <p:cNvSpPr txBox="1"/>
          <p:nvPr/>
        </p:nvSpPr>
        <p:spPr>
          <a:xfrm>
            <a:off x="7428626" y="2099463"/>
            <a:ext cx="4623545" cy="4286706"/>
          </a:xfrm>
          <a:prstGeom prst="rect">
            <a:avLst/>
          </a:prstGeom>
          <a:solidFill>
            <a:srgbClr val="282C34"/>
          </a:solidFill>
        </p:spPr>
        <p:txBody>
          <a:bodyPr wrap="square" rtlCol="0">
            <a:spAutoFit/>
          </a:bodyPr>
          <a:lstStyle/>
          <a:p>
            <a:endParaRPr lang="en-US" dirty="0"/>
          </a:p>
        </p:txBody>
      </p:sp>
      <p:grpSp>
        <p:nvGrpSpPr>
          <p:cNvPr id="46" name="Group 45">
            <a:extLst>
              <a:ext uri="{FF2B5EF4-FFF2-40B4-BE49-F238E27FC236}">
                <a16:creationId xmlns:a16="http://schemas.microsoft.com/office/drawing/2014/main" id="{42CD886C-CAB0-E495-809E-CC9BC4E1BD8D}"/>
              </a:ext>
            </a:extLst>
          </p:cNvPr>
          <p:cNvGrpSpPr/>
          <p:nvPr/>
        </p:nvGrpSpPr>
        <p:grpSpPr>
          <a:xfrm>
            <a:off x="7674949" y="2298442"/>
            <a:ext cx="4231886" cy="3998545"/>
            <a:chOff x="11086038" y="1488337"/>
            <a:chExt cx="4434385" cy="4914336"/>
          </a:xfrm>
        </p:grpSpPr>
        <p:cxnSp>
          <p:nvCxnSpPr>
            <p:cNvPr id="32" name="Shape 303">
              <a:extLst>
                <a:ext uri="{FF2B5EF4-FFF2-40B4-BE49-F238E27FC236}">
                  <a16:creationId xmlns:a16="http://schemas.microsoft.com/office/drawing/2014/main" id="{B3C54C2A-73DF-C88F-5F96-AB8F62FF2384}"/>
                </a:ext>
              </a:extLst>
            </p:cNvPr>
            <p:cNvCxnSpPr>
              <a:cxnSpLocks/>
            </p:cNvCxnSpPr>
            <p:nvPr/>
          </p:nvCxnSpPr>
          <p:spPr>
            <a:xfrm flipH="1" flipV="1">
              <a:off x="12301511" y="1488337"/>
              <a:ext cx="19423" cy="394072"/>
            </a:xfrm>
            <a:prstGeom prst="straightConnector1">
              <a:avLst/>
            </a:prstGeom>
            <a:noFill/>
            <a:ln w="76200" cap="rnd" cmpd="sng">
              <a:solidFill>
                <a:srgbClr val="00FFFF"/>
              </a:solidFill>
              <a:prstDash val="solid"/>
              <a:miter/>
              <a:headEnd type="stealth" w="med" len="med"/>
              <a:tailEnd type="none" w="med" len="med"/>
            </a:ln>
          </p:spPr>
        </p:cxnSp>
        <p:sp>
          <p:nvSpPr>
            <p:cNvPr id="33" name="Shape 304">
              <a:extLst>
                <a:ext uri="{FF2B5EF4-FFF2-40B4-BE49-F238E27FC236}">
                  <a16:creationId xmlns:a16="http://schemas.microsoft.com/office/drawing/2014/main" id="{65EF789C-58C8-C482-3F62-FF61182AC4A2}"/>
                </a:ext>
              </a:extLst>
            </p:cNvPr>
            <p:cNvSpPr/>
            <p:nvPr/>
          </p:nvSpPr>
          <p:spPr>
            <a:xfrm>
              <a:off x="11086038" y="1876061"/>
              <a:ext cx="2455394" cy="1013295"/>
            </a:xfrm>
            <a:prstGeom prst="diamond">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2000" u="none" strike="noStrike" cap="none" dirty="0">
                  <a:solidFill>
                    <a:schemeClr val="lt1"/>
                  </a:solidFill>
                  <a:latin typeface="Consolas" panose="020B0609020204030204" pitchFamily="49" charset="0"/>
                  <a:ea typeface="Arial" charset="0"/>
                  <a:cs typeface="Arial" charset="0"/>
                  <a:sym typeface="Cabin"/>
                </a:rPr>
                <a:t>x == 5 ?</a:t>
              </a:r>
            </a:p>
          </p:txBody>
        </p:sp>
        <p:cxnSp>
          <p:nvCxnSpPr>
            <p:cNvPr id="34" name="Shape 305">
              <a:extLst>
                <a:ext uri="{FF2B5EF4-FFF2-40B4-BE49-F238E27FC236}">
                  <a16:creationId xmlns:a16="http://schemas.microsoft.com/office/drawing/2014/main" id="{E6B62F2A-FAB5-1812-F6C8-A26313FA91A8}"/>
                </a:ext>
              </a:extLst>
            </p:cNvPr>
            <p:cNvCxnSpPr>
              <a:cxnSpLocks/>
            </p:cNvCxnSpPr>
            <p:nvPr/>
          </p:nvCxnSpPr>
          <p:spPr>
            <a:xfrm flipH="1" flipV="1">
              <a:off x="12274340" y="2905347"/>
              <a:ext cx="54345" cy="3497326"/>
            </a:xfrm>
            <a:prstGeom prst="straightConnector1">
              <a:avLst/>
            </a:prstGeom>
            <a:noFill/>
            <a:ln w="76200" cap="rnd" cmpd="sng">
              <a:solidFill>
                <a:srgbClr val="00FFFF"/>
              </a:solidFill>
              <a:prstDash val="solid"/>
              <a:miter/>
              <a:headEnd type="stealth" w="med" len="med"/>
              <a:tailEnd type="none" w="med" len="med"/>
            </a:ln>
          </p:spPr>
        </p:cxnSp>
        <p:cxnSp>
          <p:nvCxnSpPr>
            <p:cNvPr id="35" name="Shape 306">
              <a:extLst>
                <a:ext uri="{FF2B5EF4-FFF2-40B4-BE49-F238E27FC236}">
                  <a16:creationId xmlns:a16="http://schemas.microsoft.com/office/drawing/2014/main" id="{1CF49E27-17F0-1574-0DF4-2FDE2C9B6874}"/>
                </a:ext>
              </a:extLst>
            </p:cNvPr>
            <p:cNvCxnSpPr/>
            <p:nvPr/>
          </p:nvCxnSpPr>
          <p:spPr>
            <a:xfrm rot="10800000">
              <a:off x="13528956" y="2385981"/>
              <a:ext cx="724500" cy="5700"/>
            </a:xfrm>
            <a:prstGeom prst="straightConnector1">
              <a:avLst/>
            </a:prstGeom>
            <a:noFill/>
            <a:ln w="76200" cap="rnd" cmpd="sng">
              <a:solidFill>
                <a:srgbClr val="00FFFF"/>
              </a:solidFill>
              <a:prstDash val="solid"/>
              <a:miter/>
              <a:headEnd type="none" w="med" len="med"/>
              <a:tailEnd type="none" w="med" len="med"/>
            </a:ln>
          </p:spPr>
        </p:cxnSp>
        <p:cxnSp>
          <p:nvCxnSpPr>
            <p:cNvPr id="36" name="Shape 307">
              <a:extLst>
                <a:ext uri="{FF2B5EF4-FFF2-40B4-BE49-F238E27FC236}">
                  <a16:creationId xmlns:a16="http://schemas.microsoft.com/office/drawing/2014/main" id="{A2C26D54-3262-3356-A948-33F974656363}"/>
                </a:ext>
              </a:extLst>
            </p:cNvPr>
            <p:cNvCxnSpPr>
              <a:cxnSpLocks/>
            </p:cNvCxnSpPr>
            <p:nvPr/>
          </p:nvCxnSpPr>
          <p:spPr>
            <a:xfrm flipV="1">
              <a:off x="14276218" y="2376536"/>
              <a:ext cx="5099" cy="461754"/>
            </a:xfrm>
            <a:prstGeom prst="straightConnector1">
              <a:avLst/>
            </a:prstGeom>
            <a:noFill/>
            <a:ln w="50800" cap="rnd" cmpd="sng">
              <a:solidFill>
                <a:srgbClr val="00FFFF"/>
              </a:solidFill>
              <a:prstDash val="solid"/>
              <a:miter/>
              <a:headEnd type="stealth" w="med" len="med"/>
              <a:tailEnd type="none" w="med" len="med"/>
            </a:ln>
          </p:spPr>
        </p:cxnSp>
        <p:cxnSp>
          <p:nvCxnSpPr>
            <p:cNvPr id="37" name="Shape 308">
              <a:extLst>
                <a:ext uri="{FF2B5EF4-FFF2-40B4-BE49-F238E27FC236}">
                  <a16:creationId xmlns:a16="http://schemas.microsoft.com/office/drawing/2014/main" id="{7F2AB182-8215-1B92-5D92-0FB5AFB669EC}"/>
                </a:ext>
              </a:extLst>
            </p:cNvPr>
            <p:cNvCxnSpPr>
              <a:cxnSpLocks/>
            </p:cNvCxnSpPr>
            <p:nvPr/>
          </p:nvCxnSpPr>
          <p:spPr>
            <a:xfrm>
              <a:off x="12402830" y="5902236"/>
              <a:ext cx="1873387" cy="0"/>
            </a:xfrm>
            <a:prstGeom prst="straightConnector1">
              <a:avLst/>
            </a:prstGeom>
            <a:noFill/>
            <a:ln w="76200" cap="rnd" cmpd="sng">
              <a:solidFill>
                <a:srgbClr val="00FFFF"/>
              </a:solidFill>
              <a:prstDash val="solid"/>
              <a:miter/>
              <a:headEnd type="stealth" w="med" len="med"/>
              <a:tailEnd type="none" w="med" len="med"/>
            </a:ln>
          </p:spPr>
        </p:cxnSp>
        <p:sp>
          <p:nvSpPr>
            <p:cNvPr id="38" name="Shape 309">
              <a:extLst>
                <a:ext uri="{FF2B5EF4-FFF2-40B4-BE49-F238E27FC236}">
                  <a16:creationId xmlns:a16="http://schemas.microsoft.com/office/drawing/2014/main" id="{1E44DA54-3749-58A7-B309-05A52A0CE541}"/>
                </a:ext>
              </a:extLst>
            </p:cNvPr>
            <p:cNvSpPr txBox="1"/>
            <p:nvPr/>
          </p:nvSpPr>
          <p:spPr>
            <a:xfrm>
              <a:off x="13365944" y="1667311"/>
              <a:ext cx="1114555" cy="622199"/>
            </a:xfrm>
            <a:prstGeom prst="rect">
              <a:avLst/>
            </a:prstGeom>
            <a:noFill/>
            <a:ln w="9525" cap="flat" cmpd="sng">
              <a:noFill/>
              <a:prstDash val="solid"/>
              <a:round/>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2000" u="none" strike="noStrike" cap="none" dirty="0">
                  <a:solidFill>
                    <a:schemeClr val="lt1"/>
                  </a:solidFill>
                  <a:latin typeface="Consolas" panose="020B0609020204030204" pitchFamily="49" charset="0"/>
                  <a:ea typeface="Arial" charset="0"/>
                  <a:cs typeface="Arial" charset="0"/>
                  <a:sym typeface="Cabin"/>
                </a:rPr>
                <a:t>Yes</a:t>
              </a:r>
            </a:p>
          </p:txBody>
        </p:sp>
        <p:sp>
          <p:nvSpPr>
            <p:cNvPr id="39" name="Shape 310">
              <a:extLst>
                <a:ext uri="{FF2B5EF4-FFF2-40B4-BE49-F238E27FC236}">
                  <a16:creationId xmlns:a16="http://schemas.microsoft.com/office/drawing/2014/main" id="{2F30CCD4-24D0-9145-15E8-BA8FF8263C40}"/>
                </a:ext>
              </a:extLst>
            </p:cNvPr>
            <p:cNvSpPr txBox="1"/>
            <p:nvPr/>
          </p:nvSpPr>
          <p:spPr>
            <a:xfrm>
              <a:off x="13032013" y="3904271"/>
              <a:ext cx="2488410" cy="513352"/>
            </a:xfrm>
            <a:prstGeom prst="rect">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lvl="0" algn="ctr">
                <a:buClr>
                  <a:schemeClr val="lt1"/>
                </a:buClr>
                <a:buSzPct val="25000"/>
              </a:pPr>
              <a:r>
                <a:rPr lang="en-US" sz="2000" u="none" strike="noStrike" cap="none" dirty="0">
                  <a:solidFill>
                    <a:schemeClr val="lt1"/>
                  </a:solidFill>
                  <a:latin typeface="Consolas" panose="020B0609020204030204" pitchFamily="49" charset="0"/>
                  <a:ea typeface="Arial" charset="0"/>
                  <a:cs typeface="Arial" charset="0"/>
                  <a:sym typeface="Cabin"/>
                </a:rPr>
                <a:t>print('Still </a:t>
              </a:r>
              <a:r>
                <a:rPr lang="en-US" sz="2000" dirty="0">
                  <a:solidFill>
                    <a:schemeClr val="lt1"/>
                  </a:solidFill>
                  <a:latin typeface="Consolas" panose="020B0609020204030204" pitchFamily="49" charset="0"/>
                  <a:ea typeface="Arial" charset="0"/>
                  <a:cs typeface="Arial" charset="0"/>
                  <a:sym typeface="Cabin"/>
                </a:rPr>
                <a:t>5')</a:t>
              </a:r>
              <a:endParaRPr lang="en-US" sz="2000" u="none" strike="noStrike" cap="none" dirty="0">
                <a:solidFill>
                  <a:schemeClr val="lt1"/>
                </a:solidFill>
                <a:latin typeface="Consolas" panose="020B0609020204030204" pitchFamily="49" charset="0"/>
                <a:ea typeface="Arial" charset="0"/>
                <a:cs typeface="Arial" charset="0"/>
                <a:sym typeface="Cabin"/>
              </a:endParaRPr>
            </a:p>
          </p:txBody>
        </p:sp>
        <p:sp>
          <p:nvSpPr>
            <p:cNvPr id="40" name="Shape 311">
              <a:extLst>
                <a:ext uri="{FF2B5EF4-FFF2-40B4-BE49-F238E27FC236}">
                  <a16:creationId xmlns:a16="http://schemas.microsoft.com/office/drawing/2014/main" id="{752002B2-3646-B850-C648-9582EFB6F59F}"/>
                </a:ext>
              </a:extLst>
            </p:cNvPr>
            <p:cNvSpPr txBox="1"/>
            <p:nvPr/>
          </p:nvSpPr>
          <p:spPr>
            <a:xfrm>
              <a:off x="13014070" y="4930912"/>
              <a:ext cx="2464796" cy="513348"/>
            </a:xfrm>
            <a:prstGeom prst="rect">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lvl="0" algn="ctr">
                <a:buClr>
                  <a:schemeClr val="lt1"/>
                </a:buClr>
                <a:buSzPct val="25000"/>
              </a:pPr>
              <a:r>
                <a:rPr lang="en-US" sz="2000" u="none" strike="noStrike" cap="none" dirty="0">
                  <a:solidFill>
                    <a:schemeClr val="lt1"/>
                  </a:solidFill>
                  <a:latin typeface="Consolas" panose="020B0609020204030204" pitchFamily="49" charset="0"/>
                  <a:ea typeface="Arial" charset="0"/>
                  <a:cs typeface="Arial" charset="0"/>
                  <a:sym typeface="Cabin"/>
                </a:rPr>
                <a:t>print('Third </a:t>
              </a:r>
              <a:r>
                <a:rPr lang="en-US" sz="2000" dirty="0">
                  <a:solidFill>
                    <a:schemeClr val="lt1"/>
                  </a:solidFill>
                  <a:latin typeface="Consolas" panose="020B0609020204030204" pitchFamily="49" charset="0"/>
                  <a:ea typeface="Arial" charset="0"/>
                  <a:cs typeface="Arial" charset="0"/>
                  <a:sym typeface="Cabin"/>
                </a:rPr>
                <a:t>5')</a:t>
              </a:r>
              <a:endParaRPr lang="en-US" sz="2000" u="none" strike="noStrike" cap="none" dirty="0">
                <a:solidFill>
                  <a:schemeClr val="lt1"/>
                </a:solidFill>
                <a:latin typeface="Consolas" panose="020B0609020204030204" pitchFamily="49" charset="0"/>
                <a:ea typeface="Arial" charset="0"/>
                <a:cs typeface="Arial" charset="0"/>
                <a:sym typeface="Cabin"/>
              </a:endParaRPr>
            </a:p>
          </p:txBody>
        </p:sp>
        <p:sp>
          <p:nvSpPr>
            <p:cNvPr id="41" name="Shape 312">
              <a:extLst>
                <a:ext uri="{FF2B5EF4-FFF2-40B4-BE49-F238E27FC236}">
                  <a16:creationId xmlns:a16="http://schemas.microsoft.com/office/drawing/2014/main" id="{C6E34D60-13D7-6D7B-71E5-E13A2FA92CB3}"/>
                </a:ext>
              </a:extLst>
            </p:cNvPr>
            <p:cNvSpPr txBox="1"/>
            <p:nvPr/>
          </p:nvSpPr>
          <p:spPr>
            <a:xfrm>
              <a:off x="11649207" y="2873023"/>
              <a:ext cx="526277" cy="489795"/>
            </a:xfrm>
            <a:prstGeom prst="rect">
              <a:avLst/>
            </a:prstGeom>
            <a:noFill/>
            <a:ln w="9525" cap="flat" cmpd="sng">
              <a:noFill/>
              <a:prstDash val="solid"/>
              <a:round/>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2000" u="none" strike="noStrike" cap="none" dirty="0">
                  <a:solidFill>
                    <a:schemeClr val="lt1"/>
                  </a:solidFill>
                  <a:latin typeface="Consolas" panose="020B0609020204030204" pitchFamily="49" charset="0"/>
                  <a:ea typeface="Arial" charset="0"/>
                  <a:cs typeface="Arial" charset="0"/>
                  <a:sym typeface="Cabin"/>
                </a:rPr>
                <a:t>No</a:t>
              </a:r>
            </a:p>
          </p:txBody>
        </p:sp>
        <p:sp>
          <p:nvSpPr>
            <p:cNvPr id="42" name="Shape 313">
              <a:extLst>
                <a:ext uri="{FF2B5EF4-FFF2-40B4-BE49-F238E27FC236}">
                  <a16:creationId xmlns:a16="http://schemas.microsoft.com/office/drawing/2014/main" id="{A3B3F0EF-D6A5-C225-E256-153B0481A688}"/>
                </a:ext>
              </a:extLst>
            </p:cNvPr>
            <p:cNvSpPr txBox="1"/>
            <p:nvPr/>
          </p:nvSpPr>
          <p:spPr>
            <a:xfrm>
              <a:off x="13250321" y="2918688"/>
              <a:ext cx="2032107" cy="472292"/>
            </a:xfrm>
            <a:prstGeom prst="rect">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lvl="0" algn="ctr">
                <a:buClr>
                  <a:schemeClr val="lt1"/>
                </a:buClr>
                <a:buSzPct val="25000"/>
              </a:pPr>
              <a:r>
                <a:rPr lang="en-US" sz="2000" u="none" strike="noStrike" cap="none" dirty="0">
                  <a:solidFill>
                    <a:schemeClr val="lt1"/>
                  </a:solidFill>
                  <a:latin typeface="Consolas" panose="020B0609020204030204" pitchFamily="49" charset="0"/>
                  <a:ea typeface="Arial" charset="0"/>
                  <a:cs typeface="Arial" charset="0"/>
                  <a:sym typeface="Cabin"/>
                </a:rPr>
                <a:t>print('Is </a:t>
              </a:r>
              <a:r>
                <a:rPr lang="en-US" sz="2000" dirty="0">
                  <a:solidFill>
                    <a:schemeClr val="lt1"/>
                  </a:solidFill>
                  <a:latin typeface="Consolas" panose="020B0609020204030204" pitchFamily="49" charset="0"/>
                  <a:ea typeface="Arial" charset="0"/>
                  <a:cs typeface="Arial" charset="0"/>
                  <a:sym typeface="Cabin"/>
                </a:rPr>
                <a:t>5’)</a:t>
              </a:r>
              <a:endParaRPr lang="en-US" sz="2000" u="none" strike="noStrike" cap="none" dirty="0">
                <a:solidFill>
                  <a:schemeClr val="lt1"/>
                </a:solidFill>
                <a:latin typeface="Consolas" panose="020B0609020204030204" pitchFamily="49" charset="0"/>
                <a:ea typeface="Arial" charset="0"/>
                <a:cs typeface="Arial" charset="0"/>
                <a:sym typeface="Cabin"/>
              </a:endParaRPr>
            </a:p>
          </p:txBody>
        </p:sp>
        <p:cxnSp>
          <p:nvCxnSpPr>
            <p:cNvPr id="43" name="Shape 314">
              <a:extLst>
                <a:ext uri="{FF2B5EF4-FFF2-40B4-BE49-F238E27FC236}">
                  <a16:creationId xmlns:a16="http://schemas.microsoft.com/office/drawing/2014/main" id="{EAB033D3-79AD-FB69-86DB-A7A616E3E8B4}"/>
                </a:ext>
              </a:extLst>
            </p:cNvPr>
            <p:cNvCxnSpPr>
              <a:cxnSpLocks/>
              <a:endCxn id="42" idx="2"/>
            </p:cNvCxnSpPr>
            <p:nvPr/>
          </p:nvCxnSpPr>
          <p:spPr>
            <a:xfrm flipH="1" flipV="1">
              <a:off x="14266375" y="3390981"/>
              <a:ext cx="4144" cy="476800"/>
            </a:xfrm>
            <a:prstGeom prst="straightConnector1">
              <a:avLst/>
            </a:prstGeom>
            <a:noFill/>
            <a:ln w="76200" cap="rnd" cmpd="sng">
              <a:solidFill>
                <a:srgbClr val="00FFFF"/>
              </a:solidFill>
              <a:prstDash val="solid"/>
              <a:miter/>
              <a:headEnd type="stealth" w="med" len="med"/>
              <a:tailEnd type="none" w="med" len="med"/>
            </a:ln>
          </p:spPr>
        </p:cxnSp>
        <p:cxnSp>
          <p:nvCxnSpPr>
            <p:cNvPr id="44" name="Shape 315">
              <a:extLst>
                <a:ext uri="{FF2B5EF4-FFF2-40B4-BE49-F238E27FC236}">
                  <a16:creationId xmlns:a16="http://schemas.microsoft.com/office/drawing/2014/main" id="{C1D062FE-1A61-D955-933E-4980ECB5DFDE}"/>
                </a:ext>
              </a:extLst>
            </p:cNvPr>
            <p:cNvCxnSpPr/>
            <p:nvPr/>
          </p:nvCxnSpPr>
          <p:spPr>
            <a:xfrm rot="10800000" flipH="1">
              <a:off x="14285380" y="4507937"/>
              <a:ext cx="10200" cy="355500"/>
            </a:xfrm>
            <a:prstGeom prst="straightConnector1">
              <a:avLst/>
            </a:prstGeom>
            <a:noFill/>
            <a:ln w="76200" cap="rnd" cmpd="sng">
              <a:solidFill>
                <a:srgbClr val="00FFFF"/>
              </a:solidFill>
              <a:prstDash val="solid"/>
              <a:miter/>
              <a:headEnd type="stealth" w="med" len="med"/>
              <a:tailEnd type="none" w="med" len="med"/>
            </a:ln>
          </p:spPr>
        </p:cxnSp>
        <p:cxnSp>
          <p:nvCxnSpPr>
            <p:cNvPr id="45" name="Shape 316">
              <a:extLst>
                <a:ext uri="{FF2B5EF4-FFF2-40B4-BE49-F238E27FC236}">
                  <a16:creationId xmlns:a16="http://schemas.microsoft.com/office/drawing/2014/main" id="{E0575824-CCD0-DB12-F1EE-731BDAAE8174}"/>
                </a:ext>
              </a:extLst>
            </p:cNvPr>
            <p:cNvCxnSpPr/>
            <p:nvPr/>
          </p:nvCxnSpPr>
          <p:spPr>
            <a:xfrm rot="10800000" flipH="1">
              <a:off x="14295580" y="5520768"/>
              <a:ext cx="10200" cy="355500"/>
            </a:xfrm>
            <a:prstGeom prst="straightConnector1">
              <a:avLst/>
            </a:prstGeom>
            <a:noFill/>
            <a:ln w="76200" cap="rnd" cmpd="sng">
              <a:solidFill>
                <a:srgbClr val="00FFFF"/>
              </a:solidFill>
              <a:prstDash val="solid"/>
              <a:miter/>
              <a:headEnd type="stealth" w="med" len="med"/>
              <a:tailEnd type="none" w="med" len="med"/>
            </a:ln>
          </p:spPr>
        </p:cxn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44039-F169-B1EB-FF02-4C74D13EB16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3D3C35D-73E7-BE5C-7BE5-3989836A46FD}"/>
              </a:ext>
            </a:extLst>
          </p:cNvPr>
          <p:cNvSpPr/>
          <p:nvPr/>
        </p:nvSpPr>
        <p:spPr>
          <a:xfrm>
            <a:off x="0" y="0"/>
            <a:ext cx="12188952" cy="128016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600" b="1">
                <a:solidFill>
                  <a:srgbClr val="FFFFFF"/>
                </a:solidFill>
              </a:rPr>
              <a:t>🔀 if / elif / else</a:t>
            </a:r>
          </a:p>
        </p:txBody>
      </p:sp>
      <p:sp>
        <p:nvSpPr>
          <p:cNvPr id="6" name="Shape 298">
            <a:extLst>
              <a:ext uri="{FF2B5EF4-FFF2-40B4-BE49-F238E27FC236}">
                <a16:creationId xmlns:a16="http://schemas.microsoft.com/office/drawing/2014/main" id="{12798A40-4D9B-BC9A-0BB4-937D6A7F8C9B}"/>
              </a:ext>
            </a:extLst>
          </p:cNvPr>
          <p:cNvSpPr txBox="1">
            <a:spLocks noGrp="1"/>
          </p:cNvSpPr>
          <p:nvPr/>
        </p:nvSpPr>
        <p:spPr>
          <a:xfrm>
            <a:off x="518845" y="1366405"/>
            <a:ext cx="5357299" cy="646813"/>
          </a:xfrm>
          <a:prstGeom prst="rect">
            <a:avLst/>
          </a:prstGeom>
          <a:noFill/>
          <a:ln>
            <a:noFill/>
          </a:ln>
        </p:spPr>
        <p:txBody>
          <a:bodyPr lIns="38100" tIns="38100" rIns="38100" bIns="38100" anchor="ctr" anchorCtr="0">
            <a:noAutofit/>
          </a:bodyPr>
          <a:lstStyle>
            <a:defPPr marR="0" lvl="0" algn="l" rtl="0">
              <a:lnSpc>
                <a:spcPct val="100000"/>
              </a:lnSpc>
              <a:spcBef>
                <a:spcPts val="0"/>
              </a:spcBef>
              <a:spcAft>
                <a:spcPts val="0"/>
              </a:spcAft>
            </a:defPPr>
            <a:lvl1pPr marL="0" marR="0" lvl="0" indent="0" algn="ctr" rtl="0">
              <a:lnSpc>
                <a:spcPct val="100000"/>
              </a:lnSpc>
              <a:spcBef>
                <a:spcPts val="0"/>
              </a:spcBef>
              <a:spcAft>
                <a:spcPts val="0"/>
              </a:spcAft>
              <a:buNone/>
              <a:defRPr sz="4400" b="0" i="0" u="none" strike="noStrike" cap="none">
                <a:solidFill>
                  <a:srgbClr val="000000"/>
                </a:solidFill>
                <a:latin typeface="Arial"/>
                <a:ea typeface="Arial"/>
                <a:cs typeface="Arial"/>
                <a:sym typeface="Arial"/>
              </a:defRPr>
            </a:lvl1pPr>
            <a:lvl2pPr marL="0" marR="0" lvl="1" indent="0" algn="ctr" rtl="0">
              <a:spcBef>
                <a:spcPts val="0"/>
              </a:spcBef>
              <a:spcAft>
                <a:spcPts val="0"/>
              </a:spcAft>
              <a:defRPr/>
            </a:lvl2pPr>
            <a:lvl3pPr marL="0" marR="0" lvl="2" indent="0" algn="ctr" rtl="0">
              <a:spcBef>
                <a:spcPts val="0"/>
              </a:spcBef>
              <a:spcAft>
                <a:spcPts val="0"/>
              </a:spcAft>
              <a:defRPr/>
            </a:lvl3pPr>
            <a:lvl4pPr marL="0" marR="0" lvl="3" indent="0" algn="ctr" rtl="0">
              <a:spcBef>
                <a:spcPts val="0"/>
              </a:spcBef>
              <a:spcAft>
                <a:spcPts val="0"/>
              </a:spcAft>
              <a:defRPr/>
            </a:lvl4pPr>
            <a:lvl5pPr marL="0" marR="0" lvl="4" indent="0" algn="ctr" rtl="0">
              <a:spcBef>
                <a:spcPts val="0"/>
              </a:spcBef>
              <a:spcAft>
                <a:spcPts val="0"/>
              </a:spcAft>
              <a:defRPr/>
            </a:lvl5pPr>
            <a:lvl6pPr marL="457200" marR="0" lvl="5" indent="0" algn="ctr" rtl="0">
              <a:spcBef>
                <a:spcPts val="0"/>
              </a:spcBef>
              <a:spcAft>
                <a:spcPts val="0"/>
              </a:spcAft>
              <a:defRPr/>
            </a:lvl6pPr>
            <a:lvl7pPr marL="914400" marR="0" lvl="6" indent="0" algn="ctr" rtl="0">
              <a:spcBef>
                <a:spcPts val="0"/>
              </a:spcBef>
              <a:spcAft>
                <a:spcPts val="0"/>
              </a:spcAft>
              <a:defRPr/>
            </a:lvl7pPr>
            <a:lvl8pPr marL="1371600" marR="0" lvl="7" indent="0" algn="ctr" rtl="0">
              <a:spcBef>
                <a:spcPts val="0"/>
              </a:spcBef>
              <a:spcAft>
                <a:spcPts val="0"/>
              </a:spcAft>
              <a:defRPr/>
            </a:lvl8pPr>
            <a:lvl9pPr marL="1828800" marR="0" lvl="8" indent="0" algn="ctr" rtl="0">
              <a:spcBef>
                <a:spcPts val="0"/>
              </a:spcBef>
              <a:spcAft>
                <a:spcPts val="0"/>
              </a:spcAft>
              <a:defRPr/>
            </a:lvl9pPr>
          </a:lstStyle>
          <a:p>
            <a:pPr marL="0" marR="0" lvl="0" indent="0" algn="ctr" rtl="0">
              <a:lnSpc>
                <a:spcPct val="100000"/>
              </a:lnSpc>
              <a:spcBef>
                <a:spcPts val="0"/>
              </a:spcBef>
              <a:spcAft>
                <a:spcPts val="0"/>
              </a:spcAft>
              <a:buClr>
                <a:srgbClr val="FFFF00"/>
              </a:buClr>
              <a:buSzPct val="25000"/>
              <a:buFont typeface="Cabin"/>
              <a:buNone/>
            </a:pPr>
            <a:r>
              <a:rPr lang="en-US" sz="3200" b="1" dirty="0">
                <a:solidFill>
                  <a:schemeClr val="tx1"/>
                </a:solidFill>
                <a:latin typeface="+mj-lt"/>
                <a:ea typeface="Arial" charset="0"/>
                <a:cs typeface="Arial" charset="0"/>
                <a:sym typeface="Cabin"/>
              </a:rPr>
              <a:t>Two</a:t>
            </a:r>
            <a:r>
              <a:rPr lang="en-US" sz="3200" b="1" u="none" strike="noStrike" cap="none" dirty="0">
                <a:solidFill>
                  <a:schemeClr val="tx1"/>
                </a:solidFill>
                <a:latin typeface="+mj-lt"/>
                <a:ea typeface="Arial" charset="0"/>
                <a:cs typeface="Arial" charset="0"/>
                <a:sym typeface="Cabin"/>
              </a:rPr>
              <a:t>-Way Decisions with else:</a:t>
            </a:r>
          </a:p>
        </p:txBody>
      </p:sp>
      <p:sp>
        <p:nvSpPr>
          <p:cNvPr id="7" name="Shape 299">
            <a:extLst>
              <a:ext uri="{FF2B5EF4-FFF2-40B4-BE49-F238E27FC236}">
                <a16:creationId xmlns:a16="http://schemas.microsoft.com/office/drawing/2014/main" id="{C89C2A3E-5DA3-7120-B6AC-7AEE040A5A08}"/>
              </a:ext>
            </a:extLst>
          </p:cNvPr>
          <p:cNvSpPr txBox="1"/>
          <p:nvPr/>
        </p:nvSpPr>
        <p:spPr>
          <a:xfrm>
            <a:off x="646535" y="2013218"/>
            <a:ext cx="10895754" cy="4286706"/>
          </a:xfrm>
          <a:prstGeom prst="rect">
            <a:avLst/>
          </a:prstGeom>
          <a:solidFill>
            <a:schemeClr val="tx1"/>
          </a:solidFill>
          <a:ln>
            <a:noFill/>
          </a:ln>
        </p:spPr>
        <p:txBody>
          <a:bodyPr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lvl="2">
              <a:buClr>
                <a:srgbClr val="FF7F00"/>
              </a:buClr>
              <a:buSzPct val="25000"/>
            </a:pPr>
            <a:r>
              <a:rPr lang="en-US" sz="2000" dirty="0">
                <a:solidFill>
                  <a:srgbClr val="FFFFFF"/>
                </a:solidFill>
                <a:latin typeface="Consolas" panose="020B0609020204030204" pitchFamily="49" charset="0"/>
                <a:ea typeface="Courier"/>
                <a:cs typeface="Courier"/>
                <a:sym typeface="Courier New"/>
              </a:rPr>
              <a:t>x = 4</a:t>
            </a:r>
            <a:endParaRPr lang="en-US" sz="2000" dirty="0">
              <a:solidFill>
                <a:schemeClr val="lt1"/>
              </a:solidFill>
              <a:latin typeface="Consolas" panose="020B0609020204030204" pitchFamily="49" charset="0"/>
              <a:ea typeface="Courier"/>
              <a:cs typeface="Courier"/>
              <a:sym typeface="Courier New"/>
            </a:endParaRPr>
          </a:p>
          <a:p>
            <a:pPr lvl="2">
              <a:buClr>
                <a:srgbClr val="00FF00"/>
              </a:buClr>
              <a:buSzPct val="25000"/>
            </a:pPr>
            <a:r>
              <a:rPr lang="en-US" sz="2000" dirty="0">
                <a:solidFill>
                  <a:srgbClr val="00FF00"/>
                </a:solidFill>
                <a:latin typeface="Consolas" panose="020B0609020204030204" pitchFamily="49" charset="0"/>
                <a:ea typeface="Courier"/>
                <a:cs typeface="Courier"/>
                <a:sym typeface="Courier New"/>
              </a:rPr>
              <a:t>if x &gt; 2 :</a:t>
            </a:r>
          </a:p>
          <a:p>
            <a:pPr lvl="2">
              <a:buClr>
                <a:srgbClr val="00FF00"/>
              </a:buClr>
              <a:buSzPct val="25000"/>
            </a:pPr>
            <a:r>
              <a:rPr lang="en-US" sz="2000" dirty="0">
                <a:solidFill>
                  <a:srgbClr val="00FF00"/>
                </a:solidFill>
                <a:latin typeface="Consolas" panose="020B0609020204030204" pitchFamily="49" charset="0"/>
                <a:ea typeface="Courier"/>
                <a:cs typeface="Courier"/>
                <a:sym typeface="Courier New"/>
              </a:rPr>
              <a:t>    print('Bigger')</a:t>
            </a:r>
          </a:p>
          <a:p>
            <a:pPr lvl="2">
              <a:buClr>
                <a:srgbClr val="FF00FF"/>
              </a:buClr>
              <a:buSzPct val="25000"/>
            </a:pPr>
            <a:r>
              <a:rPr lang="en-US" sz="2000" dirty="0">
                <a:solidFill>
                  <a:srgbClr val="FF9900"/>
                </a:solidFill>
                <a:latin typeface="Consolas" panose="020B0609020204030204" pitchFamily="49" charset="0"/>
                <a:ea typeface="Courier"/>
                <a:cs typeface="Courier"/>
                <a:sym typeface="Courier New"/>
              </a:rPr>
              <a:t>else :</a:t>
            </a:r>
          </a:p>
          <a:p>
            <a:pPr lvl="2">
              <a:buClr>
                <a:srgbClr val="FF00FF"/>
              </a:buClr>
              <a:buSzPct val="25000"/>
            </a:pPr>
            <a:r>
              <a:rPr lang="en-US" sz="2000" dirty="0">
                <a:solidFill>
                  <a:srgbClr val="FF9900"/>
                </a:solidFill>
                <a:latin typeface="Consolas" panose="020B0609020204030204" pitchFamily="49" charset="0"/>
                <a:ea typeface="Courier"/>
                <a:cs typeface="Courier"/>
                <a:sym typeface="Courier New"/>
              </a:rPr>
              <a:t>    print('Smaller')</a:t>
            </a:r>
            <a:endParaRPr lang="en-US" sz="2000" dirty="0">
              <a:solidFill>
                <a:srgbClr val="00FFFF"/>
              </a:solidFill>
              <a:latin typeface="Consolas" panose="020B0609020204030204" pitchFamily="49" charset="0"/>
              <a:ea typeface="Courier"/>
              <a:cs typeface="Courier"/>
              <a:sym typeface="Courier New"/>
            </a:endParaRPr>
          </a:p>
          <a:p>
            <a:pPr lvl="2">
              <a:buClr>
                <a:srgbClr val="FF7F00"/>
              </a:buClr>
              <a:buSzPct val="25000"/>
            </a:pPr>
            <a:r>
              <a:rPr lang="en-US" sz="2000" dirty="0">
                <a:solidFill>
                  <a:srgbClr val="00FFFF"/>
                </a:solidFill>
                <a:latin typeface="Consolas" panose="020B0609020204030204" pitchFamily="49" charset="0"/>
                <a:ea typeface="Courier"/>
                <a:cs typeface="Courier"/>
                <a:sym typeface="Courier New"/>
              </a:rPr>
              <a:t>print('All done')</a:t>
            </a:r>
          </a:p>
          <a:p>
            <a:pPr lvl="0">
              <a:buClr>
                <a:srgbClr val="FF7F00"/>
              </a:buClr>
              <a:buSzPct val="25000"/>
            </a:pPr>
            <a:endParaRPr lang="en-US" sz="2000" i="0" u="none" strike="noStrike" cap="none" dirty="0">
              <a:solidFill>
                <a:srgbClr val="FF9900"/>
              </a:solidFill>
              <a:latin typeface="Consolas" panose="020B0609020204030204" pitchFamily="49" charset="0"/>
              <a:ea typeface="Courier"/>
              <a:cs typeface="Courier"/>
              <a:sym typeface="Courier New"/>
            </a:endParaRPr>
          </a:p>
        </p:txBody>
      </p:sp>
      <p:pic>
        <p:nvPicPr>
          <p:cNvPr id="24" name="Picture 23">
            <a:extLst>
              <a:ext uri="{FF2B5EF4-FFF2-40B4-BE49-F238E27FC236}">
                <a16:creationId xmlns:a16="http://schemas.microsoft.com/office/drawing/2014/main" id="{CE3114A9-5F8E-1515-57E1-7AD901592319}"/>
              </a:ext>
            </a:extLst>
          </p:cNvPr>
          <p:cNvPicPr>
            <a:picLocks noChangeAspect="1"/>
          </p:cNvPicPr>
          <p:nvPr/>
        </p:nvPicPr>
        <p:blipFill>
          <a:blip r:embed="rId2"/>
          <a:stretch>
            <a:fillRect/>
          </a:stretch>
        </p:blipFill>
        <p:spPr>
          <a:xfrm>
            <a:off x="5821902" y="2013218"/>
            <a:ext cx="5720387" cy="4286706"/>
          </a:xfrm>
          <a:prstGeom prst="rect">
            <a:avLst/>
          </a:prstGeom>
        </p:spPr>
      </p:pic>
    </p:spTree>
    <p:extLst>
      <p:ext uri="{BB962C8B-B14F-4D97-AF65-F5344CB8AC3E}">
        <p14:creationId xmlns:p14="http://schemas.microsoft.com/office/powerpoint/2010/main" val="4131900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28016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600" b="1">
                <a:solidFill>
                  <a:srgbClr val="FFFFFF"/>
                </a:solidFill>
              </a:rPr>
              <a:t>🔀 More if / elif / else Examples</a:t>
            </a:r>
          </a:p>
        </p:txBody>
      </p:sp>
      <p:sp>
        <p:nvSpPr>
          <p:cNvPr id="3" name="Rectangle 2"/>
          <p:cNvSpPr/>
          <p:nvPr/>
        </p:nvSpPr>
        <p:spPr>
          <a:xfrm>
            <a:off x="731520" y="1463040"/>
            <a:ext cx="10515600" cy="3906317"/>
          </a:xfrm>
          <a:prstGeom prst="rect">
            <a:avLst/>
          </a:prstGeom>
          <a:solidFill>
            <a:srgbClr val="1E1E1E"/>
          </a:solidFill>
          <a:ln>
            <a:solidFill>
              <a:srgbClr val="555555"/>
            </a:solidFill>
          </a:ln>
        </p:spPr>
        <p:style>
          <a:lnRef idx="1">
            <a:schemeClr val="accent1"/>
          </a:lnRef>
          <a:fillRef idx="3">
            <a:schemeClr val="accent1"/>
          </a:fillRef>
          <a:effectRef idx="2">
            <a:schemeClr val="accent1"/>
          </a:effectRef>
          <a:fontRef idx="minor">
            <a:schemeClr val="lt1"/>
          </a:fontRef>
        </p:style>
        <p:txBody>
          <a:bodyPr wrap="none" rtlCol="0" anchor="ctr"/>
          <a:lstStyle/>
          <a:p>
            <a:pPr>
              <a:lnSpc>
                <a:spcPts val="1425"/>
              </a:lnSpc>
              <a:buNone/>
            </a:pPr>
            <a:r>
              <a:rPr lang="en-US" sz="1400" b="0" dirty="0">
                <a:solidFill>
                  <a:srgbClr val="676F7D"/>
                </a:solidFill>
                <a:effectLst/>
                <a:latin typeface="Consolas" panose="020B0609020204030204" pitchFamily="49" charset="0"/>
              </a:rPr>
              <a:t># Grade classifier</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score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56B6C2"/>
                </a:solidFill>
                <a:effectLst/>
                <a:latin typeface="Consolas" panose="020B0609020204030204" pitchFamily="49" charset="0"/>
              </a:rPr>
              <a:t>int</a:t>
            </a:r>
            <a:r>
              <a:rPr lang="en-US" sz="1400" b="0" dirty="0">
                <a:solidFill>
                  <a:srgbClr val="BBBBBB"/>
                </a:solidFill>
                <a:effectLst/>
                <a:latin typeface="Consolas" panose="020B0609020204030204" pitchFamily="49" charset="0"/>
              </a:rPr>
              <a:t>(</a:t>
            </a:r>
            <a:r>
              <a:rPr lang="en-US" sz="1400" b="0" dirty="0">
                <a:solidFill>
                  <a:srgbClr val="98C379"/>
                </a:solidFill>
                <a:effectLst/>
                <a:latin typeface="Consolas" panose="020B0609020204030204" pitchFamily="49" charset="0"/>
              </a:rPr>
              <a:t>input</a:t>
            </a:r>
            <a:r>
              <a:rPr lang="en-US" sz="1400" b="0" dirty="0">
                <a:solidFill>
                  <a:srgbClr val="BBBBBB"/>
                </a:solidFill>
                <a:effectLst/>
                <a:latin typeface="Consolas" panose="020B0609020204030204" pitchFamily="49" charset="0"/>
              </a:rPr>
              <a:t>(</a:t>
            </a:r>
            <a:r>
              <a:rPr lang="en-US" sz="1400" b="0" dirty="0">
                <a:solidFill>
                  <a:srgbClr val="E5C07B"/>
                </a:solidFill>
                <a:effectLst/>
                <a:latin typeface="Consolas" panose="020B0609020204030204" pitchFamily="49" charset="0"/>
              </a:rPr>
              <a:t>"Enter your score: "</a:t>
            </a:r>
            <a:r>
              <a:rPr lang="en-US" sz="1400" b="0" dirty="0">
                <a:solidFill>
                  <a:srgbClr val="BBBBBB"/>
                </a:solidFill>
                <a:effectLst/>
                <a:latin typeface="Consolas" panose="020B0609020204030204" pitchFamily="49" charset="0"/>
              </a:rPr>
              <a:t>))</a:t>
            </a:r>
          </a:p>
          <a:p>
            <a:pPr>
              <a:lnSpc>
                <a:spcPts val="1425"/>
              </a:lnSpc>
              <a:buNone/>
            </a:pPr>
            <a:r>
              <a:rPr lang="en-US" sz="1400" b="0" dirty="0">
                <a:solidFill>
                  <a:srgbClr val="BBBBBB"/>
                </a:solidFill>
                <a:effectLst/>
                <a:latin typeface="Consolas" panose="020B0609020204030204" pitchFamily="49" charset="0"/>
              </a:rPr>
              <a:t> </a:t>
            </a:r>
          </a:p>
          <a:p>
            <a:pPr>
              <a:lnSpc>
                <a:spcPts val="1425"/>
              </a:lnSpc>
              <a:buNone/>
            </a:pPr>
            <a:r>
              <a:rPr lang="en-US" sz="1400" b="0" dirty="0">
                <a:solidFill>
                  <a:srgbClr val="E06C75"/>
                </a:solidFill>
                <a:effectLst/>
                <a:latin typeface="Consolas" panose="020B0609020204030204" pitchFamily="49" charset="0"/>
              </a:rPr>
              <a:t>if</a:t>
            </a:r>
            <a:r>
              <a:rPr lang="en-US" sz="1400" b="0" dirty="0">
                <a:solidFill>
                  <a:srgbClr val="BBBBBB"/>
                </a:solidFill>
                <a:effectLst/>
                <a:latin typeface="Consolas" panose="020B0609020204030204" pitchFamily="49" charset="0"/>
              </a:rPr>
              <a:t> score </a:t>
            </a:r>
            <a:r>
              <a:rPr lang="en-US" sz="1400" b="0" dirty="0">
                <a:solidFill>
                  <a:srgbClr val="E06C75"/>
                </a:solidFill>
                <a:effectLst/>
                <a:latin typeface="Consolas" panose="020B0609020204030204" pitchFamily="49" charset="0"/>
              </a:rPr>
              <a:t>&gt;=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90</a:t>
            </a:r>
            <a:r>
              <a:rPr lang="en-US" sz="1400" b="0" dirty="0">
                <a:solidFill>
                  <a:srgbClr val="ABB2BF"/>
                </a:solidFill>
                <a:effectLst/>
                <a:latin typeface="Consolas" panose="020B0609020204030204" pitchFamily="49" charset="0"/>
              </a:rPr>
              <a:t>:</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    grade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E5C07B"/>
                </a:solidFill>
                <a:effectLst/>
                <a:latin typeface="Consolas" panose="020B0609020204030204" pitchFamily="49" charset="0"/>
              </a:rPr>
              <a:t>"A"</a:t>
            </a:r>
            <a:endParaRPr lang="en-US" sz="1400" b="0" dirty="0">
              <a:solidFill>
                <a:srgbClr val="BBBBBB"/>
              </a:solidFill>
              <a:effectLst/>
              <a:latin typeface="Consolas" panose="020B0609020204030204" pitchFamily="49" charset="0"/>
            </a:endParaRPr>
          </a:p>
          <a:p>
            <a:pPr>
              <a:lnSpc>
                <a:spcPts val="1425"/>
              </a:lnSpc>
              <a:buNone/>
            </a:pPr>
            <a:r>
              <a:rPr lang="en-US" sz="1400" b="0" dirty="0" err="1">
                <a:solidFill>
                  <a:srgbClr val="E06C75"/>
                </a:solidFill>
                <a:effectLst/>
                <a:latin typeface="Consolas" panose="020B0609020204030204" pitchFamily="49" charset="0"/>
              </a:rPr>
              <a:t>elif</a:t>
            </a:r>
            <a:r>
              <a:rPr lang="en-US" sz="1400" b="0" dirty="0">
                <a:solidFill>
                  <a:srgbClr val="BBBBBB"/>
                </a:solidFill>
                <a:effectLst/>
                <a:latin typeface="Consolas" panose="020B0609020204030204" pitchFamily="49" charset="0"/>
              </a:rPr>
              <a:t> score </a:t>
            </a:r>
            <a:r>
              <a:rPr lang="en-US" sz="1400" b="0" dirty="0">
                <a:solidFill>
                  <a:srgbClr val="E06C75"/>
                </a:solidFill>
                <a:effectLst/>
                <a:latin typeface="Consolas" panose="020B0609020204030204" pitchFamily="49" charset="0"/>
              </a:rPr>
              <a:t>&gt;=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80</a:t>
            </a:r>
            <a:r>
              <a:rPr lang="en-US" sz="1400" b="0" dirty="0">
                <a:solidFill>
                  <a:srgbClr val="ABB2BF"/>
                </a:solidFill>
                <a:effectLst/>
                <a:latin typeface="Consolas" panose="020B0609020204030204" pitchFamily="49" charset="0"/>
              </a:rPr>
              <a:t>:</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    grade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E5C07B"/>
                </a:solidFill>
                <a:effectLst/>
                <a:latin typeface="Consolas" panose="020B0609020204030204" pitchFamily="49" charset="0"/>
              </a:rPr>
              <a:t>"B"</a:t>
            </a:r>
            <a:endParaRPr lang="en-US" sz="1400" b="0" dirty="0">
              <a:solidFill>
                <a:srgbClr val="BBBBBB"/>
              </a:solidFill>
              <a:effectLst/>
              <a:latin typeface="Consolas" panose="020B0609020204030204" pitchFamily="49" charset="0"/>
            </a:endParaRPr>
          </a:p>
          <a:p>
            <a:pPr>
              <a:lnSpc>
                <a:spcPts val="1425"/>
              </a:lnSpc>
              <a:buNone/>
            </a:pPr>
            <a:r>
              <a:rPr lang="en-US" sz="1400" b="0" dirty="0" err="1">
                <a:solidFill>
                  <a:srgbClr val="E06C75"/>
                </a:solidFill>
                <a:effectLst/>
                <a:latin typeface="Consolas" panose="020B0609020204030204" pitchFamily="49" charset="0"/>
              </a:rPr>
              <a:t>elif</a:t>
            </a:r>
            <a:r>
              <a:rPr lang="en-US" sz="1400" b="0" dirty="0">
                <a:solidFill>
                  <a:srgbClr val="BBBBBB"/>
                </a:solidFill>
                <a:effectLst/>
                <a:latin typeface="Consolas" panose="020B0609020204030204" pitchFamily="49" charset="0"/>
              </a:rPr>
              <a:t> score </a:t>
            </a:r>
            <a:r>
              <a:rPr lang="en-US" sz="1400" b="0" dirty="0">
                <a:solidFill>
                  <a:srgbClr val="E06C75"/>
                </a:solidFill>
                <a:effectLst/>
                <a:latin typeface="Consolas" panose="020B0609020204030204" pitchFamily="49" charset="0"/>
              </a:rPr>
              <a:t>&gt;=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70</a:t>
            </a:r>
            <a:r>
              <a:rPr lang="en-US" sz="1400" b="0" dirty="0">
                <a:solidFill>
                  <a:srgbClr val="ABB2BF"/>
                </a:solidFill>
                <a:effectLst/>
                <a:latin typeface="Consolas" panose="020B0609020204030204" pitchFamily="49" charset="0"/>
              </a:rPr>
              <a:t>:</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    grade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E5C07B"/>
                </a:solidFill>
                <a:effectLst/>
                <a:latin typeface="Consolas" panose="020B0609020204030204" pitchFamily="49" charset="0"/>
              </a:rPr>
              <a:t>"C"</a:t>
            </a:r>
            <a:endParaRPr lang="en-US" sz="1400" b="0" dirty="0">
              <a:solidFill>
                <a:srgbClr val="BBBBBB"/>
              </a:solidFill>
              <a:effectLst/>
              <a:latin typeface="Consolas" panose="020B0609020204030204" pitchFamily="49" charset="0"/>
            </a:endParaRPr>
          </a:p>
          <a:p>
            <a:pPr>
              <a:lnSpc>
                <a:spcPts val="1425"/>
              </a:lnSpc>
              <a:buNone/>
            </a:pPr>
            <a:r>
              <a:rPr lang="en-US" sz="1400" b="0" dirty="0" err="1">
                <a:solidFill>
                  <a:srgbClr val="E06C75"/>
                </a:solidFill>
                <a:effectLst/>
                <a:latin typeface="Consolas" panose="020B0609020204030204" pitchFamily="49" charset="0"/>
              </a:rPr>
              <a:t>elif</a:t>
            </a:r>
            <a:r>
              <a:rPr lang="en-US" sz="1400" b="0" dirty="0">
                <a:solidFill>
                  <a:srgbClr val="BBBBBB"/>
                </a:solidFill>
                <a:effectLst/>
                <a:latin typeface="Consolas" panose="020B0609020204030204" pitchFamily="49" charset="0"/>
              </a:rPr>
              <a:t> score </a:t>
            </a:r>
            <a:r>
              <a:rPr lang="en-US" sz="1400" b="0" dirty="0">
                <a:solidFill>
                  <a:srgbClr val="E06C75"/>
                </a:solidFill>
                <a:effectLst/>
                <a:latin typeface="Consolas" panose="020B0609020204030204" pitchFamily="49" charset="0"/>
              </a:rPr>
              <a:t>&gt;=</a:t>
            </a:r>
            <a:r>
              <a:rPr lang="en-US" sz="1400" b="0" dirty="0">
                <a:solidFill>
                  <a:srgbClr val="BBBBBB"/>
                </a:solidFill>
                <a:effectLst/>
                <a:latin typeface="Consolas" panose="020B0609020204030204" pitchFamily="49" charset="0"/>
              </a:rPr>
              <a:t> </a:t>
            </a:r>
            <a:r>
              <a:rPr lang="en-US" sz="1400" b="0" dirty="0">
                <a:solidFill>
                  <a:srgbClr val="C678DD"/>
                </a:solidFill>
                <a:effectLst/>
                <a:latin typeface="Consolas" panose="020B0609020204030204" pitchFamily="49" charset="0"/>
              </a:rPr>
              <a:t>60</a:t>
            </a:r>
            <a:r>
              <a:rPr lang="en-US" sz="1400" b="0" dirty="0">
                <a:solidFill>
                  <a:srgbClr val="ABB2BF"/>
                </a:solidFill>
                <a:effectLst/>
                <a:latin typeface="Consolas" panose="020B0609020204030204" pitchFamily="49" charset="0"/>
              </a:rPr>
              <a:t>:</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    grade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E5C07B"/>
                </a:solidFill>
                <a:effectLst/>
                <a:latin typeface="Consolas" panose="020B0609020204030204" pitchFamily="49" charset="0"/>
              </a:rPr>
              <a:t>"D"</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E06C75"/>
                </a:solidFill>
                <a:effectLst/>
                <a:latin typeface="Consolas" panose="020B0609020204030204" pitchFamily="49" charset="0"/>
              </a:rPr>
              <a:t>else</a:t>
            </a:r>
            <a:r>
              <a:rPr lang="en-US" sz="1400" b="0" dirty="0">
                <a:solidFill>
                  <a:srgbClr val="ABB2BF"/>
                </a:solidFill>
                <a:effectLst/>
                <a:latin typeface="Consolas" panose="020B0609020204030204" pitchFamily="49" charset="0"/>
              </a:rPr>
              <a:t>:</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    grade </a:t>
            </a:r>
            <a:r>
              <a:rPr lang="en-US" sz="1400" b="0" dirty="0">
                <a:solidFill>
                  <a:srgbClr val="E06C75"/>
                </a:solidFill>
                <a:effectLst/>
                <a:latin typeface="Consolas" panose="020B0609020204030204" pitchFamily="49" charset="0"/>
              </a:rPr>
              <a:t>=</a:t>
            </a:r>
            <a:r>
              <a:rPr lang="en-US" sz="1400" b="0" dirty="0">
                <a:solidFill>
                  <a:srgbClr val="BBBBBB"/>
                </a:solidFill>
                <a:effectLst/>
                <a:latin typeface="Consolas" panose="020B0609020204030204" pitchFamily="49" charset="0"/>
              </a:rPr>
              <a:t> </a:t>
            </a:r>
            <a:r>
              <a:rPr lang="en-US" sz="1400" b="0" dirty="0">
                <a:solidFill>
                  <a:srgbClr val="E5C07B"/>
                </a:solidFill>
                <a:effectLst/>
                <a:latin typeface="Consolas" panose="020B0609020204030204" pitchFamily="49" charset="0"/>
              </a:rPr>
              <a:t>"F"</a:t>
            </a:r>
            <a:endParaRPr lang="en-US" sz="1400" b="0" dirty="0">
              <a:solidFill>
                <a:srgbClr val="BBBBBB"/>
              </a:solidFill>
              <a:effectLst/>
              <a:latin typeface="Consolas" panose="020B0609020204030204" pitchFamily="49" charset="0"/>
            </a:endParaRPr>
          </a:p>
          <a:p>
            <a:pPr>
              <a:lnSpc>
                <a:spcPts val="1425"/>
              </a:lnSpc>
              <a:buNone/>
            </a:pPr>
            <a:r>
              <a:rPr lang="en-US" sz="1400" b="0" dirty="0">
                <a:solidFill>
                  <a:srgbClr val="BBBBBB"/>
                </a:solidFill>
                <a:effectLst/>
                <a:latin typeface="Consolas" panose="020B0609020204030204" pitchFamily="49" charset="0"/>
              </a:rPr>
              <a:t> </a:t>
            </a:r>
          </a:p>
          <a:p>
            <a:pPr>
              <a:lnSpc>
                <a:spcPts val="1425"/>
              </a:lnSpc>
              <a:buNone/>
            </a:pPr>
            <a:r>
              <a:rPr lang="en-US" sz="1400" b="0" dirty="0">
                <a:solidFill>
                  <a:srgbClr val="98C379"/>
                </a:solidFill>
                <a:effectLst/>
                <a:latin typeface="Consolas" panose="020B0609020204030204" pitchFamily="49" charset="0"/>
              </a:rPr>
              <a:t>print</a:t>
            </a:r>
            <a:r>
              <a:rPr lang="en-US" sz="1400" b="0" dirty="0">
                <a:solidFill>
                  <a:srgbClr val="BBBBBB"/>
                </a:solidFill>
                <a:effectLst/>
                <a:latin typeface="Consolas" panose="020B0609020204030204" pitchFamily="49" charset="0"/>
              </a:rPr>
              <a:t>(</a:t>
            </a:r>
            <a:r>
              <a:rPr lang="en-US" sz="1400" b="0" dirty="0" err="1">
                <a:solidFill>
                  <a:srgbClr val="56B6C2"/>
                </a:solidFill>
                <a:effectLst/>
                <a:latin typeface="Consolas" panose="020B0609020204030204" pitchFamily="49" charset="0"/>
              </a:rPr>
              <a:t>f</a:t>
            </a:r>
            <a:r>
              <a:rPr lang="en-US" sz="1400" b="0" dirty="0" err="1">
                <a:solidFill>
                  <a:srgbClr val="E5C07B"/>
                </a:solidFill>
                <a:effectLst/>
                <a:latin typeface="Consolas" panose="020B0609020204030204" pitchFamily="49" charset="0"/>
              </a:rPr>
              <a:t>"Your</a:t>
            </a:r>
            <a:r>
              <a:rPr lang="en-US" sz="1400" b="0" dirty="0">
                <a:solidFill>
                  <a:srgbClr val="E5C07B"/>
                </a:solidFill>
                <a:effectLst/>
                <a:latin typeface="Consolas" panose="020B0609020204030204" pitchFamily="49" charset="0"/>
              </a:rPr>
              <a:t> grade is: </a:t>
            </a:r>
            <a:r>
              <a:rPr lang="en-US" sz="1400" b="0" dirty="0">
                <a:solidFill>
                  <a:srgbClr val="56B6C2"/>
                </a:solidFill>
                <a:effectLst/>
                <a:latin typeface="Consolas" panose="020B0609020204030204" pitchFamily="49" charset="0"/>
              </a:rPr>
              <a:t>{</a:t>
            </a:r>
            <a:r>
              <a:rPr lang="en-US" sz="1400" b="0" dirty="0">
                <a:solidFill>
                  <a:srgbClr val="BBBBBB"/>
                </a:solidFill>
                <a:effectLst/>
                <a:latin typeface="Consolas" panose="020B0609020204030204" pitchFamily="49" charset="0"/>
              </a:rPr>
              <a:t>grade</a:t>
            </a:r>
            <a:r>
              <a:rPr lang="en-US" sz="1400" b="0" dirty="0">
                <a:solidFill>
                  <a:srgbClr val="56B6C2"/>
                </a:solidFill>
                <a:effectLst/>
                <a:latin typeface="Consolas" panose="020B0609020204030204" pitchFamily="49" charset="0"/>
              </a:rPr>
              <a:t>}</a:t>
            </a:r>
            <a:r>
              <a:rPr lang="en-US" sz="1400" b="0" dirty="0">
                <a:solidFill>
                  <a:srgbClr val="E5C07B"/>
                </a:solidFill>
                <a:effectLst/>
                <a:latin typeface="Consolas" panose="020B0609020204030204" pitchFamily="49" charset="0"/>
              </a:rPr>
              <a:t>"</a:t>
            </a:r>
            <a:r>
              <a:rPr lang="en-US" sz="1400" b="0" dirty="0">
                <a:solidFill>
                  <a:srgbClr val="BBBBBB"/>
                </a:solidFill>
                <a:effectLst/>
                <a:latin typeface="Consolas" panose="020B0609020204030204" pitchFamily="49" charset="0"/>
              </a:rPr>
              <a:t>)</a:t>
            </a:r>
          </a:p>
        </p:txBody>
      </p:sp>
      <p:sp>
        <p:nvSpPr>
          <p:cNvPr id="4" name="TextBox 3"/>
          <p:cNvSpPr txBox="1"/>
          <p:nvPr/>
        </p:nvSpPr>
        <p:spPr>
          <a:xfrm>
            <a:off x="731520" y="5989320"/>
            <a:ext cx="10515600" cy="457200"/>
          </a:xfrm>
          <a:prstGeom prst="rect">
            <a:avLst/>
          </a:prstGeom>
          <a:noFill/>
        </p:spPr>
        <p:txBody>
          <a:bodyPr wrap="square">
            <a:spAutoFit/>
          </a:bodyPr>
          <a:lstStyle/>
          <a:p>
            <a:pPr algn="l"/>
            <a:r>
              <a:rPr sz="2000" b="1" i="0">
                <a:solidFill>
                  <a:srgbClr val="1F3964"/>
                </a:solidFill>
              </a:rPr>
              <a:t>★ Key rule: Conditions are checked top to bottom — first True wins!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AFB7E-8DF6-50F9-2B5C-32CF38D3324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A3360A5-0BE3-D206-8232-080A9812639F}"/>
              </a:ext>
            </a:extLst>
          </p:cNvPr>
          <p:cNvSpPr/>
          <p:nvPr/>
        </p:nvSpPr>
        <p:spPr>
          <a:xfrm>
            <a:off x="0" y="0"/>
            <a:ext cx="12188952" cy="128016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600" b="1" dirty="0">
                <a:solidFill>
                  <a:srgbClr val="FFFFFF"/>
                </a:solidFill>
              </a:rPr>
              <a:t>🔀 </a:t>
            </a:r>
            <a:r>
              <a:rPr lang="en-US" sz="3600" b="1" dirty="0">
                <a:solidFill>
                  <a:srgbClr val="FFFFFF"/>
                </a:solidFill>
              </a:rPr>
              <a:t>Nested decisions</a:t>
            </a:r>
          </a:p>
        </p:txBody>
      </p:sp>
      <p:sp>
        <p:nvSpPr>
          <p:cNvPr id="6" name="Shape 298">
            <a:extLst>
              <a:ext uri="{FF2B5EF4-FFF2-40B4-BE49-F238E27FC236}">
                <a16:creationId xmlns:a16="http://schemas.microsoft.com/office/drawing/2014/main" id="{6B57112B-12EA-0401-06D6-EEA0D0C8CAB0}"/>
              </a:ext>
            </a:extLst>
          </p:cNvPr>
          <p:cNvSpPr txBox="1">
            <a:spLocks noGrp="1"/>
          </p:cNvSpPr>
          <p:nvPr/>
        </p:nvSpPr>
        <p:spPr>
          <a:xfrm>
            <a:off x="518846" y="1366405"/>
            <a:ext cx="3131440" cy="646813"/>
          </a:xfrm>
          <a:prstGeom prst="rect">
            <a:avLst/>
          </a:prstGeom>
          <a:noFill/>
          <a:ln>
            <a:noFill/>
          </a:ln>
        </p:spPr>
        <p:txBody>
          <a:bodyPr lIns="38100" tIns="38100" rIns="38100" bIns="38100" anchor="ctr" anchorCtr="0">
            <a:noAutofit/>
          </a:bodyPr>
          <a:lstStyle>
            <a:defPPr marR="0" lvl="0" algn="l" rtl="0">
              <a:lnSpc>
                <a:spcPct val="100000"/>
              </a:lnSpc>
              <a:spcBef>
                <a:spcPts val="0"/>
              </a:spcBef>
              <a:spcAft>
                <a:spcPts val="0"/>
              </a:spcAft>
            </a:defPPr>
            <a:lvl1pPr marL="0" marR="0" lvl="0" indent="0" algn="ctr" rtl="0">
              <a:lnSpc>
                <a:spcPct val="100000"/>
              </a:lnSpc>
              <a:spcBef>
                <a:spcPts val="0"/>
              </a:spcBef>
              <a:spcAft>
                <a:spcPts val="0"/>
              </a:spcAft>
              <a:buNone/>
              <a:defRPr sz="4400" b="0" i="0" u="none" strike="noStrike" cap="none">
                <a:solidFill>
                  <a:srgbClr val="000000"/>
                </a:solidFill>
                <a:latin typeface="Arial"/>
                <a:ea typeface="Arial"/>
                <a:cs typeface="Arial"/>
                <a:sym typeface="Arial"/>
              </a:defRPr>
            </a:lvl1pPr>
            <a:lvl2pPr marL="0" marR="0" lvl="1" indent="0" algn="ctr" rtl="0">
              <a:spcBef>
                <a:spcPts val="0"/>
              </a:spcBef>
              <a:spcAft>
                <a:spcPts val="0"/>
              </a:spcAft>
              <a:defRPr/>
            </a:lvl2pPr>
            <a:lvl3pPr marL="0" marR="0" lvl="2" indent="0" algn="ctr" rtl="0">
              <a:spcBef>
                <a:spcPts val="0"/>
              </a:spcBef>
              <a:spcAft>
                <a:spcPts val="0"/>
              </a:spcAft>
              <a:defRPr/>
            </a:lvl3pPr>
            <a:lvl4pPr marL="0" marR="0" lvl="3" indent="0" algn="ctr" rtl="0">
              <a:spcBef>
                <a:spcPts val="0"/>
              </a:spcBef>
              <a:spcAft>
                <a:spcPts val="0"/>
              </a:spcAft>
              <a:defRPr/>
            </a:lvl4pPr>
            <a:lvl5pPr marL="0" marR="0" lvl="4" indent="0" algn="ctr" rtl="0">
              <a:spcBef>
                <a:spcPts val="0"/>
              </a:spcBef>
              <a:spcAft>
                <a:spcPts val="0"/>
              </a:spcAft>
              <a:defRPr/>
            </a:lvl5pPr>
            <a:lvl6pPr marL="457200" marR="0" lvl="5" indent="0" algn="ctr" rtl="0">
              <a:spcBef>
                <a:spcPts val="0"/>
              </a:spcBef>
              <a:spcAft>
                <a:spcPts val="0"/>
              </a:spcAft>
              <a:defRPr/>
            </a:lvl6pPr>
            <a:lvl7pPr marL="914400" marR="0" lvl="6" indent="0" algn="ctr" rtl="0">
              <a:spcBef>
                <a:spcPts val="0"/>
              </a:spcBef>
              <a:spcAft>
                <a:spcPts val="0"/>
              </a:spcAft>
              <a:defRPr/>
            </a:lvl7pPr>
            <a:lvl8pPr marL="1371600" marR="0" lvl="7" indent="0" algn="ctr" rtl="0">
              <a:spcBef>
                <a:spcPts val="0"/>
              </a:spcBef>
              <a:spcAft>
                <a:spcPts val="0"/>
              </a:spcAft>
              <a:defRPr/>
            </a:lvl8pPr>
            <a:lvl9pPr marL="1828800" marR="0" lvl="8" indent="0" algn="ctr" rtl="0">
              <a:spcBef>
                <a:spcPts val="0"/>
              </a:spcBef>
              <a:spcAft>
                <a:spcPts val="0"/>
              </a:spcAft>
              <a:defRPr/>
            </a:lvl9pPr>
          </a:lstStyle>
          <a:p>
            <a:pPr marL="0" marR="0" lvl="0" indent="0" algn="ctr" rtl="0">
              <a:lnSpc>
                <a:spcPct val="100000"/>
              </a:lnSpc>
              <a:spcBef>
                <a:spcPts val="0"/>
              </a:spcBef>
              <a:spcAft>
                <a:spcPts val="0"/>
              </a:spcAft>
              <a:buClr>
                <a:srgbClr val="FFFF00"/>
              </a:buClr>
              <a:buSzPct val="25000"/>
              <a:buFont typeface="Cabin"/>
              <a:buNone/>
            </a:pPr>
            <a:r>
              <a:rPr lang="en-US" sz="3200" b="1" dirty="0">
                <a:solidFill>
                  <a:schemeClr val="tx1"/>
                </a:solidFill>
                <a:latin typeface="+mj-lt"/>
                <a:ea typeface="Arial" charset="0"/>
                <a:cs typeface="Arial" charset="0"/>
                <a:sym typeface="Cabin"/>
              </a:rPr>
              <a:t>Nested decisions</a:t>
            </a:r>
            <a:endParaRPr lang="en-US" sz="3200" b="1" u="none" strike="noStrike" cap="none" dirty="0">
              <a:solidFill>
                <a:schemeClr val="tx1"/>
              </a:solidFill>
              <a:latin typeface="+mj-lt"/>
              <a:ea typeface="Arial" charset="0"/>
              <a:cs typeface="Arial" charset="0"/>
              <a:sym typeface="Cabin"/>
            </a:endParaRPr>
          </a:p>
        </p:txBody>
      </p:sp>
      <p:sp>
        <p:nvSpPr>
          <p:cNvPr id="7" name="Shape 299">
            <a:extLst>
              <a:ext uri="{FF2B5EF4-FFF2-40B4-BE49-F238E27FC236}">
                <a16:creationId xmlns:a16="http://schemas.microsoft.com/office/drawing/2014/main" id="{3450FC17-201E-7199-9C6F-E057B296F896}"/>
              </a:ext>
            </a:extLst>
          </p:cNvPr>
          <p:cNvSpPr txBox="1"/>
          <p:nvPr/>
        </p:nvSpPr>
        <p:spPr>
          <a:xfrm>
            <a:off x="646535" y="2013218"/>
            <a:ext cx="10895754" cy="4286706"/>
          </a:xfrm>
          <a:prstGeom prst="rect">
            <a:avLst/>
          </a:prstGeom>
          <a:solidFill>
            <a:schemeClr val="tx1"/>
          </a:solidFill>
          <a:ln>
            <a:noFill/>
          </a:ln>
        </p:spPr>
        <p:txBody>
          <a:bodyPr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lvl="1">
              <a:buClr>
                <a:schemeClr val="lt1"/>
              </a:buClr>
              <a:buSzPct val="25000"/>
            </a:pPr>
            <a:r>
              <a:rPr lang="en-US" sz="2000" dirty="0">
                <a:solidFill>
                  <a:schemeClr val="lt1"/>
                </a:solidFill>
                <a:latin typeface="Consolas" panose="020B0609020204030204" pitchFamily="49" charset="0"/>
                <a:ea typeface="Courier"/>
                <a:cs typeface="Courier"/>
                <a:sym typeface="Courier New"/>
              </a:rPr>
              <a:t>x = 42</a:t>
            </a:r>
          </a:p>
          <a:p>
            <a:pPr lvl="1">
              <a:buClr>
                <a:srgbClr val="00FF00"/>
              </a:buClr>
              <a:buSzPct val="25000"/>
            </a:pPr>
            <a:r>
              <a:rPr lang="en-US" sz="2000" dirty="0">
                <a:solidFill>
                  <a:srgbClr val="00FF00"/>
                </a:solidFill>
                <a:latin typeface="Consolas" panose="020B0609020204030204" pitchFamily="49" charset="0"/>
                <a:ea typeface="Courier"/>
                <a:cs typeface="Courier"/>
                <a:sym typeface="Courier New"/>
              </a:rPr>
              <a:t>if x &gt; 1 :</a:t>
            </a:r>
          </a:p>
          <a:p>
            <a:pPr lvl="1">
              <a:buClr>
                <a:srgbClr val="00FF00"/>
              </a:buClr>
              <a:buSzPct val="25000"/>
            </a:pPr>
            <a:r>
              <a:rPr lang="en-US" sz="2000" dirty="0">
                <a:solidFill>
                  <a:srgbClr val="00FF00"/>
                </a:solidFill>
                <a:latin typeface="Consolas" panose="020B0609020204030204" pitchFamily="49" charset="0"/>
                <a:ea typeface="Courier"/>
                <a:cs typeface="Courier"/>
                <a:sym typeface="Courier New"/>
              </a:rPr>
              <a:t>    print('More than one')</a:t>
            </a:r>
          </a:p>
          <a:p>
            <a:pPr lvl="1">
              <a:buClr>
                <a:schemeClr val="lt1"/>
              </a:buClr>
              <a:buSzPct val="25000"/>
            </a:pPr>
            <a:r>
              <a:rPr lang="en-US" sz="2000" dirty="0">
                <a:solidFill>
                  <a:schemeClr val="lt1"/>
                </a:solidFill>
                <a:latin typeface="Consolas" panose="020B0609020204030204" pitchFamily="49" charset="0"/>
                <a:ea typeface="Courier"/>
                <a:cs typeface="Courier"/>
                <a:sym typeface="Courier New"/>
              </a:rPr>
              <a:t>   </a:t>
            </a:r>
            <a:r>
              <a:rPr lang="en-US" sz="2000" dirty="0">
                <a:solidFill>
                  <a:srgbClr val="FF00FF"/>
                </a:solidFill>
                <a:latin typeface="Consolas" panose="020B0609020204030204" pitchFamily="49" charset="0"/>
                <a:ea typeface="Courier"/>
                <a:cs typeface="Courier"/>
                <a:sym typeface="Courier New"/>
              </a:rPr>
              <a:t> </a:t>
            </a:r>
            <a:r>
              <a:rPr lang="en-US" sz="2000" dirty="0">
                <a:solidFill>
                  <a:srgbClr val="FF9900"/>
                </a:solidFill>
                <a:latin typeface="Consolas" panose="020B0609020204030204" pitchFamily="49" charset="0"/>
                <a:ea typeface="Courier"/>
                <a:cs typeface="Courier"/>
                <a:sym typeface="Courier New"/>
              </a:rPr>
              <a:t>if x &lt; 100 : </a:t>
            </a:r>
          </a:p>
          <a:p>
            <a:pPr lvl="1">
              <a:buClr>
                <a:srgbClr val="FF00FF"/>
              </a:buClr>
              <a:buSzPct val="25000"/>
            </a:pPr>
            <a:r>
              <a:rPr lang="en-US" sz="2000" dirty="0">
                <a:solidFill>
                  <a:srgbClr val="FF9900"/>
                </a:solidFill>
                <a:latin typeface="Consolas" panose="020B0609020204030204" pitchFamily="49" charset="0"/>
                <a:ea typeface="Courier"/>
                <a:cs typeface="Courier"/>
                <a:sym typeface="Courier New"/>
              </a:rPr>
              <a:t>        print('Less than 100') </a:t>
            </a:r>
          </a:p>
          <a:p>
            <a:pPr lvl="1">
              <a:buClr>
                <a:srgbClr val="FF7F00"/>
              </a:buClr>
              <a:buSzPct val="25000"/>
            </a:pPr>
            <a:r>
              <a:rPr lang="en-US" sz="2000" dirty="0">
                <a:solidFill>
                  <a:srgbClr val="00FFFF"/>
                </a:solidFill>
                <a:latin typeface="Consolas" panose="020B0609020204030204" pitchFamily="49" charset="0"/>
                <a:ea typeface="Courier"/>
                <a:cs typeface="Courier"/>
                <a:sym typeface="Courier New"/>
              </a:rPr>
              <a:t>print('All done')</a:t>
            </a:r>
          </a:p>
          <a:p>
            <a:pPr lvl="0">
              <a:buClr>
                <a:srgbClr val="FF7F00"/>
              </a:buClr>
              <a:buSzPct val="25000"/>
            </a:pPr>
            <a:endParaRPr lang="en-US" sz="2000" i="0" u="none" strike="noStrike" cap="none" dirty="0">
              <a:solidFill>
                <a:srgbClr val="FF9900"/>
              </a:solidFill>
              <a:latin typeface="Consolas" panose="020B0609020204030204" pitchFamily="49" charset="0"/>
              <a:ea typeface="Courier"/>
              <a:cs typeface="Courier"/>
              <a:sym typeface="Courier New"/>
            </a:endParaRPr>
          </a:p>
        </p:txBody>
      </p:sp>
      <p:pic>
        <p:nvPicPr>
          <p:cNvPr id="8" name="Picture 7">
            <a:extLst>
              <a:ext uri="{FF2B5EF4-FFF2-40B4-BE49-F238E27FC236}">
                <a16:creationId xmlns:a16="http://schemas.microsoft.com/office/drawing/2014/main" id="{2E73FE8C-6DA4-C5DF-FADD-996A2867E625}"/>
              </a:ext>
            </a:extLst>
          </p:cNvPr>
          <p:cNvPicPr>
            <a:picLocks noChangeAspect="1"/>
          </p:cNvPicPr>
          <p:nvPr/>
        </p:nvPicPr>
        <p:blipFill>
          <a:blip r:embed="rId2"/>
          <a:stretch>
            <a:fillRect/>
          </a:stretch>
        </p:blipFill>
        <p:spPr>
          <a:xfrm>
            <a:off x="6760175" y="2408238"/>
            <a:ext cx="4150843" cy="3496666"/>
          </a:xfrm>
          <a:prstGeom prst="rect">
            <a:avLst/>
          </a:prstGeom>
        </p:spPr>
      </p:pic>
    </p:spTree>
    <p:extLst>
      <p:ext uri="{BB962C8B-B14F-4D97-AF65-F5344CB8AC3E}">
        <p14:creationId xmlns:p14="http://schemas.microsoft.com/office/powerpoint/2010/main" val="27524637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39A5D-7965-5BB8-6048-B07219F2509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B40B135-4348-13B3-E98D-99CEF2C43C0A}"/>
              </a:ext>
            </a:extLst>
          </p:cNvPr>
          <p:cNvSpPr/>
          <p:nvPr/>
        </p:nvSpPr>
        <p:spPr>
          <a:xfrm>
            <a:off x="0" y="0"/>
            <a:ext cx="12188952" cy="128016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600" b="1" dirty="0">
                <a:solidFill>
                  <a:srgbClr val="FFFFFF"/>
                </a:solidFill>
              </a:rPr>
              <a:t>📝 </a:t>
            </a:r>
            <a:r>
              <a:rPr lang="en-US" sz="3600" b="1" dirty="0">
                <a:solidFill>
                  <a:srgbClr val="FFFFFF"/>
                </a:solidFill>
              </a:rPr>
              <a:t>Indentation</a:t>
            </a:r>
            <a:endParaRPr sz="3600" b="1" dirty="0">
              <a:solidFill>
                <a:srgbClr val="FFFFFF"/>
              </a:solidFill>
            </a:endParaRPr>
          </a:p>
        </p:txBody>
      </p:sp>
      <p:sp>
        <p:nvSpPr>
          <p:cNvPr id="5" name="TextBox 4">
            <a:extLst>
              <a:ext uri="{FF2B5EF4-FFF2-40B4-BE49-F238E27FC236}">
                <a16:creationId xmlns:a16="http://schemas.microsoft.com/office/drawing/2014/main" id="{C90DA66E-8E50-128D-0907-03ED6CFF044A}"/>
              </a:ext>
            </a:extLst>
          </p:cNvPr>
          <p:cNvSpPr txBox="1"/>
          <p:nvPr/>
        </p:nvSpPr>
        <p:spPr>
          <a:xfrm>
            <a:off x="836612" y="1303461"/>
            <a:ext cx="10515600" cy="1477328"/>
          </a:xfrm>
          <a:prstGeom prst="rect">
            <a:avLst/>
          </a:prstGeom>
          <a:noFill/>
        </p:spPr>
        <p:txBody>
          <a:bodyPr wrap="square">
            <a:spAutoFit/>
          </a:bodyPr>
          <a:lstStyle/>
          <a:p>
            <a:pPr marL="285750" indent="-285750">
              <a:buFont typeface="Arial" panose="020B0604020202020204" pitchFamily="34" charset="0"/>
              <a:buChar char="•"/>
            </a:pPr>
            <a:r>
              <a:rPr lang="en-US" sz="1800" b="1" dirty="0">
                <a:solidFill>
                  <a:srgbClr val="444444"/>
                </a:solidFill>
              </a:rPr>
              <a:t>Increase indent</a:t>
            </a:r>
            <a:r>
              <a:rPr lang="en-US" b="1" dirty="0">
                <a:solidFill>
                  <a:srgbClr val="444444"/>
                </a:solidFill>
              </a:rPr>
              <a:t>ation</a:t>
            </a:r>
            <a:r>
              <a:rPr lang="en-US" sz="1800" dirty="0">
                <a:solidFill>
                  <a:srgbClr val="444444"/>
                </a:solidFill>
              </a:rPr>
              <a:t> after an if statement (after : )</a:t>
            </a:r>
          </a:p>
          <a:p>
            <a:pPr marL="285750" indent="-285750">
              <a:buFont typeface="Arial" panose="020B0604020202020204" pitchFamily="34" charset="0"/>
              <a:buChar char="•"/>
            </a:pPr>
            <a:r>
              <a:rPr lang="en-US" sz="1800" b="1" dirty="0">
                <a:solidFill>
                  <a:srgbClr val="444444"/>
                </a:solidFill>
              </a:rPr>
              <a:t>Maintain indentation </a:t>
            </a:r>
            <a:r>
              <a:rPr lang="en-US" sz="1800" dirty="0">
                <a:solidFill>
                  <a:srgbClr val="444444"/>
                </a:solidFill>
              </a:rPr>
              <a:t>to indicate the scope of the block (which lines are affected by the if)</a:t>
            </a:r>
          </a:p>
          <a:p>
            <a:pPr marL="285750" indent="-285750">
              <a:buFont typeface="Arial" panose="020B0604020202020204" pitchFamily="34" charset="0"/>
              <a:buChar char="•"/>
            </a:pPr>
            <a:r>
              <a:rPr lang="en-US" sz="1800" b="1" dirty="0">
                <a:solidFill>
                  <a:srgbClr val="444444"/>
                </a:solidFill>
              </a:rPr>
              <a:t>Reduce indentation </a:t>
            </a:r>
            <a:r>
              <a:rPr lang="en-US" sz="1800" dirty="0">
                <a:solidFill>
                  <a:srgbClr val="444444"/>
                </a:solidFill>
              </a:rPr>
              <a:t>back to the level of the if statement to indicate the end of the block</a:t>
            </a:r>
          </a:p>
          <a:p>
            <a:pPr marL="285750" indent="-285750">
              <a:buFont typeface="Arial" panose="020B0604020202020204" pitchFamily="34" charset="0"/>
              <a:buChar char="•"/>
            </a:pPr>
            <a:r>
              <a:rPr lang="en-US" sz="1800" dirty="0">
                <a:solidFill>
                  <a:srgbClr val="444444"/>
                </a:solidFill>
              </a:rPr>
              <a:t>Blank lines are ignored - they do not affect indentation</a:t>
            </a:r>
          </a:p>
          <a:p>
            <a:pPr marL="285750" indent="-285750">
              <a:buFont typeface="Arial" panose="020B0604020202020204" pitchFamily="34" charset="0"/>
              <a:buChar char="•"/>
            </a:pPr>
            <a:r>
              <a:rPr lang="en-US" sz="1800" dirty="0">
                <a:solidFill>
                  <a:srgbClr val="444444"/>
                </a:solidFill>
              </a:rPr>
              <a:t>Comments on a line by themselves are ignored with regard to indentation</a:t>
            </a:r>
          </a:p>
        </p:txBody>
      </p:sp>
      <p:sp>
        <p:nvSpPr>
          <p:cNvPr id="12" name="Shape 343">
            <a:extLst>
              <a:ext uri="{FF2B5EF4-FFF2-40B4-BE49-F238E27FC236}">
                <a16:creationId xmlns:a16="http://schemas.microsoft.com/office/drawing/2014/main" id="{D99ED02C-4B48-CEB1-FB9E-C04BA1A8F754}"/>
              </a:ext>
            </a:extLst>
          </p:cNvPr>
          <p:cNvSpPr txBox="1"/>
          <p:nvPr/>
        </p:nvSpPr>
        <p:spPr>
          <a:xfrm>
            <a:off x="836613" y="2743200"/>
            <a:ext cx="10515600" cy="4062396"/>
          </a:xfrm>
          <a:prstGeom prst="rect">
            <a:avLst/>
          </a:prstGeom>
          <a:solidFill>
            <a:srgbClr val="282C34"/>
          </a:solidFill>
          <a:ln w="12700" cap="rnd" cmpd="sng">
            <a:noFill/>
            <a:prstDash val="solid"/>
            <a:miter/>
            <a:headEnd type="none" w="med" len="med"/>
            <a:tailEnd type="none" w="med" len="med"/>
          </a:ln>
        </p:spPr>
        <p:txBody>
          <a:bodyPr lIns="0" tIns="0" rIns="0" bIns="0" anchor="ctr" anchorCtr="0">
            <a:noAutofit/>
          </a:bodyPr>
          <a:lstStyle/>
          <a:p>
            <a:pPr lvl="1">
              <a:lnSpc>
                <a:spcPts val="1425"/>
              </a:lnSpc>
            </a:pPr>
            <a:r>
              <a:rPr lang="en-US" b="0" dirty="0">
                <a:solidFill>
                  <a:srgbClr val="BBBBBB"/>
                </a:solidFill>
                <a:effectLst/>
                <a:latin typeface="Consolas" panose="020B0609020204030204" pitchFamily="49" charset="0"/>
              </a:rPr>
              <a:t>x </a:t>
            </a:r>
            <a:r>
              <a:rPr lang="en-US" b="0" dirty="0">
                <a:solidFill>
                  <a:srgbClr val="E06C75"/>
                </a:solidFill>
                <a:effectLst/>
                <a:latin typeface="Consolas" panose="020B0609020204030204" pitchFamily="49" charset="0"/>
              </a:rPr>
              <a:t>=</a:t>
            </a:r>
            <a:r>
              <a:rPr lang="en-US" b="0" dirty="0">
                <a:solidFill>
                  <a:srgbClr val="BBBBBB"/>
                </a:solidFill>
                <a:effectLst/>
                <a:latin typeface="Consolas" panose="020B0609020204030204" pitchFamily="49" charset="0"/>
              </a:rPr>
              <a:t> </a:t>
            </a:r>
            <a:r>
              <a:rPr lang="en-US" b="0" dirty="0">
                <a:solidFill>
                  <a:srgbClr val="C678DD"/>
                </a:solidFill>
                <a:effectLst/>
                <a:latin typeface="Consolas" panose="020B0609020204030204" pitchFamily="49" charset="0"/>
              </a:rPr>
              <a:t>5</a:t>
            </a:r>
          </a:p>
          <a:p>
            <a:pPr lvl="1">
              <a:lnSpc>
                <a:spcPts val="1425"/>
              </a:lnSpc>
            </a:pPr>
            <a:endParaRPr lang="en-US" b="0" dirty="0">
              <a:solidFill>
                <a:srgbClr val="BBBBBB"/>
              </a:solidFill>
              <a:effectLst/>
              <a:latin typeface="Consolas" panose="020B0609020204030204" pitchFamily="49" charset="0"/>
            </a:endParaRPr>
          </a:p>
          <a:p>
            <a:pPr lvl="1">
              <a:lnSpc>
                <a:spcPts val="1425"/>
              </a:lnSpc>
            </a:pPr>
            <a:r>
              <a:rPr lang="en-US" b="0" dirty="0">
                <a:solidFill>
                  <a:srgbClr val="E06C75"/>
                </a:solidFill>
                <a:effectLst/>
                <a:latin typeface="Consolas" panose="020B0609020204030204" pitchFamily="49" charset="0"/>
              </a:rPr>
              <a:t>if</a:t>
            </a:r>
            <a:r>
              <a:rPr lang="en-US" b="0" dirty="0">
                <a:solidFill>
                  <a:srgbClr val="BBBBBB"/>
                </a:solidFill>
                <a:effectLst/>
                <a:latin typeface="Consolas" panose="020B0609020204030204" pitchFamily="49" charset="0"/>
              </a:rPr>
              <a:t> x </a:t>
            </a:r>
            <a:r>
              <a:rPr lang="en-US" b="0" dirty="0">
                <a:solidFill>
                  <a:srgbClr val="E06C75"/>
                </a:solidFill>
                <a:effectLst/>
                <a:latin typeface="Consolas" panose="020B0609020204030204" pitchFamily="49" charset="0"/>
              </a:rPr>
              <a:t>&gt;</a:t>
            </a:r>
            <a:r>
              <a:rPr lang="en-US" b="0" dirty="0">
                <a:solidFill>
                  <a:srgbClr val="BBBBBB"/>
                </a:solidFill>
                <a:effectLst/>
                <a:latin typeface="Consolas" panose="020B0609020204030204" pitchFamily="49" charset="0"/>
              </a:rPr>
              <a:t> </a:t>
            </a:r>
            <a:r>
              <a:rPr lang="en-US" b="0" dirty="0">
                <a:solidFill>
                  <a:srgbClr val="C678DD"/>
                </a:solidFill>
                <a:effectLst/>
                <a:latin typeface="Consolas" panose="020B0609020204030204" pitchFamily="49" charset="0"/>
              </a:rPr>
              <a:t>2</a:t>
            </a:r>
            <a:r>
              <a:rPr lang="en-US" b="0" dirty="0">
                <a:solidFill>
                  <a:srgbClr val="BBBBBB"/>
                </a:solidFill>
                <a:effectLst/>
                <a:latin typeface="Consolas" panose="020B0609020204030204" pitchFamily="49" charset="0"/>
              </a:rPr>
              <a:t> </a:t>
            </a:r>
            <a:r>
              <a:rPr lang="en-US" b="0" dirty="0">
                <a:solidFill>
                  <a:srgbClr val="ABB2BF"/>
                </a:solidFill>
                <a:effectLst/>
                <a:latin typeface="Consolas" panose="020B0609020204030204" pitchFamily="49" charset="0"/>
              </a:rPr>
              <a:t>:</a:t>
            </a:r>
          </a:p>
          <a:p>
            <a:pPr lvl="1">
              <a:lnSpc>
                <a:spcPts val="1425"/>
              </a:lnSpc>
            </a:pPr>
            <a:endParaRPr lang="en-US" b="0" dirty="0">
              <a:solidFill>
                <a:srgbClr val="BBBBBB"/>
              </a:solidFill>
              <a:effectLst/>
              <a:latin typeface="Consolas" panose="020B0609020204030204" pitchFamily="49" charset="0"/>
            </a:endParaRPr>
          </a:p>
          <a:p>
            <a:pPr lvl="1">
              <a:lnSpc>
                <a:spcPts val="1425"/>
              </a:lnSpc>
            </a:pPr>
            <a:r>
              <a:rPr lang="en-US" b="0" dirty="0">
                <a:solidFill>
                  <a:srgbClr val="BBBBBB"/>
                </a:solidFill>
                <a:effectLst/>
                <a:latin typeface="Consolas" panose="020B0609020204030204" pitchFamily="49" charset="0"/>
              </a:rPr>
              <a:t>    </a:t>
            </a:r>
            <a:r>
              <a:rPr lang="en-US" b="0" dirty="0">
                <a:solidFill>
                  <a:srgbClr val="98C379"/>
                </a:solidFill>
                <a:effectLst/>
                <a:latin typeface="Consolas" panose="020B0609020204030204" pitchFamily="49" charset="0"/>
              </a:rPr>
              <a:t>print</a:t>
            </a:r>
            <a:r>
              <a:rPr lang="en-US" b="0" dirty="0">
                <a:solidFill>
                  <a:srgbClr val="BBBBBB"/>
                </a:solidFill>
                <a:effectLst/>
                <a:latin typeface="Consolas" panose="020B0609020204030204" pitchFamily="49" charset="0"/>
              </a:rPr>
              <a:t>(</a:t>
            </a:r>
            <a:r>
              <a:rPr lang="en-US" b="0" dirty="0">
                <a:solidFill>
                  <a:srgbClr val="E5C07B"/>
                </a:solidFill>
                <a:effectLst/>
                <a:latin typeface="Consolas" panose="020B0609020204030204" pitchFamily="49" charset="0"/>
              </a:rPr>
              <a:t>'Bigger than 2’</a:t>
            </a:r>
            <a:r>
              <a:rPr lang="en-US" b="0" dirty="0">
                <a:solidFill>
                  <a:srgbClr val="BBBBBB"/>
                </a:solidFill>
                <a:effectLst/>
                <a:latin typeface="Consolas" panose="020B0609020204030204" pitchFamily="49" charset="0"/>
              </a:rPr>
              <a:t>)</a:t>
            </a:r>
          </a:p>
          <a:p>
            <a:pPr lvl="1">
              <a:lnSpc>
                <a:spcPts val="1425"/>
              </a:lnSpc>
            </a:pPr>
            <a:endParaRPr lang="en-US" b="0" dirty="0">
              <a:solidFill>
                <a:srgbClr val="BBBBBB"/>
              </a:solidFill>
              <a:effectLst/>
              <a:latin typeface="Consolas" panose="020B0609020204030204" pitchFamily="49" charset="0"/>
            </a:endParaRPr>
          </a:p>
          <a:p>
            <a:pPr lvl="1">
              <a:lnSpc>
                <a:spcPts val="1425"/>
              </a:lnSpc>
            </a:pPr>
            <a:r>
              <a:rPr lang="en-US" b="0" dirty="0">
                <a:solidFill>
                  <a:srgbClr val="BBBBBB"/>
                </a:solidFill>
                <a:effectLst/>
                <a:latin typeface="Consolas" panose="020B0609020204030204" pitchFamily="49" charset="0"/>
              </a:rPr>
              <a:t>    </a:t>
            </a:r>
            <a:r>
              <a:rPr lang="en-US" b="0" dirty="0">
                <a:solidFill>
                  <a:srgbClr val="98C379"/>
                </a:solidFill>
                <a:effectLst/>
                <a:latin typeface="Consolas" panose="020B0609020204030204" pitchFamily="49" charset="0"/>
              </a:rPr>
              <a:t>print</a:t>
            </a:r>
            <a:r>
              <a:rPr lang="en-US" b="0" dirty="0">
                <a:solidFill>
                  <a:srgbClr val="BBBBBB"/>
                </a:solidFill>
                <a:effectLst/>
                <a:latin typeface="Consolas" panose="020B0609020204030204" pitchFamily="49" charset="0"/>
              </a:rPr>
              <a:t>(</a:t>
            </a:r>
            <a:r>
              <a:rPr lang="en-US" b="0" dirty="0">
                <a:solidFill>
                  <a:srgbClr val="E5C07B"/>
                </a:solidFill>
                <a:effectLst/>
                <a:latin typeface="Consolas" panose="020B0609020204030204" pitchFamily="49" charset="0"/>
              </a:rPr>
              <a:t>'Still bigger’</a:t>
            </a:r>
            <a:r>
              <a:rPr lang="en-US" b="0" dirty="0">
                <a:solidFill>
                  <a:srgbClr val="BBBBBB"/>
                </a:solidFill>
                <a:effectLst/>
                <a:latin typeface="Consolas" panose="020B0609020204030204" pitchFamily="49" charset="0"/>
              </a:rPr>
              <a:t>)</a:t>
            </a:r>
          </a:p>
          <a:p>
            <a:pPr lvl="1">
              <a:lnSpc>
                <a:spcPts val="1425"/>
              </a:lnSpc>
            </a:pPr>
            <a:endParaRPr lang="en-US" b="0" dirty="0">
              <a:solidFill>
                <a:srgbClr val="BBBBBB"/>
              </a:solidFill>
              <a:effectLst/>
              <a:latin typeface="Consolas" panose="020B0609020204030204" pitchFamily="49" charset="0"/>
            </a:endParaRPr>
          </a:p>
          <a:p>
            <a:pPr lvl="1">
              <a:lnSpc>
                <a:spcPts val="1425"/>
              </a:lnSpc>
            </a:pPr>
            <a:r>
              <a:rPr lang="en-US" b="0" dirty="0">
                <a:solidFill>
                  <a:srgbClr val="98C379"/>
                </a:solidFill>
                <a:effectLst/>
                <a:latin typeface="Consolas" panose="020B0609020204030204" pitchFamily="49" charset="0"/>
              </a:rPr>
              <a:t>print</a:t>
            </a:r>
            <a:r>
              <a:rPr lang="en-US" b="0" dirty="0">
                <a:solidFill>
                  <a:srgbClr val="BBBBBB"/>
                </a:solidFill>
                <a:effectLst/>
                <a:latin typeface="Consolas" panose="020B0609020204030204" pitchFamily="49" charset="0"/>
              </a:rPr>
              <a:t>(</a:t>
            </a:r>
            <a:r>
              <a:rPr lang="en-US" b="0" dirty="0">
                <a:solidFill>
                  <a:srgbClr val="E5C07B"/>
                </a:solidFill>
                <a:effectLst/>
                <a:latin typeface="Consolas" panose="020B0609020204030204" pitchFamily="49" charset="0"/>
              </a:rPr>
              <a:t>'Done with 2'</a:t>
            </a:r>
            <a:r>
              <a:rPr lang="en-US" b="0" dirty="0">
                <a:solidFill>
                  <a:srgbClr val="BBBBBB"/>
                </a:solidFill>
                <a:effectLst/>
                <a:latin typeface="Consolas" panose="020B0609020204030204" pitchFamily="49" charset="0"/>
              </a:rPr>
              <a:t>)</a:t>
            </a:r>
          </a:p>
          <a:p>
            <a:pPr lvl="1">
              <a:lnSpc>
                <a:spcPts val="1425"/>
              </a:lnSpc>
            </a:pPr>
            <a:br>
              <a:rPr lang="en-US" b="0" dirty="0">
                <a:solidFill>
                  <a:srgbClr val="BBBBBB"/>
                </a:solidFill>
                <a:effectLst/>
                <a:latin typeface="Consolas" panose="020B0609020204030204" pitchFamily="49" charset="0"/>
              </a:rPr>
            </a:br>
            <a:endParaRPr lang="en-US" b="0" dirty="0">
              <a:solidFill>
                <a:srgbClr val="BBBBBB"/>
              </a:solidFill>
              <a:effectLst/>
              <a:latin typeface="Consolas" panose="020B0609020204030204" pitchFamily="49" charset="0"/>
            </a:endParaRPr>
          </a:p>
          <a:p>
            <a:pPr lvl="1">
              <a:lnSpc>
                <a:spcPts val="1425"/>
              </a:lnSpc>
            </a:pPr>
            <a:r>
              <a:rPr lang="en-US" b="0" dirty="0">
                <a:solidFill>
                  <a:srgbClr val="E06C75"/>
                </a:solidFill>
                <a:effectLst/>
                <a:latin typeface="Consolas" panose="020B0609020204030204" pitchFamily="49" charset="0"/>
              </a:rPr>
              <a:t>for</a:t>
            </a:r>
            <a:r>
              <a:rPr lang="en-US" b="0" dirty="0">
                <a:solidFill>
                  <a:srgbClr val="BBBBBB"/>
                </a:solidFill>
                <a:effectLst/>
                <a:latin typeface="Consolas" panose="020B0609020204030204" pitchFamily="49" charset="0"/>
              </a:rPr>
              <a:t> </a:t>
            </a:r>
            <a:r>
              <a:rPr lang="en-US" b="0" dirty="0" err="1">
                <a:solidFill>
                  <a:srgbClr val="BBBBBB"/>
                </a:solidFill>
                <a:effectLst/>
                <a:latin typeface="Consolas" panose="020B0609020204030204" pitchFamily="49" charset="0"/>
              </a:rPr>
              <a:t>i</a:t>
            </a:r>
            <a:r>
              <a:rPr lang="en-US" b="0" dirty="0">
                <a:solidFill>
                  <a:srgbClr val="BBBBBB"/>
                </a:solidFill>
                <a:effectLst/>
                <a:latin typeface="Consolas" panose="020B0609020204030204" pitchFamily="49" charset="0"/>
              </a:rPr>
              <a:t> </a:t>
            </a:r>
            <a:r>
              <a:rPr lang="en-US" b="0" dirty="0">
                <a:solidFill>
                  <a:srgbClr val="E06C75"/>
                </a:solidFill>
                <a:effectLst/>
                <a:latin typeface="Consolas" panose="020B0609020204030204" pitchFamily="49" charset="0"/>
              </a:rPr>
              <a:t>in</a:t>
            </a:r>
            <a:r>
              <a:rPr lang="en-US" b="0" dirty="0">
                <a:solidFill>
                  <a:srgbClr val="BBBBBB"/>
                </a:solidFill>
                <a:effectLst/>
                <a:latin typeface="Consolas" panose="020B0609020204030204" pitchFamily="49" charset="0"/>
              </a:rPr>
              <a:t> </a:t>
            </a:r>
            <a:r>
              <a:rPr lang="en-US" b="0" dirty="0">
                <a:solidFill>
                  <a:srgbClr val="98C379"/>
                </a:solidFill>
                <a:effectLst/>
                <a:latin typeface="Consolas" panose="020B0609020204030204" pitchFamily="49" charset="0"/>
              </a:rPr>
              <a:t>range</a:t>
            </a:r>
            <a:r>
              <a:rPr lang="en-US" b="0" dirty="0">
                <a:solidFill>
                  <a:srgbClr val="BBBBBB"/>
                </a:solidFill>
                <a:effectLst/>
                <a:latin typeface="Consolas" panose="020B0609020204030204" pitchFamily="49" charset="0"/>
              </a:rPr>
              <a:t>(</a:t>
            </a:r>
            <a:r>
              <a:rPr lang="en-US" b="0" dirty="0">
                <a:solidFill>
                  <a:srgbClr val="C678DD"/>
                </a:solidFill>
                <a:effectLst/>
                <a:latin typeface="Consolas" panose="020B0609020204030204" pitchFamily="49" charset="0"/>
              </a:rPr>
              <a:t>5</a:t>
            </a:r>
            <a:r>
              <a:rPr lang="en-US" b="0" dirty="0">
                <a:solidFill>
                  <a:srgbClr val="BBBBBB"/>
                </a:solidFill>
                <a:effectLst/>
                <a:latin typeface="Consolas" panose="020B0609020204030204" pitchFamily="49" charset="0"/>
              </a:rPr>
              <a:t>) </a:t>
            </a:r>
            <a:r>
              <a:rPr lang="en-US" b="0" dirty="0">
                <a:solidFill>
                  <a:srgbClr val="ABB2BF"/>
                </a:solidFill>
                <a:effectLst/>
                <a:latin typeface="Consolas" panose="020B0609020204030204" pitchFamily="49" charset="0"/>
              </a:rPr>
              <a:t>:</a:t>
            </a:r>
          </a:p>
          <a:p>
            <a:pPr lvl="1">
              <a:lnSpc>
                <a:spcPts val="1425"/>
              </a:lnSpc>
            </a:pPr>
            <a:endParaRPr lang="en-US" b="0" dirty="0">
              <a:solidFill>
                <a:srgbClr val="BBBBBB"/>
              </a:solidFill>
              <a:effectLst/>
              <a:latin typeface="Consolas" panose="020B0609020204030204" pitchFamily="49" charset="0"/>
            </a:endParaRPr>
          </a:p>
          <a:p>
            <a:pPr lvl="1">
              <a:lnSpc>
                <a:spcPts val="1425"/>
              </a:lnSpc>
            </a:pPr>
            <a:r>
              <a:rPr lang="en-US" b="0" dirty="0">
                <a:solidFill>
                  <a:srgbClr val="BBBBBB"/>
                </a:solidFill>
                <a:effectLst/>
                <a:latin typeface="Consolas" panose="020B0609020204030204" pitchFamily="49" charset="0"/>
              </a:rPr>
              <a:t>    </a:t>
            </a:r>
            <a:r>
              <a:rPr lang="en-US" b="0" dirty="0">
                <a:solidFill>
                  <a:srgbClr val="98C379"/>
                </a:solidFill>
                <a:effectLst/>
                <a:latin typeface="Consolas" panose="020B0609020204030204" pitchFamily="49" charset="0"/>
              </a:rPr>
              <a:t>print</a:t>
            </a:r>
            <a:r>
              <a:rPr lang="en-US" b="0" dirty="0">
                <a:solidFill>
                  <a:srgbClr val="BBBBBB"/>
                </a:solidFill>
                <a:effectLst/>
                <a:latin typeface="Consolas" panose="020B0609020204030204" pitchFamily="49" charset="0"/>
              </a:rPr>
              <a:t>(</a:t>
            </a:r>
            <a:r>
              <a:rPr lang="en-US" b="0" dirty="0" err="1">
                <a:solidFill>
                  <a:srgbClr val="BBBBBB"/>
                </a:solidFill>
                <a:effectLst/>
                <a:latin typeface="Consolas" panose="020B0609020204030204" pitchFamily="49" charset="0"/>
              </a:rPr>
              <a:t>i</a:t>
            </a:r>
            <a:r>
              <a:rPr lang="en-US" b="0" dirty="0">
                <a:solidFill>
                  <a:srgbClr val="BBBBBB"/>
                </a:solidFill>
                <a:effectLst/>
                <a:latin typeface="Consolas" panose="020B0609020204030204" pitchFamily="49" charset="0"/>
              </a:rPr>
              <a:t>)</a:t>
            </a:r>
          </a:p>
          <a:p>
            <a:pPr lvl="1">
              <a:lnSpc>
                <a:spcPts val="1425"/>
              </a:lnSpc>
            </a:pPr>
            <a:endParaRPr lang="en-US" b="0" dirty="0">
              <a:solidFill>
                <a:srgbClr val="BBBBBB"/>
              </a:solidFill>
              <a:effectLst/>
              <a:latin typeface="Consolas" panose="020B0609020204030204" pitchFamily="49" charset="0"/>
            </a:endParaRPr>
          </a:p>
          <a:p>
            <a:pPr lvl="1">
              <a:lnSpc>
                <a:spcPts val="1425"/>
              </a:lnSpc>
            </a:pPr>
            <a:r>
              <a:rPr lang="en-US" b="0" dirty="0">
                <a:solidFill>
                  <a:srgbClr val="BBBBBB"/>
                </a:solidFill>
                <a:effectLst/>
                <a:latin typeface="Consolas" panose="020B0609020204030204" pitchFamily="49" charset="0"/>
              </a:rPr>
              <a:t>    </a:t>
            </a:r>
            <a:r>
              <a:rPr lang="en-US" b="0" dirty="0">
                <a:solidFill>
                  <a:srgbClr val="E06C75"/>
                </a:solidFill>
                <a:effectLst/>
                <a:latin typeface="Consolas" panose="020B0609020204030204" pitchFamily="49" charset="0"/>
              </a:rPr>
              <a:t>if</a:t>
            </a:r>
            <a:r>
              <a:rPr lang="en-US" b="0" dirty="0">
                <a:solidFill>
                  <a:srgbClr val="BBBBBB"/>
                </a:solidFill>
                <a:effectLst/>
                <a:latin typeface="Consolas" panose="020B0609020204030204" pitchFamily="49" charset="0"/>
              </a:rPr>
              <a:t> </a:t>
            </a:r>
            <a:r>
              <a:rPr lang="en-US" b="0" dirty="0" err="1">
                <a:solidFill>
                  <a:srgbClr val="BBBBBB"/>
                </a:solidFill>
                <a:effectLst/>
                <a:latin typeface="Consolas" panose="020B0609020204030204" pitchFamily="49" charset="0"/>
              </a:rPr>
              <a:t>i</a:t>
            </a:r>
            <a:r>
              <a:rPr lang="en-US" b="0" dirty="0">
                <a:solidFill>
                  <a:srgbClr val="BBBBBB"/>
                </a:solidFill>
                <a:effectLst/>
                <a:latin typeface="Consolas" panose="020B0609020204030204" pitchFamily="49" charset="0"/>
              </a:rPr>
              <a:t> </a:t>
            </a:r>
            <a:r>
              <a:rPr lang="en-US" b="0" dirty="0">
                <a:solidFill>
                  <a:srgbClr val="E06C75"/>
                </a:solidFill>
                <a:effectLst/>
                <a:latin typeface="Consolas" panose="020B0609020204030204" pitchFamily="49" charset="0"/>
              </a:rPr>
              <a:t>&gt;</a:t>
            </a:r>
            <a:r>
              <a:rPr lang="en-US" b="0" dirty="0">
                <a:solidFill>
                  <a:srgbClr val="BBBBBB"/>
                </a:solidFill>
                <a:effectLst/>
                <a:latin typeface="Consolas" panose="020B0609020204030204" pitchFamily="49" charset="0"/>
              </a:rPr>
              <a:t> </a:t>
            </a:r>
            <a:r>
              <a:rPr lang="en-US" b="0" dirty="0">
                <a:solidFill>
                  <a:srgbClr val="C678DD"/>
                </a:solidFill>
                <a:effectLst/>
                <a:latin typeface="Consolas" panose="020B0609020204030204" pitchFamily="49" charset="0"/>
              </a:rPr>
              <a:t>2</a:t>
            </a:r>
            <a:r>
              <a:rPr lang="en-US" b="0" dirty="0">
                <a:solidFill>
                  <a:srgbClr val="BBBBBB"/>
                </a:solidFill>
                <a:effectLst/>
                <a:latin typeface="Consolas" panose="020B0609020204030204" pitchFamily="49" charset="0"/>
              </a:rPr>
              <a:t> </a:t>
            </a:r>
            <a:r>
              <a:rPr lang="en-US" b="0" dirty="0">
                <a:solidFill>
                  <a:srgbClr val="ABB2BF"/>
                </a:solidFill>
                <a:effectLst/>
                <a:latin typeface="Consolas" panose="020B0609020204030204" pitchFamily="49" charset="0"/>
              </a:rPr>
              <a:t>:</a:t>
            </a:r>
            <a:r>
              <a:rPr lang="en-US" b="0" dirty="0">
                <a:solidFill>
                  <a:srgbClr val="BBBBBB"/>
                </a:solidFill>
                <a:effectLst/>
                <a:latin typeface="Consolas" panose="020B0609020204030204" pitchFamily="49" charset="0"/>
              </a:rPr>
              <a:t> </a:t>
            </a:r>
          </a:p>
          <a:p>
            <a:pPr lvl="1">
              <a:lnSpc>
                <a:spcPts val="1425"/>
              </a:lnSpc>
            </a:pPr>
            <a:endParaRPr lang="en-US" b="0" dirty="0">
              <a:solidFill>
                <a:srgbClr val="BBBBBB"/>
              </a:solidFill>
              <a:effectLst/>
              <a:latin typeface="Consolas" panose="020B0609020204030204" pitchFamily="49" charset="0"/>
            </a:endParaRPr>
          </a:p>
          <a:p>
            <a:pPr lvl="1">
              <a:lnSpc>
                <a:spcPts val="1425"/>
              </a:lnSpc>
            </a:pPr>
            <a:r>
              <a:rPr lang="en-US" b="0" dirty="0">
                <a:solidFill>
                  <a:srgbClr val="BBBBBB"/>
                </a:solidFill>
                <a:effectLst/>
                <a:latin typeface="Consolas" panose="020B0609020204030204" pitchFamily="49" charset="0"/>
              </a:rPr>
              <a:t>        </a:t>
            </a:r>
            <a:r>
              <a:rPr lang="en-US" b="0" dirty="0">
                <a:solidFill>
                  <a:srgbClr val="98C379"/>
                </a:solidFill>
                <a:effectLst/>
                <a:latin typeface="Consolas" panose="020B0609020204030204" pitchFamily="49" charset="0"/>
              </a:rPr>
              <a:t>print</a:t>
            </a:r>
            <a:r>
              <a:rPr lang="en-US" b="0" dirty="0">
                <a:solidFill>
                  <a:srgbClr val="BBBBBB"/>
                </a:solidFill>
                <a:effectLst/>
                <a:latin typeface="Consolas" panose="020B0609020204030204" pitchFamily="49" charset="0"/>
              </a:rPr>
              <a:t>(</a:t>
            </a:r>
            <a:r>
              <a:rPr lang="en-US" b="0" dirty="0">
                <a:solidFill>
                  <a:srgbClr val="E5C07B"/>
                </a:solidFill>
                <a:effectLst/>
                <a:latin typeface="Consolas" panose="020B0609020204030204" pitchFamily="49" charset="0"/>
              </a:rPr>
              <a:t>'Bigger than 2’</a:t>
            </a:r>
            <a:r>
              <a:rPr lang="en-US" b="0" dirty="0">
                <a:solidFill>
                  <a:srgbClr val="BBBBBB"/>
                </a:solidFill>
                <a:effectLst/>
                <a:latin typeface="Consolas" panose="020B0609020204030204" pitchFamily="49" charset="0"/>
              </a:rPr>
              <a:t>)</a:t>
            </a:r>
          </a:p>
          <a:p>
            <a:pPr lvl="1">
              <a:lnSpc>
                <a:spcPts val="1425"/>
              </a:lnSpc>
            </a:pPr>
            <a:endParaRPr lang="en-US" b="0" dirty="0">
              <a:solidFill>
                <a:srgbClr val="BBBBBB"/>
              </a:solidFill>
              <a:effectLst/>
              <a:latin typeface="Consolas" panose="020B0609020204030204" pitchFamily="49" charset="0"/>
            </a:endParaRPr>
          </a:p>
          <a:p>
            <a:pPr lvl="1">
              <a:lnSpc>
                <a:spcPts val="1425"/>
              </a:lnSpc>
            </a:pPr>
            <a:r>
              <a:rPr lang="en-US" b="0" dirty="0">
                <a:solidFill>
                  <a:srgbClr val="BBBBBB"/>
                </a:solidFill>
                <a:effectLst/>
                <a:latin typeface="Consolas" panose="020B0609020204030204" pitchFamily="49" charset="0"/>
              </a:rPr>
              <a:t>    </a:t>
            </a:r>
            <a:r>
              <a:rPr lang="en-US" b="0" dirty="0">
                <a:solidFill>
                  <a:srgbClr val="98C379"/>
                </a:solidFill>
                <a:effectLst/>
                <a:latin typeface="Consolas" panose="020B0609020204030204" pitchFamily="49" charset="0"/>
              </a:rPr>
              <a:t>print</a:t>
            </a:r>
            <a:r>
              <a:rPr lang="en-US" b="0" dirty="0">
                <a:solidFill>
                  <a:srgbClr val="BBBBBB"/>
                </a:solidFill>
                <a:effectLst/>
                <a:latin typeface="Consolas" panose="020B0609020204030204" pitchFamily="49" charset="0"/>
              </a:rPr>
              <a:t>(</a:t>
            </a:r>
            <a:r>
              <a:rPr lang="en-US" b="0" dirty="0">
                <a:solidFill>
                  <a:srgbClr val="E5C07B"/>
                </a:solidFill>
                <a:effectLst/>
                <a:latin typeface="Consolas" panose="020B0609020204030204" pitchFamily="49" charset="0"/>
              </a:rPr>
              <a:t>'Done with </a:t>
            </a:r>
            <a:r>
              <a:rPr lang="en-US" b="0" dirty="0" err="1">
                <a:solidFill>
                  <a:srgbClr val="E5C07B"/>
                </a:solidFill>
                <a:effectLst/>
                <a:latin typeface="Consolas" panose="020B0609020204030204" pitchFamily="49" charset="0"/>
              </a:rPr>
              <a:t>i</a:t>
            </a:r>
            <a:r>
              <a:rPr lang="en-US" b="0" dirty="0">
                <a:solidFill>
                  <a:srgbClr val="E5C07B"/>
                </a:solidFill>
                <a:effectLst/>
                <a:latin typeface="Consolas" panose="020B0609020204030204" pitchFamily="49" charset="0"/>
              </a:rPr>
              <a:t>'</a:t>
            </a:r>
            <a:r>
              <a:rPr lang="en-US" b="0" dirty="0">
                <a:solidFill>
                  <a:srgbClr val="ABB2BF"/>
                </a:solidFill>
                <a:effectLst/>
                <a:latin typeface="Consolas" panose="020B0609020204030204" pitchFamily="49" charset="0"/>
              </a:rPr>
              <a:t>,</a:t>
            </a:r>
            <a:r>
              <a:rPr lang="en-US" b="0" dirty="0">
                <a:solidFill>
                  <a:srgbClr val="BBBBBB"/>
                </a:solidFill>
                <a:effectLst/>
                <a:latin typeface="Consolas" panose="020B0609020204030204" pitchFamily="49" charset="0"/>
              </a:rPr>
              <a:t> </a:t>
            </a:r>
            <a:r>
              <a:rPr lang="en-US" b="0" dirty="0" err="1">
                <a:solidFill>
                  <a:srgbClr val="BBBBBB"/>
                </a:solidFill>
                <a:effectLst/>
                <a:latin typeface="Consolas" panose="020B0609020204030204" pitchFamily="49" charset="0"/>
              </a:rPr>
              <a:t>i</a:t>
            </a:r>
            <a:r>
              <a:rPr lang="en-US" b="0" dirty="0">
                <a:solidFill>
                  <a:srgbClr val="BBBBBB"/>
                </a:solidFill>
                <a:effectLst/>
                <a:latin typeface="Consolas" panose="020B0609020204030204" pitchFamily="49" charset="0"/>
              </a:rPr>
              <a:t>)</a:t>
            </a:r>
          </a:p>
          <a:p>
            <a:pPr lvl="1">
              <a:lnSpc>
                <a:spcPts val="1425"/>
              </a:lnSpc>
            </a:pPr>
            <a:endParaRPr lang="en-US" b="0" dirty="0">
              <a:solidFill>
                <a:srgbClr val="BBBBBB"/>
              </a:solidFill>
              <a:effectLst/>
              <a:latin typeface="Consolas" panose="020B0609020204030204" pitchFamily="49" charset="0"/>
            </a:endParaRPr>
          </a:p>
          <a:p>
            <a:pPr lvl="1">
              <a:lnSpc>
                <a:spcPts val="1425"/>
              </a:lnSpc>
            </a:pPr>
            <a:r>
              <a:rPr lang="en-US" b="0" dirty="0">
                <a:solidFill>
                  <a:srgbClr val="98C379"/>
                </a:solidFill>
                <a:effectLst/>
                <a:latin typeface="Consolas" panose="020B0609020204030204" pitchFamily="49" charset="0"/>
              </a:rPr>
              <a:t>print</a:t>
            </a:r>
            <a:r>
              <a:rPr lang="en-US" b="0" dirty="0">
                <a:solidFill>
                  <a:srgbClr val="BBBBBB"/>
                </a:solidFill>
                <a:effectLst/>
                <a:latin typeface="Consolas" panose="020B0609020204030204" pitchFamily="49" charset="0"/>
              </a:rPr>
              <a:t>(</a:t>
            </a:r>
            <a:r>
              <a:rPr lang="en-US" b="0" dirty="0">
                <a:solidFill>
                  <a:srgbClr val="E5C07B"/>
                </a:solidFill>
                <a:effectLst/>
                <a:latin typeface="Consolas" panose="020B0609020204030204" pitchFamily="49" charset="0"/>
              </a:rPr>
              <a:t>'All Done'</a:t>
            </a:r>
            <a:r>
              <a:rPr lang="en-US" b="0" dirty="0">
                <a:solidFill>
                  <a:srgbClr val="BBBBBB"/>
                </a:solidFill>
                <a:effectLst/>
                <a:latin typeface="Consolas" panose="020B0609020204030204" pitchFamily="49" charset="0"/>
              </a:rPr>
              <a:t>)</a:t>
            </a:r>
          </a:p>
        </p:txBody>
      </p:sp>
      <p:sp>
        <p:nvSpPr>
          <p:cNvPr id="10" name="Shape 364">
            <a:extLst>
              <a:ext uri="{FF2B5EF4-FFF2-40B4-BE49-F238E27FC236}">
                <a16:creationId xmlns:a16="http://schemas.microsoft.com/office/drawing/2014/main" id="{57B6FF86-4791-6C4E-B7E1-E90BA54C1347}"/>
              </a:ext>
            </a:extLst>
          </p:cNvPr>
          <p:cNvSpPr txBox="1"/>
          <p:nvPr/>
        </p:nvSpPr>
        <p:spPr>
          <a:xfrm>
            <a:off x="1306609" y="3063643"/>
            <a:ext cx="4016507" cy="1004425"/>
          </a:xfrm>
          <a:prstGeom prst="rect">
            <a:avLst/>
          </a:prstGeom>
          <a:noFill/>
          <a:ln w="76200" cap="rnd" cmpd="sng">
            <a:solidFill>
              <a:srgbClr val="FFFF00"/>
            </a:solidFill>
            <a:prstDash val="solid"/>
            <a:miter/>
            <a:headEnd type="none" w="med" len="med"/>
            <a:tailEnd type="none" w="med" len="med"/>
          </a:ln>
        </p:spPr>
        <p:txBody>
          <a:bodyPr lIns="0" tIns="0" rIns="0" bIns="0" anchor="t" anchorCtr="0">
            <a:noAutofit/>
          </a:bodyPr>
          <a:lstStyle/>
          <a:p>
            <a:pPr marL="0" marR="0" lvl="0" indent="0" algn="ctr" rtl="0">
              <a:lnSpc>
                <a:spcPct val="100000"/>
              </a:lnSpc>
              <a:spcBef>
                <a:spcPts val="0"/>
              </a:spcBef>
              <a:spcAft>
                <a:spcPts val="0"/>
              </a:spcAft>
              <a:buNone/>
            </a:pPr>
            <a:endParaRPr dirty="0"/>
          </a:p>
        </p:txBody>
      </p:sp>
      <p:sp>
        <p:nvSpPr>
          <p:cNvPr id="9" name="Shape 363">
            <a:extLst>
              <a:ext uri="{FF2B5EF4-FFF2-40B4-BE49-F238E27FC236}">
                <a16:creationId xmlns:a16="http://schemas.microsoft.com/office/drawing/2014/main" id="{8FF7E4FA-591F-2157-6E92-D15EFE6D7355}"/>
              </a:ext>
            </a:extLst>
          </p:cNvPr>
          <p:cNvSpPr txBox="1"/>
          <p:nvPr/>
        </p:nvSpPr>
        <p:spPr>
          <a:xfrm>
            <a:off x="1281852" y="4588997"/>
            <a:ext cx="4388154" cy="1837619"/>
          </a:xfrm>
          <a:prstGeom prst="rect">
            <a:avLst/>
          </a:prstGeom>
          <a:noFill/>
          <a:ln w="76200" cap="rnd" cmpd="sng">
            <a:solidFill>
              <a:srgbClr val="FFFF00"/>
            </a:solidFill>
            <a:prstDash val="solid"/>
            <a:miter/>
            <a:headEnd type="none" w="med" len="med"/>
            <a:tailEnd type="none" w="med" len="med"/>
          </a:ln>
        </p:spPr>
        <p:txBody>
          <a:bodyPr lIns="0" tIns="0" rIns="0" bIns="0" anchor="t" anchorCtr="0">
            <a:noAutofit/>
          </a:bodyPr>
          <a:lstStyle/>
          <a:p>
            <a:pPr marL="0" marR="0" lvl="0" indent="0" algn="ctr" rtl="0">
              <a:lnSpc>
                <a:spcPct val="100000"/>
              </a:lnSpc>
              <a:spcBef>
                <a:spcPts val="0"/>
              </a:spcBef>
              <a:spcAft>
                <a:spcPts val="0"/>
              </a:spcAft>
              <a:buNone/>
            </a:pPr>
            <a:endParaRPr/>
          </a:p>
        </p:txBody>
      </p:sp>
      <p:sp>
        <p:nvSpPr>
          <p:cNvPr id="11" name="Shape 362">
            <a:extLst>
              <a:ext uri="{FF2B5EF4-FFF2-40B4-BE49-F238E27FC236}">
                <a16:creationId xmlns:a16="http://schemas.microsoft.com/office/drawing/2014/main" id="{D5F48201-6D3E-E28B-5587-2081419F886C}"/>
              </a:ext>
            </a:extLst>
          </p:cNvPr>
          <p:cNvSpPr txBox="1"/>
          <p:nvPr/>
        </p:nvSpPr>
        <p:spPr>
          <a:xfrm>
            <a:off x="1867147" y="5361357"/>
            <a:ext cx="3678255" cy="716601"/>
          </a:xfrm>
          <a:prstGeom prst="rect">
            <a:avLst/>
          </a:prstGeom>
          <a:noFill/>
          <a:ln w="76200" cap="rnd" cmpd="sng">
            <a:solidFill>
              <a:srgbClr val="00FF00"/>
            </a:solidFill>
            <a:prstDash val="solid"/>
            <a:miter/>
            <a:headEnd type="none" w="med" len="med"/>
            <a:tailEnd type="none" w="med" len="med"/>
          </a:ln>
        </p:spPr>
        <p:txBody>
          <a:bodyPr lIns="0" tIns="0" rIns="0" bIns="0" anchor="t" anchorCtr="0">
            <a:noAutofit/>
          </a:bodyPr>
          <a:lstStyle/>
          <a:p>
            <a:pPr marL="0" marR="0" lvl="0" indent="0" algn="ctr" rtl="0">
              <a:lnSpc>
                <a:spcPct val="100000"/>
              </a:lnSpc>
              <a:spcBef>
                <a:spcPts val="0"/>
              </a:spcBef>
              <a:spcAft>
                <a:spcPts val="0"/>
              </a:spcAft>
              <a:buNone/>
            </a:pPr>
            <a:endParaRPr/>
          </a:p>
        </p:txBody>
      </p:sp>
    </p:spTree>
    <p:extLst>
      <p:ext uri="{BB962C8B-B14F-4D97-AF65-F5344CB8AC3E}">
        <p14:creationId xmlns:p14="http://schemas.microsoft.com/office/powerpoint/2010/main" val="3088975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8016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600" b="1">
                <a:solidFill>
                  <a:srgbClr val="FFFFFF"/>
                </a:solidFill>
              </a:rPr>
              <a:t>🧮 Putting It All Together</a:t>
            </a:r>
          </a:p>
        </p:txBody>
      </p:sp>
      <p:sp>
        <p:nvSpPr>
          <p:cNvPr id="3" name="Rectangle 2"/>
          <p:cNvSpPr/>
          <p:nvPr/>
        </p:nvSpPr>
        <p:spPr>
          <a:xfrm>
            <a:off x="731520" y="1463040"/>
            <a:ext cx="10515600" cy="5120640"/>
          </a:xfrm>
          <a:prstGeom prst="rect">
            <a:avLst/>
          </a:prstGeom>
          <a:solidFill>
            <a:srgbClr val="282C34"/>
          </a:solidFill>
          <a:ln>
            <a:solidFill>
              <a:srgbClr val="555555"/>
            </a:solidFill>
          </a:ln>
        </p:spPr>
        <p:style>
          <a:lnRef idx="1">
            <a:schemeClr val="accent1"/>
          </a:lnRef>
          <a:fillRef idx="3">
            <a:schemeClr val="accent1"/>
          </a:fillRef>
          <a:effectRef idx="2">
            <a:schemeClr val="accent1"/>
          </a:effectRef>
          <a:fontRef idx="minor">
            <a:schemeClr val="lt1"/>
          </a:fontRef>
        </p:style>
        <p:txBody>
          <a:bodyPr wrap="none" rtlCol="0" anchor="ctr"/>
          <a:lstStyle/>
          <a:p>
            <a:pPr>
              <a:lnSpc>
                <a:spcPts val="1425"/>
              </a:lnSpc>
              <a:buNone/>
            </a:pPr>
            <a:endParaRPr lang="en-US" sz="1600" b="0" dirty="0">
              <a:solidFill>
                <a:srgbClr val="BBBBBB"/>
              </a:solidFill>
              <a:effectLst/>
              <a:latin typeface="Consolas" panose="020B0609020204030204" pitchFamily="49" charset="0"/>
            </a:endParaRPr>
          </a:p>
          <a:p>
            <a:pPr>
              <a:lnSpc>
                <a:spcPts val="1425"/>
              </a:lnSpc>
              <a:buNone/>
            </a:pPr>
            <a:r>
              <a:rPr lang="en-US" sz="1600" b="0" dirty="0">
                <a:solidFill>
                  <a:srgbClr val="E06C75"/>
                </a:solidFill>
                <a:effectLst/>
                <a:latin typeface="Consolas" panose="020B0609020204030204" pitchFamily="49" charset="0"/>
              </a:rPr>
              <a:t>import</a:t>
            </a:r>
            <a:r>
              <a:rPr lang="en-US" sz="1600" b="0" dirty="0">
                <a:solidFill>
                  <a:srgbClr val="BBBBBB"/>
                </a:solidFill>
                <a:effectLst/>
                <a:latin typeface="Consolas" panose="020B0609020204030204" pitchFamily="49" charset="0"/>
              </a:rPr>
              <a:t> random</a:t>
            </a:r>
          </a:p>
          <a:p>
            <a:pPr>
              <a:lnSpc>
                <a:spcPts val="1425"/>
              </a:lnSpc>
              <a:buNone/>
            </a:pPr>
            <a:endParaRPr lang="en-US" sz="1600" b="0" dirty="0">
              <a:solidFill>
                <a:srgbClr val="BBBBBB"/>
              </a:solidFill>
              <a:effectLst/>
              <a:latin typeface="Consolas" panose="020B0609020204030204" pitchFamily="49" charset="0"/>
            </a:endParaRPr>
          </a:p>
          <a:p>
            <a:pPr>
              <a:lnSpc>
                <a:spcPts val="1425"/>
              </a:lnSpc>
              <a:buNone/>
            </a:pPr>
            <a:r>
              <a:rPr lang="en-US" sz="1600" b="0" dirty="0">
                <a:solidFill>
                  <a:srgbClr val="676F7D"/>
                </a:solidFill>
                <a:effectLst/>
                <a:latin typeface="Consolas" panose="020B0609020204030204" pitchFamily="49" charset="0"/>
              </a:rPr>
              <a:t># use random integer to select a random option for the computer to play against the user</a:t>
            </a:r>
            <a:endParaRPr lang="en-US" sz="1600" b="0" dirty="0">
              <a:solidFill>
                <a:srgbClr val="BBBBBB"/>
              </a:solidFill>
              <a:effectLst/>
              <a:latin typeface="Consolas" panose="020B0609020204030204" pitchFamily="49" charset="0"/>
            </a:endParaRPr>
          </a:p>
          <a:p>
            <a:pPr>
              <a:lnSpc>
                <a:spcPts val="1425"/>
              </a:lnSpc>
              <a:buNone/>
            </a:pPr>
            <a:r>
              <a:rPr lang="en-US" sz="1600" b="0" dirty="0" err="1">
                <a:solidFill>
                  <a:srgbClr val="BBBBBB"/>
                </a:solidFill>
                <a:effectLst/>
                <a:latin typeface="Consolas" panose="020B0609020204030204" pitchFamily="49" charset="0"/>
              </a:rPr>
              <a:t>computer_choice</a:t>
            </a:r>
            <a:r>
              <a:rPr lang="en-US" sz="1600" b="0" dirty="0">
                <a:solidFill>
                  <a:srgbClr val="BBBBBB"/>
                </a:solidFill>
                <a:effectLst/>
                <a:latin typeface="Consolas" panose="020B0609020204030204" pitchFamily="49" charset="0"/>
              </a:rPr>
              <a:t> </a:t>
            </a:r>
            <a:r>
              <a:rPr lang="en-US" sz="1600" b="0" dirty="0">
                <a:solidFill>
                  <a:srgbClr val="E06C75"/>
                </a:solidFill>
                <a:effectLst/>
                <a:latin typeface="Consolas" panose="020B0609020204030204" pitchFamily="49" charset="0"/>
              </a:rPr>
              <a:t>=</a:t>
            </a:r>
            <a:r>
              <a:rPr lang="en-US" sz="1600" b="0" dirty="0">
                <a:solidFill>
                  <a:srgbClr val="BBBBBB"/>
                </a:solidFill>
                <a:effectLst/>
                <a:latin typeface="Consolas" panose="020B0609020204030204" pitchFamily="49" charset="0"/>
              </a:rPr>
              <a:t> </a:t>
            </a:r>
            <a:r>
              <a:rPr lang="en-US" sz="1600" b="0" dirty="0" err="1">
                <a:solidFill>
                  <a:srgbClr val="BBBBBB"/>
                </a:solidFill>
                <a:effectLst/>
                <a:latin typeface="Consolas" panose="020B0609020204030204" pitchFamily="49" charset="0"/>
              </a:rPr>
              <a:t>random</a:t>
            </a:r>
            <a:r>
              <a:rPr lang="en-US" sz="1600" b="0" dirty="0" err="1">
                <a:solidFill>
                  <a:srgbClr val="ABB2BF"/>
                </a:solidFill>
                <a:effectLst/>
                <a:latin typeface="Consolas" panose="020B0609020204030204" pitchFamily="49" charset="0"/>
              </a:rPr>
              <a:t>.</a:t>
            </a:r>
            <a:r>
              <a:rPr lang="en-US" sz="1600" b="0" dirty="0" err="1">
                <a:solidFill>
                  <a:srgbClr val="BBBBBB"/>
                </a:solidFill>
                <a:effectLst/>
                <a:latin typeface="Consolas" panose="020B0609020204030204" pitchFamily="49" charset="0"/>
              </a:rPr>
              <a:t>randint</a:t>
            </a:r>
            <a:r>
              <a:rPr lang="en-US" sz="1600" b="0" dirty="0">
                <a:solidFill>
                  <a:srgbClr val="BBBBBB"/>
                </a:solidFill>
                <a:effectLst/>
                <a:latin typeface="Consolas" panose="020B0609020204030204" pitchFamily="49" charset="0"/>
              </a:rPr>
              <a:t>(</a:t>
            </a:r>
            <a:r>
              <a:rPr lang="en-US" sz="1600" b="0" dirty="0">
                <a:solidFill>
                  <a:srgbClr val="C678DD"/>
                </a:solidFill>
                <a:effectLst/>
                <a:latin typeface="Consolas" panose="020B0609020204030204" pitchFamily="49" charset="0"/>
              </a:rPr>
              <a:t>0</a:t>
            </a:r>
            <a:r>
              <a:rPr lang="en-US" sz="1600" b="0" dirty="0">
                <a:solidFill>
                  <a:srgbClr val="ABB2BF"/>
                </a:solidFill>
                <a:effectLst/>
                <a:latin typeface="Consolas" panose="020B0609020204030204" pitchFamily="49" charset="0"/>
              </a:rPr>
              <a:t>,</a:t>
            </a:r>
            <a:r>
              <a:rPr lang="en-US" sz="1600" b="0" dirty="0">
                <a:solidFill>
                  <a:srgbClr val="BBBBBB"/>
                </a:solidFill>
                <a:effectLst/>
                <a:latin typeface="Consolas" panose="020B0609020204030204" pitchFamily="49" charset="0"/>
              </a:rPr>
              <a:t> </a:t>
            </a:r>
            <a:r>
              <a:rPr lang="en-US" sz="1600" b="0" dirty="0">
                <a:solidFill>
                  <a:srgbClr val="C678DD"/>
                </a:solidFill>
                <a:effectLst/>
                <a:latin typeface="Consolas" panose="020B0609020204030204" pitchFamily="49" charset="0"/>
              </a:rPr>
              <a:t>2</a:t>
            </a:r>
            <a:r>
              <a:rPr lang="en-US" sz="1600" b="0" dirty="0">
                <a:solidFill>
                  <a:srgbClr val="BBBBBB"/>
                </a:solidFill>
                <a:effectLst/>
                <a:latin typeface="Consolas" panose="020B0609020204030204" pitchFamily="49" charset="0"/>
              </a:rPr>
              <a:t>)  </a:t>
            </a:r>
            <a:r>
              <a:rPr lang="en-US" sz="1600" b="0" dirty="0">
                <a:solidFill>
                  <a:srgbClr val="676F7D"/>
                </a:solidFill>
                <a:effectLst/>
                <a:latin typeface="Consolas" panose="020B0609020204030204" pitchFamily="49" charset="0"/>
              </a:rPr>
              <a:t># Random integer between 0 and 2 (inclusive)</a:t>
            </a:r>
          </a:p>
          <a:p>
            <a:pPr>
              <a:lnSpc>
                <a:spcPts val="1425"/>
              </a:lnSpc>
              <a:buNone/>
            </a:pPr>
            <a:endParaRPr lang="en-US" sz="1600" b="0" dirty="0">
              <a:solidFill>
                <a:srgbClr val="BBBBBB"/>
              </a:solidFill>
              <a:effectLst/>
              <a:latin typeface="Consolas" panose="020B0609020204030204" pitchFamily="49" charset="0"/>
            </a:endParaRPr>
          </a:p>
          <a:p>
            <a:pPr>
              <a:lnSpc>
                <a:spcPts val="1425"/>
              </a:lnSpc>
              <a:buNone/>
            </a:pPr>
            <a:r>
              <a:rPr lang="en-US" sz="1600" b="0" dirty="0">
                <a:solidFill>
                  <a:srgbClr val="676F7D"/>
                </a:solidFill>
                <a:effectLst/>
                <a:latin typeface="Consolas" panose="020B0609020204030204" pitchFamily="49" charset="0"/>
              </a:rPr>
              <a:t># assume 0 = rock, 1 = paper, 2 = scissors</a:t>
            </a:r>
            <a:endParaRPr lang="en-US" sz="1600" b="0" dirty="0">
              <a:solidFill>
                <a:srgbClr val="BBBBBB"/>
              </a:solidFill>
              <a:effectLst/>
              <a:latin typeface="Consolas" panose="020B0609020204030204" pitchFamily="49" charset="0"/>
            </a:endParaRPr>
          </a:p>
          <a:p>
            <a:pPr>
              <a:lnSpc>
                <a:spcPts val="1425"/>
              </a:lnSpc>
              <a:buNone/>
            </a:pPr>
            <a:r>
              <a:rPr lang="en-US" sz="1600" b="0" dirty="0">
                <a:solidFill>
                  <a:srgbClr val="E06C75"/>
                </a:solidFill>
                <a:effectLst/>
                <a:latin typeface="Consolas" panose="020B0609020204030204" pitchFamily="49" charset="0"/>
              </a:rPr>
              <a:t>if</a:t>
            </a:r>
            <a:r>
              <a:rPr lang="en-US" sz="1600" b="0" dirty="0">
                <a:solidFill>
                  <a:srgbClr val="BBBBBB"/>
                </a:solidFill>
                <a:effectLst/>
                <a:latin typeface="Consolas" panose="020B0609020204030204" pitchFamily="49" charset="0"/>
              </a:rPr>
              <a:t> </a:t>
            </a:r>
            <a:r>
              <a:rPr lang="en-US" sz="1600" b="0" dirty="0" err="1">
                <a:solidFill>
                  <a:srgbClr val="BBBBBB"/>
                </a:solidFill>
                <a:effectLst/>
                <a:latin typeface="Consolas" panose="020B0609020204030204" pitchFamily="49" charset="0"/>
              </a:rPr>
              <a:t>computer_choice</a:t>
            </a:r>
            <a:r>
              <a:rPr lang="en-US" sz="1600" b="0" dirty="0">
                <a:solidFill>
                  <a:srgbClr val="BBBBBB"/>
                </a:solidFill>
                <a:effectLst/>
                <a:latin typeface="Consolas" panose="020B0609020204030204" pitchFamily="49" charset="0"/>
              </a:rPr>
              <a:t> </a:t>
            </a:r>
            <a:r>
              <a:rPr lang="en-US" sz="1600" b="0" dirty="0">
                <a:solidFill>
                  <a:srgbClr val="E06C75"/>
                </a:solidFill>
                <a:effectLst/>
                <a:latin typeface="Consolas" panose="020B0609020204030204" pitchFamily="49" charset="0"/>
              </a:rPr>
              <a:t>==</a:t>
            </a:r>
            <a:r>
              <a:rPr lang="en-US" sz="1600" b="0" dirty="0">
                <a:solidFill>
                  <a:srgbClr val="BBBBBB"/>
                </a:solidFill>
                <a:effectLst/>
                <a:latin typeface="Consolas" panose="020B0609020204030204" pitchFamily="49" charset="0"/>
              </a:rPr>
              <a:t> </a:t>
            </a:r>
            <a:r>
              <a:rPr lang="en-US" sz="1600" b="0" dirty="0">
                <a:solidFill>
                  <a:srgbClr val="C678DD"/>
                </a:solidFill>
                <a:effectLst/>
                <a:latin typeface="Consolas" panose="020B0609020204030204" pitchFamily="49" charset="0"/>
              </a:rPr>
              <a:t>0</a:t>
            </a:r>
            <a:r>
              <a:rPr lang="en-US" sz="1600" b="0" dirty="0">
                <a:solidFill>
                  <a:srgbClr val="ABB2BF"/>
                </a:solidFill>
                <a:effectLst/>
                <a:latin typeface="Consolas" panose="020B0609020204030204" pitchFamily="49" charset="0"/>
              </a:rPr>
              <a:t>:</a:t>
            </a:r>
            <a:endParaRPr lang="en-US" sz="1600" b="0" dirty="0">
              <a:solidFill>
                <a:srgbClr val="BBBBBB"/>
              </a:solidFill>
              <a:effectLst/>
              <a:latin typeface="Consolas" panose="020B0609020204030204" pitchFamily="49" charset="0"/>
            </a:endParaRPr>
          </a:p>
          <a:p>
            <a:pPr>
              <a:lnSpc>
                <a:spcPts val="1425"/>
              </a:lnSpc>
              <a:buNone/>
            </a:pPr>
            <a:r>
              <a:rPr lang="en-US" sz="1600" b="0" dirty="0">
                <a:solidFill>
                  <a:srgbClr val="BBBBBB"/>
                </a:solidFill>
                <a:effectLst/>
                <a:latin typeface="Consolas" panose="020B0609020204030204" pitchFamily="49" charset="0"/>
              </a:rPr>
              <a:t>    </a:t>
            </a:r>
            <a:r>
              <a:rPr lang="en-US" sz="1600" b="0" dirty="0" err="1">
                <a:solidFill>
                  <a:srgbClr val="BBBBBB"/>
                </a:solidFill>
                <a:effectLst/>
                <a:latin typeface="Consolas" panose="020B0609020204030204" pitchFamily="49" charset="0"/>
              </a:rPr>
              <a:t>computer_choice</a:t>
            </a:r>
            <a:r>
              <a:rPr lang="en-US" sz="1600" b="0" dirty="0">
                <a:solidFill>
                  <a:srgbClr val="BBBBBB"/>
                </a:solidFill>
                <a:effectLst/>
                <a:latin typeface="Consolas" panose="020B0609020204030204" pitchFamily="49" charset="0"/>
              </a:rPr>
              <a:t> </a:t>
            </a:r>
            <a:r>
              <a:rPr lang="en-US" sz="1600" b="0" dirty="0">
                <a:solidFill>
                  <a:srgbClr val="E06C75"/>
                </a:solidFill>
                <a:effectLst/>
                <a:latin typeface="Consolas" panose="020B0609020204030204" pitchFamily="49" charset="0"/>
              </a:rPr>
              <a:t>=</a:t>
            </a:r>
            <a:r>
              <a:rPr lang="en-US" sz="1600" b="0" dirty="0">
                <a:solidFill>
                  <a:srgbClr val="BBBBBB"/>
                </a:solidFill>
                <a:effectLst/>
                <a:latin typeface="Consolas" panose="020B0609020204030204" pitchFamily="49" charset="0"/>
              </a:rPr>
              <a:t> </a:t>
            </a:r>
            <a:r>
              <a:rPr lang="en-US" sz="1600" b="0" dirty="0">
                <a:solidFill>
                  <a:srgbClr val="E5C07B"/>
                </a:solidFill>
                <a:effectLst/>
                <a:latin typeface="Consolas" panose="020B0609020204030204" pitchFamily="49" charset="0"/>
              </a:rPr>
              <a:t>"rock"</a:t>
            </a:r>
            <a:endParaRPr lang="en-US" sz="1600" b="0" dirty="0">
              <a:solidFill>
                <a:srgbClr val="BBBBBB"/>
              </a:solidFill>
              <a:effectLst/>
              <a:latin typeface="Consolas" panose="020B0609020204030204" pitchFamily="49" charset="0"/>
            </a:endParaRPr>
          </a:p>
          <a:p>
            <a:pPr>
              <a:lnSpc>
                <a:spcPts val="1425"/>
              </a:lnSpc>
              <a:buNone/>
            </a:pPr>
            <a:r>
              <a:rPr lang="en-US" sz="1600" b="0" dirty="0" err="1">
                <a:solidFill>
                  <a:srgbClr val="E06C75"/>
                </a:solidFill>
                <a:effectLst/>
                <a:latin typeface="Consolas" panose="020B0609020204030204" pitchFamily="49" charset="0"/>
              </a:rPr>
              <a:t>elif</a:t>
            </a:r>
            <a:r>
              <a:rPr lang="en-US" sz="1600" b="0" dirty="0">
                <a:solidFill>
                  <a:srgbClr val="BBBBBB"/>
                </a:solidFill>
                <a:effectLst/>
                <a:latin typeface="Consolas" panose="020B0609020204030204" pitchFamily="49" charset="0"/>
              </a:rPr>
              <a:t> </a:t>
            </a:r>
            <a:r>
              <a:rPr lang="en-US" sz="1600" b="0" dirty="0" err="1">
                <a:solidFill>
                  <a:srgbClr val="BBBBBB"/>
                </a:solidFill>
                <a:effectLst/>
                <a:latin typeface="Consolas" panose="020B0609020204030204" pitchFamily="49" charset="0"/>
              </a:rPr>
              <a:t>computer_choice</a:t>
            </a:r>
            <a:r>
              <a:rPr lang="en-US" sz="1600" b="0" dirty="0">
                <a:solidFill>
                  <a:srgbClr val="BBBBBB"/>
                </a:solidFill>
                <a:effectLst/>
                <a:latin typeface="Consolas" panose="020B0609020204030204" pitchFamily="49" charset="0"/>
              </a:rPr>
              <a:t> </a:t>
            </a:r>
            <a:r>
              <a:rPr lang="en-US" sz="1600" b="0" dirty="0">
                <a:solidFill>
                  <a:srgbClr val="E06C75"/>
                </a:solidFill>
                <a:effectLst/>
                <a:latin typeface="Consolas" panose="020B0609020204030204" pitchFamily="49" charset="0"/>
              </a:rPr>
              <a:t>==</a:t>
            </a:r>
            <a:r>
              <a:rPr lang="en-US" sz="1600" b="0" dirty="0">
                <a:solidFill>
                  <a:srgbClr val="BBBBBB"/>
                </a:solidFill>
                <a:effectLst/>
                <a:latin typeface="Consolas" panose="020B0609020204030204" pitchFamily="49" charset="0"/>
              </a:rPr>
              <a:t> </a:t>
            </a:r>
            <a:r>
              <a:rPr lang="en-US" sz="1600" b="0" dirty="0">
                <a:solidFill>
                  <a:srgbClr val="C678DD"/>
                </a:solidFill>
                <a:effectLst/>
                <a:latin typeface="Consolas" panose="020B0609020204030204" pitchFamily="49" charset="0"/>
              </a:rPr>
              <a:t>1</a:t>
            </a:r>
            <a:r>
              <a:rPr lang="en-US" sz="1600" b="0" dirty="0">
                <a:solidFill>
                  <a:srgbClr val="ABB2BF"/>
                </a:solidFill>
                <a:effectLst/>
                <a:latin typeface="Consolas" panose="020B0609020204030204" pitchFamily="49" charset="0"/>
              </a:rPr>
              <a:t>:</a:t>
            </a:r>
            <a:endParaRPr lang="en-US" sz="1600" b="0" dirty="0">
              <a:solidFill>
                <a:srgbClr val="BBBBBB"/>
              </a:solidFill>
              <a:effectLst/>
              <a:latin typeface="Consolas" panose="020B0609020204030204" pitchFamily="49" charset="0"/>
            </a:endParaRPr>
          </a:p>
          <a:p>
            <a:pPr>
              <a:lnSpc>
                <a:spcPts val="1425"/>
              </a:lnSpc>
              <a:buNone/>
            </a:pPr>
            <a:r>
              <a:rPr lang="en-US" sz="1600" b="0" dirty="0">
                <a:solidFill>
                  <a:srgbClr val="BBBBBB"/>
                </a:solidFill>
                <a:effectLst/>
                <a:latin typeface="Consolas" panose="020B0609020204030204" pitchFamily="49" charset="0"/>
              </a:rPr>
              <a:t>    </a:t>
            </a:r>
            <a:r>
              <a:rPr lang="en-US" sz="1600" b="0" dirty="0" err="1">
                <a:solidFill>
                  <a:srgbClr val="BBBBBB"/>
                </a:solidFill>
                <a:effectLst/>
                <a:latin typeface="Consolas" panose="020B0609020204030204" pitchFamily="49" charset="0"/>
              </a:rPr>
              <a:t>computer_choice</a:t>
            </a:r>
            <a:r>
              <a:rPr lang="en-US" sz="1600" b="0" dirty="0">
                <a:solidFill>
                  <a:srgbClr val="BBBBBB"/>
                </a:solidFill>
                <a:effectLst/>
                <a:latin typeface="Consolas" panose="020B0609020204030204" pitchFamily="49" charset="0"/>
              </a:rPr>
              <a:t> </a:t>
            </a:r>
            <a:r>
              <a:rPr lang="en-US" sz="1600" b="0" dirty="0">
                <a:solidFill>
                  <a:srgbClr val="E06C75"/>
                </a:solidFill>
                <a:effectLst/>
                <a:latin typeface="Consolas" panose="020B0609020204030204" pitchFamily="49" charset="0"/>
              </a:rPr>
              <a:t>=</a:t>
            </a:r>
            <a:r>
              <a:rPr lang="en-US" sz="1600" b="0" dirty="0">
                <a:solidFill>
                  <a:srgbClr val="BBBBBB"/>
                </a:solidFill>
                <a:effectLst/>
                <a:latin typeface="Consolas" panose="020B0609020204030204" pitchFamily="49" charset="0"/>
              </a:rPr>
              <a:t> </a:t>
            </a:r>
            <a:r>
              <a:rPr lang="en-US" sz="1600" b="0" dirty="0">
                <a:solidFill>
                  <a:srgbClr val="E5C07B"/>
                </a:solidFill>
                <a:effectLst/>
                <a:latin typeface="Consolas" panose="020B0609020204030204" pitchFamily="49" charset="0"/>
              </a:rPr>
              <a:t>"paper"</a:t>
            </a:r>
            <a:endParaRPr lang="en-US" sz="1600" b="0" dirty="0">
              <a:solidFill>
                <a:srgbClr val="BBBBBB"/>
              </a:solidFill>
              <a:effectLst/>
              <a:latin typeface="Consolas" panose="020B0609020204030204" pitchFamily="49" charset="0"/>
            </a:endParaRPr>
          </a:p>
          <a:p>
            <a:pPr>
              <a:lnSpc>
                <a:spcPts val="1425"/>
              </a:lnSpc>
              <a:buNone/>
            </a:pPr>
            <a:r>
              <a:rPr lang="en-US" sz="1600" b="0" dirty="0">
                <a:solidFill>
                  <a:srgbClr val="E06C75"/>
                </a:solidFill>
                <a:effectLst/>
                <a:latin typeface="Consolas" panose="020B0609020204030204" pitchFamily="49" charset="0"/>
              </a:rPr>
              <a:t>else</a:t>
            </a:r>
            <a:r>
              <a:rPr lang="en-US" sz="1600" b="0" dirty="0">
                <a:solidFill>
                  <a:srgbClr val="ABB2BF"/>
                </a:solidFill>
                <a:effectLst/>
                <a:latin typeface="Consolas" panose="020B0609020204030204" pitchFamily="49" charset="0"/>
              </a:rPr>
              <a:t>:</a:t>
            </a:r>
            <a:endParaRPr lang="en-US" sz="1600" b="0" dirty="0">
              <a:solidFill>
                <a:srgbClr val="BBBBBB"/>
              </a:solidFill>
              <a:effectLst/>
              <a:latin typeface="Consolas" panose="020B0609020204030204" pitchFamily="49" charset="0"/>
            </a:endParaRPr>
          </a:p>
          <a:p>
            <a:pPr>
              <a:lnSpc>
                <a:spcPts val="1425"/>
              </a:lnSpc>
              <a:buNone/>
            </a:pPr>
            <a:r>
              <a:rPr lang="en-US" sz="1600" b="0" dirty="0">
                <a:solidFill>
                  <a:srgbClr val="BBBBBB"/>
                </a:solidFill>
                <a:effectLst/>
                <a:latin typeface="Consolas" panose="020B0609020204030204" pitchFamily="49" charset="0"/>
              </a:rPr>
              <a:t>    </a:t>
            </a:r>
            <a:r>
              <a:rPr lang="en-US" sz="1600" b="0" dirty="0" err="1">
                <a:solidFill>
                  <a:srgbClr val="BBBBBB"/>
                </a:solidFill>
                <a:effectLst/>
                <a:latin typeface="Consolas" panose="020B0609020204030204" pitchFamily="49" charset="0"/>
              </a:rPr>
              <a:t>computer_choice</a:t>
            </a:r>
            <a:r>
              <a:rPr lang="en-US" sz="1600" b="0" dirty="0">
                <a:solidFill>
                  <a:srgbClr val="BBBBBB"/>
                </a:solidFill>
                <a:effectLst/>
                <a:latin typeface="Consolas" panose="020B0609020204030204" pitchFamily="49" charset="0"/>
              </a:rPr>
              <a:t> </a:t>
            </a:r>
            <a:r>
              <a:rPr lang="en-US" sz="1600" b="0" dirty="0">
                <a:solidFill>
                  <a:srgbClr val="E06C75"/>
                </a:solidFill>
                <a:effectLst/>
                <a:latin typeface="Consolas" panose="020B0609020204030204" pitchFamily="49" charset="0"/>
              </a:rPr>
              <a:t>=</a:t>
            </a:r>
            <a:r>
              <a:rPr lang="en-US" sz="1600" b="0" dirty="0">
                <a:solidFill>
                  <a:srgbClr val="BBBBBB"/>
                </a:solidFill>
                <a:effectLst/>
                <a:latin typeface="Consolas" panose="020B0609020204030204" pitchFamily="49" charset="0"/>
              </a:rPr>
              <a:t> </a:t>
            </a:r>
            <a:r>
              <a:rPr lang="en-US" sz="1600" b="0" dirty="0">
                <a:solidFill>
                  <a:srgbClr val="E5C07B"/>
                </a:solidFill>
                <a:effectLst/>
                <a:latin typeface="Consolas" panose="020B0609020204030204" pitchFamily="49" charset="0"/>
              </a:rPr>
              <a:t>"scissors"</a:t>
            </a:r>
            <a:endParaRPr lang="en-US" sz="1600" b="0" dirty="0">
              <a:solidFill>
                <a:srgbClr val="BBBBBB"/>
              </a:solidFill>
              <a:effectLst/>
              <a:latin typeface="Consolas" panose="020B0609020204030204" pitchFamily="49" charset="0"/>
            </a:endParaRPr>
          </a:p>
          <a:p>
            <a:pPr>
              <a:lnSpc>
                <a:spcPts val="1425"/>
              </a:lnSpc>
              <a:buNone/>
            </a:pPr>
            <a:br>
              <a:rPr lang="en-US" sz="1600" b="0" dirty="0">
                <a:solidFill>
                  <a:srgbClr val="BBBBBB"/>
                </a:solidFill>
                <a:effectLst/>
                <a:latin typeface="Consolas" panose="020B0609020204030204" pitchFamily="49" charset="0"/>
              </a:rPr>
            </a:br>
            <a:endParaRPr lang="en-US" sz="1600" b="0" dirty="0">
              <a:solidFill>
                <a:srgbClr val="BBBBBB"/>
              </a:solidFill>
              <a:effectLst/>
              <a:latin typeface="Consolas" panose="020B0609020204030204" pitchFamily="49" charset="0"/>
            </a:endParaRPr>
          </a:p>
          <a:p>
            <a:pPr>
              <a:lnSpc>
                <a:spcPts val="1425"/>
              </a:lnSpc>
              <a:buNone/>
            </a:pPr>
            <a:r>
              <a:rPr lang="en-US" sz="1600" b="0" dirty="0" err="1">
                <a:solidFill>
                  <a:srgbClr val="BBBBBB"/>
                </a:solidFill>
                <a:effectLst/>
                <a:latin typeface="Consolas" panose="020B0609020204030204" pitchFamily="49" charset="0"/>
              </a:rPr>
              <a:t>user_choice</a:t>
            </a:r>
            <a:r>
              <a:rPr lang="en-US" sz="1600" b="0" dirty="0">
                <a:solidFill>
                  <a:srgbClr val="BBBBBB"/>
                </a:solidFill>
                <a:effectLst/>
                <a:latin typeface="Consolas" panose="020B0609020204030204" pitchFamily="49" charset="0"/>
              </a:rPr>
              <a:t> </a:t>
            </a:r>
            <a:r>
              <a:rPr lang="en-US" sz="1600" b="0" dirty="0">
                <a:solidFill>
                  <a:srgbClr val="E06C75"/>
                </a:solidFill>
                <a:effectLst/>
                <a:latin typeface="Consolas" panose="020B0609020204030204" pitchFamily="49" charset="0"/>
              </a:rPr>
              <a:t>=</a:t>
            </a:r>
            <a:r>
              <a:rPr lang="en-US" sz="1600" b="0" dirty="0">
                <a:solidFill>
                  <a:srgbClr val="BBBBBB"/>
                </a:solidFill>
                <a:effectLst/>
                <a:latin typeface="Consolas" panose="020B0609020204030204" pitchFamily="49" charset="0"/>
              </a:rPr>
              <a:t> </a:t>
            </a:r>
            <a:r>
              <a:rPr lang="en-US" sz="1600" b="0" dirty="0">
                <a:solidFill>
                  <a:srgbClr val="98C379"/>
                </a:solidFill>
                <a:effectLst/>
                <a:latin typeface="Consolas" panose="020B0609020204030204" pitchFamily="49" charset="0"/>
              </a:rPr>
              <a:t>input</a:t>
            </a:r>
            <a:r>
              <a:rPr lang="en-US" sz="1600" b="0" dirty="0">
                <a:solidFill>
                  <a:srgbClr val="BBBBBB"/>
                </a:solidFill>
                <a:effectLst/>
                <a:latin typeface="Consolas" panose="020B0609020204030204" pitchFamily="49" charset="0"/>
              </a:rPr>
              <a:t>(</a:t>
            </a:r>
            <a:r>
              <a:rPr lang="en-US" sz="1600" b="0" dirty="0">
                <a:solidFill>
                  <a:srgbClr val="E5C07B"/>
                </a:solidFill>
                <a:effectLst/>
                <a:latin typeface="Consolas" panose="020B0609020204030204" pitchFamily="49" charset="0"/>
              </a:rPr>
              <a:t>"Enter your choice (rock, paper, scissors): "</a:t>
            </a:r>
            <a:r>
              <a:rPr lang="en-US" sz="1600" b="0" dirty="0">
                <a:solidFill>
                  <a:srgbClr val="BBBBBB"/>
                </a:solidFill>
                <a:effectLst/>
                <a:latin typeface="Consolas" panose="020B0609020204030204" pitchFamily="49" charset="0"/>
              </a:rPr>
              <a:t>)</a:t>
            </a:r>
            <a:r>
              <a:rPr lang="en-US" sz="1600" b="0" dirty="0">
                <a:solidFill>
                  <a:srgbClr val="ABB2BF"/>
                </a:solidFill>
                <a:effectLst/>
                <a:latin typeface="Consolas" panose="020B0609020204030204" pitchFamily="49" charset="0"/>
              </a:rPr>
              <a:t>.</a:t>
            </a:r>
            <a:r>
              <a:rPr lang="en-US" sz="1600" b="0" dirty="0">
                <a:solidFill>
                  <a:srgbClr val="BBBBBB"/>
                </a:solidFill>
                <a:effectLst/>
                <a:latin typeface="Consolas" panose="020B0609020204030204" pitchFamily="49" charset="0"/>
              </a:rPr>
              <a:t>lower()</a:t>
            </a:r>
            <a:br>
              <a:rPr lang="en-US" sz="1600" b="0" dirty="0">
                <a:solidFill>
                  <a:srgbClr val="BBBBBB"/>
                </a:solidFill>
                <a:effectLst/>
                <a:latin typeface="Consolas" panose="020B0609020204030204" pitchFamily="49" charset="0"/>
              </a:rPr>
            </a:br>
            <a:endParaRPr lang="en-US" sz="1600" b="0" dirty="0">
              <a:solidFill>
                <a:srgbClr val="BBBBBB"/>
              </a:solidFill>
              <a:effectLst/>
              <a:latin typeface="Consolas" panose="020B0609020204030204" pitchFamily="49" charset="0"/>
            </a:endParaRPr>
          </a:p>
          <a:p>
            <a:pPr>
              <a:lnSpc>
                <a:spcPts val="1425"/>
              </a:lnSpc>
              <a:buNone/>
            </a:pPr>
            <a:r>
              <a:rPr lang="en-US" sz="1600" b="0" dirty="0">
                <a:solidFill>
                  <a:srgbClr val="E06C75"/>
                </a:solidFill>
                <a:effectLst/>
                <a:latin typeface="Consolas" panose="020B0609020204030204" pitchFamily="49" charset="0"/>
              </a:rPr>
              <a:t>if</a:t>
            </a:r>
            <a:r>
              <a:rPr lang="en-US" sz="1600" b="0" dirty="0">
                <a:solidFill>
                  <a:srgbClr val="BBBBBB"/>
                </a:solidFill>
                <a:effectLst/>
                <a:latin typeface="Consolas" panose="020B0609020204030204" pitchFamily="49" charset="0"/>
              </a:rPr>
              <a:t> </a:t>
            </a:r>
            <a:r>
              <a:rPr lang="en-US" sz="1600" b="0" dirty="0" err="1">
                <a:solidFill>
                  <a:srgbClr val="BBBBBB"/>
                </a:solidFill>
                <a:effectLst/>
                <a:latin typeface="Consolas" panose="020B0609020204030204" pitchFamily="49" charset="0"/>
              </a:rPr>
              <a:t>user_choice</a:t>
            </a:r>
            <a:r>
              <a:rPr lang="en-US" sz="1600" b="0" dirty="0">
                <a:solidFill>
                  <a:srgbClr val="BBBBBB"/>
                </a:solidFill>
                <a:effectLst/>
                <a:latin typeface="Consolas" panose="020B0609020204030204" pitchFamily="49" charset="0"/>
              </a:rPr>
              <a:t> </a:t>
            </a:r>
            <a:r>
              <a:rPr lang="en-US" sz="1600" b="0" dirty="0">
                <a:solidFill>
                  <a:srgbClr val="E06C75"/>
                </a:solidFill>
                <a:effectLst/>
                <a:latin typeface="Consolas" panose="020B0609020204030204" pitchFamily="49" charset="0"/>
              </a:rPr>
              <a:t>==</a:t>
            </a:r>
            <a:r>
              <a:rPr lang="en-US" sz="1600" b="0" dirty="0">
                <a:solidFill>
                  <a:srgbClr val="BBBBBB"/>
                </a:solidFill>
                <a:effectLst/>
                <a:latin typeface="Consolas" panose="020B0609020204030204" pitchFamily="49" charset="0"/>
              </a:rPr>
              <a:t> </a:t>
            </a:r>
            <a:r>
              <a:rPr lang="en-US" sz="1600" b="0" dirty="0" err="1">
                <a:solidFill>
                  <a:srgbClr val="BBBBBB"/>
                </a:solidFill>
                <a:effectLst/>
                <a:latin typeface="Consolas" panose="020B0609020204030204" pitchFamily="49" charset="0"/>
              </a:rPr>
              <a:t>computer_choice</a:t>
            </a:r>
            <a:r>
              <a:rPr lang="en-US" sz="1600" b="0" dirty="0">
                <a:solidFill>
                  <a:srgbClr val="ABB2BF"/>
                </a:solidFill>
                <a:effectLst/>
                <a:latin typeface="Consolas" panose="020B0609020204030204" pitchFamily="49" charset="0"/>
              </a:rPr>
              <a:t>:</a:t>
            </a:r>
            <a:endParaRPr lang="en-US" sz="1600" b="0" dirty="0">
              <a:solidFill>
                <a:srgbClr val="BBBBBB"/>
              </a:solidFill>
              <a:effectLst/>
              <a:latin typeface="Consolas" panose="020B0609020204030204" pitchFamily="49" charset="0"/>
            </a:endParaRPr>
          </a:p>
          <a:p>
            <a:pPr>
              <a:lnSpc>
                <a:spcPts val="1425"/>
              </a:lnSpc>
              <a:buNone/>
            </a:pPr>
            <a:r>
              <a:rPr lang="en-US" sz="1600" b="0" dirty="0">
                <a:solidFill>
                  <a:srgbClr val="BBBBBB"/>
                </a:solidFill>
                <a:effectLst/>
                <a:latin typeface="Consolas" panose="020B0609020204030204" pitchFamily="49" charset="0"/>
              </a:rPr>
              <a:t>    </a:t>
            </a:r>
            <a:r>
              <a:rPr lang="en-US" sz="1600" b="0" dirty="0">
                <a:solidFill>
                  <a:srgbClr val="98C379"/>
                </a:solidFill>
                <a:effectLst/>
                <a:latin typeface="Consolas" panose="020B0609020204030204" pitchFamily="49" charset="0"/>
              </a:rPr>
              <a:t>print</a:t>
            </a:r>
            <a:r>
              <a:rPr lang="en-US" sz="1600" b="0" dirty="0">
                <a:solidFill>
                  <a:srgbClr val="BBBBBB"/>
                </a:solidFill>
                <a:effectLst/>
                <a:latin typeface="Consolas" panose="020B0609020204030204" pitchFamily="49" charset="0"/>
              </a:rPr>
              <a:t>(</a:t>
            </a:r>
            <a:r>
              <a:rPr lang="en-US" sz="1600" b="0" dirty="0" err="1">
                <a:solidFill>
                  <a:srgbClr val="56B6C2"/>
                </a:solidFill>
                <a:effectLst/>
                <a:latin typeface="Consolas" panose="020B0609020204030204" pitchFamily="49" charset="0"/>
              </a:rPr>
              <a:t>f</a:t>
            </a:r>
            <a:r>
              <a:rPr lang="en-US" sz="1600" b="0" dirty="0" err="1">
                <a:solidFill>
                  <a:srgbClr val="E5C07B"/>
                </a:solidFill>
                <a:effectLst/>
                <a:latin typeface="Consolas" panose="020B0609020204030204" pitchFamily="49" charset="0"/>
              </a:rPr>
              <a:t>"Both</a:t>
            </a:r>
            <a:r>
              <a:rPr lang="en-US" sz="1600" b="0" dirty="0">
                <a:solidFill>
                  <a:srgbClr val="E5C07B"/>
                </a:solidFill>
                <a:effectLst/>
                <a:latin typeface="Consolas" panose="020B0609020204030204" pitchFamily="49" charset="0"/>
              </a:rPr>
              <a:t> chose </a:t>
            </a:r>
            <a:r>
              <a:rPr lang="en-US" sz="1600" b="0" dirty="0">
                <a:solidFill>
                  <a:srgbClr val="56B6C2"/>
                </a:solidFill>
                <a:effectLst/>
                <a:latin typeface="Consolas" panose="020B0609020204030204" pitchFamily="49" charset="0"/>
              </a:rPr>
              <a:t>{</a:t>
            </a:r>
            <a:r>
              <a:rPr lang="en-US" sz="1600" b="0" dirty="0" err="1">
                <a:solidFill>
                  <a:srgbClr val="BBBBBB"/>
                </a:solidFill>
                <a:effectLst/>
                <a:latin typeface="Consolas" panose="020B0609020204030204" pitchFamily="49" charset="0"/>
              </a:rPr>
              <a:t>user_choice</a:t>
            </a:r>
            <a:r>
              <a:rPr lang="en-US" sz="1600" b="0" dirty="0">
                <a:solidFill>
                  <a:srgbClr val="56B6C2"/>
                </a:solidFill>
                <a:effectLst/>
                <a:latin typeface="Consolas" panose="020B0609020204030204" pitchFamily="49" charset="0"/>
              </a:rPr>
              <a:t>}</a:t>
            </a:r>
            <a:r>
              <a:rPr lang="en-US" sz="1600" b="0" dirty="0">
                <a:solidFill>
                  <a:srgbClr val="E5C07B"/>
                </a:solidFill>
                <a:effectLst/>
                <a:latin typeface="Consolas" panose="020B0609020204030204" pitchFamily="49" charset="0"/>
              </a:rPr>
              <a:t>. It's a tie!"</a:t>
            </a:r>
            <a:r>
              <a:rPr lang="en-US" sz="1600" b="0" dirty="0">
                <a:solidFill>
                  <a:srgbClr val="BBBBBB"/>
                </a:solidFill>
                <a:effectLst/>
                <a:latin typeface="Consolas" panose="020B0609020204030204" pitchFamily="49" charset="0"/>
              </a:rPr>
              <a:t>)</a:t>
            </a:r>
          </a:p>
          <a:p>
            <a:pPr>
              <a:lnSpc>
                <a:spcPts val="1425"/>
              </a:lnSpc>
              <a:buNone/>
            </a:pPr>
            <a:r>
              <a:rPr lang="en-US" sz="1600" b="0" dirty="0" err="1">
                <a:solidFill>
                  <a:srgbClr val="E06C75"/>
                </a:solidFill>
                <a:effectLst/>
                <a:latin typeface="Consolas" panose="020B0609020204030204" pitchFamily="49" charset="0"/>
              </a:rPr>
              <a:t>elif</a:t>
            </a:r>
            <a:r>
              <a:rPr lang="en-US" sz="1600" b="0" dirty="0">
                <a:solidFill>
                  <a:srgbClr val="BBBBBB"/>
                </a:solidFill>
                <a:effectLst/>
                <a:latin typeface="Consolas" panose="020B0609020204030204" pitchFamily="49" charset="0"/>
              </a:rPr>
              <a:t> </a:t>
            </a:r>
            <a:r>
              <a:rPr lang="en-US" sz="1600" b="0" dirty="0" err="1">
                <a:solidFill>
                  <a:srgbClr val="BBBBBB"/>
                </a:solidFill>
                <a:effectLst/>
                <a:latin typeface="Consolas" panose="020B0609020204030204" pitchFamily="49" charset="0"/>
              </a:rPr>
              <a:t>user_choice</a:t>
            </a:r>
            <a:r>
              <a:rPr lang="en-US" sz="1600" b="0" dirty="0">
                <a:solidFill>
                  <a:srgbClr val="BBBBBB"/>
                </a:solidFill>
                <a:effectLst/>
                <a:latin typeface="Consolas" panose="020B0609020204030204" pitchFamily="49" charset="0"/>
              </a:rPr>
              <a:t> </a:t>
            </a:r>
            <a:r>
              <a:rPr lang="en-US" sz="1600" b="0" dirty="0">
                <a:solidFill>
                  <a:srgbClr val="E06C75"/>
                </a:solidFill>
                <a:effectLst/>
                <a:latin typeface="Consolas" panose="020B0609020204030204" pitchFamily="49" charset="0"/>
              </a:rPr>
              <a:t>==</a:t>
            </a:r>
            <a:r>
              <a:rPr lang="en-US" sz="1600" b="0" dirty="0">
                <a:solidFill>
                  <a:srgbClr val="BBBBBB"/>
                </a:solidFill>
                <a:effectLst/>
                <a:latin typeface="Consolas" panose="020B0609020204030204" pitchFamily="49" charset="0"/>
              </a:rPr>
              <a:t> </a:t>
            </a:r>
            <a:r>
              <a:rPr lang="en-US" sz="1600" b="0" dirty="0">
                <a:solidFill>
                  <a:srgbClr val="E5C07B"/>
                </a:solidFill>
                <a:effectLst/>
                <a:latin typeface="Consolas" panose="020B0609020204030204" pitchFamily="49" charset="0"/>
              </a:rPr>
              <a:t>"rock"</a:t>
            </a:r>
            <a:r>
              <a:rPr lang="en-US" sz="1600" b="0" dirty="0">
                <a:solidFill>
                  <a:srgbClr val="BBBBBB"/>
                </a:solidFill>
                <a:effectLst/>
                <a:latin typeface="Consolas" panose="020B0609020204030204" pitchFamily="49" charset="0"/>
              </a:rPr>
              <a:t> </a:t>
            </a:r>
            <a:r>
              <a:rPr lang="en-US" sz="1600" b="0" dirty="0">
                <a:solidFill>
                  <a:srgbClr val="E06C75"/>
                </a:solidFill>
                <a:effectLst/>
                <a:latin typeface="Consolas" panose="020B0609020204030204" pitchFamily="49" charset="0"/>
              </a:rPr>
              <a:t>and</a:t>
            </a:r>
            <a:r>
              <a:rPr lang="en-US" sz="1600" b="0" dirty="0">
                <a:solidFill>
                  <a:srgbClr val="BBBBBB"/>
                </a:solidFill>
                <a:effectLst/>
                <a:latin typeface="Consolas" panose="020B0609020204030204" pitchFamily="49" charset="0"/>
              </a:rPr>
              <a:t> </a:t>
            </a:r>
            <a:r>
              <a:rPr lang="en-US" sz="1600" b="0" dirty="0" err="1">
                <a:solidFill>
                  <a:srgbClr val="BBBBBB"/>
                </a:solidFill>
                <a:effectLst/>
                <a:latin typeface="Consolas" panose="020B0609020204030204" pitchFamily="49" charset="0"/>
              </a:rPr>
              <a:t>computer_choice</a:t>
            </a:r>
            <a:r>
              <a:rPr lang="en-US" sz="1600" b="0" dirty="0">
                <a:solidFill>
                  <a:srgbClr val="BBBBBB"/>
                </a:solidFill>
                <a:effectLst/>
                <a:latin typeface="Consolas" panose="020B0609020204030204" pitchFamily="49" charset="0"/>
              </a:rPr>
              <a:t> </a:t>
            </a:r>
            <a:r>
              <a:rPr lang="en-US" sz="1600" b="0" dirty="0">
                <a:solidFill>
                  <a:srgbClr val="E06C75"/>
                </a:solidFill>
                <a:effectLst/>
                <a:latin typeface="Consolas" panose="020B0609020204030204" pitchFamily="49" charset="0"/>
              </a:rPr>
              <a:t>==</a:t>
            </a:r>
            <a:r>
              <a:rPr lang="en-US" sz="1600" b="0" dirty="0">
                <a:solidFill>
                  <a:srgbClr val="BBBBBB"/>
                </a:solidFill>
                <a:effectLst/>
                <a:latin typeface="Consolas" panose="020B0609020204030204" pitchFamily="49" charset="0"/>
              </a:rPr>
              <a:t> </a:t>
            </a:r>
            <a:r>
              <a:rPr lang="en-US" sz="1600" b="0" dirty="0">
                <a:solidFill>
                  <a:srgbClr val="E5C07B"/>
                </a:solidFill>
                <a:effectLst/>
                <a:latin typeface="Consolas" panose="020B0609020204030204" pitchFamily="49" charset="0"/>
              </a:rPr>
              <a:t>"scissors"</a:t>
            </a:r>
            <a:r>
              <a:rPr lang="en-US" sz="1600" b="0" dirty="0">
                <a:solidFill>
                  <a:srgbClr val="ABB2BF"/>
                </a:solidFill>
                <a:effectLst/>
                <a:latin typeface="Consolas" panose="020B0609020204030204" pitchFamily="49" charset="0"/>
              </a:rPr>
              <a:t>:</a:t>
            </a:r>
            <a:endParaRPr lang="en-US" sz="1600" b="0" dirty="0">
              <a:solidFill>
                <a:srgbClr val="BBBBBB"/>
              </a:solidFill>
              <a:effectLst/>
              <a:latin typeface="Consolas" panose="020B0609020204030204" pitchFamily="49" charset="0"/>
            </a:endParaRPr>
          </a:p>
          <a:p>
            <a:pPr>
              <a:lnSpc>
                <a:spcPts val="1425"/>
              </a:lnSpc>
              <a:buNone/>
            </a:pPr>
            <a:r>
              <a:rPr lang="en-US" sz="1600" b="0" dirty="0">
                <a:solidFill>
                  <a:srgbClr val="BBBBBB"/>
                </a:solidFill>
                <a:effectLst/>
                <a:latin typeface="Consolas" panose="020B0609020204030204" pitchFamily="49" charset="0"/>
              </a:rPr>
              <a:t>     </a:t>
            </a:r>
            <a:r>
              <a:rPr lang="en-US" sz="1600" b="0" dirty="0">
                <a:solidFill>
                  <a:srgbClr val="98C379"/>
                </a:solidFill>
                <a:effectLst/>
                <a:latin typeface="Consolas" panose="020B0609020204030204" pitchFamily="49" charset="0"/>
              </a:rPr>
              <a:t>print</a:t>
            </a:r>
            <a:r>
              <a:rPr lang="en-US" sz="1600" b="0" dirty="0">
                <a:solidFill>
                  <a:srgbClr val="BBBBBB"/>
                </a:solidFill>
                <a:effectLst/>
                <a:latin typeface="Consolas" panose="020B0609020204030204" pitchFamily="49" charset="0"/>
              </a:rPr>
              <a:t>(</a:t>
            </a:r>
            <a:r>
              <a:rPr lang="en-US" sz="1600" b="0" dirty="0" err="1">
                <a:solidFill>
                  <a:srgbClr val="56B6C2"/>
                </a:solidFill>
                <a:effectLst/>
                <a:latin typeface="Consolas" panose="020B0609020204030204" pitchFamily="49" charset="0"/>
              </a:rPr>
              <a:t>f</a:t>
            </a:r>
            <a:r>
              <a:rPr lang="en-US" sz="1600" b="0" dirty="0" err="1">
                <a:solidFill>
                  <a:srgbClr val="E5C07B"/>
                </a:solidFill>
                <a:effectLst/>
                <a:latin typeface="Consolas" panose="020B0609020204030204" pitchFamily="49" charset="0"/>
              </a:rPr>
              <a:t>"You</a:t>
            </a:r>
            <a:r>
              <a:rPr lang="en-US" sz="1600" b="0" dirty="0">
                <a:solidFill>
                  <a:srgbClr val="E5C07B"/>
                </a:solidFill>
                <a:effectLst/>
                <a:latin typeface="Consolas" panose="020B0609020204030204" pitchFamily="49" charset="0"/>
              </a:rPr>
              <a:t> win! </a:t>
            </a:r>
            <a:r>
              <a:rPr lang="en-US" sz="1600" b="0" dirty="0">
                <a:solidFill>
                  <a:srgbClr val="56B6C2"/>
                </a:solidFill>
                <a:effectLst/>
                <a:latin typeface="Consolas" panose="020B0609020204030204" pitchFamily="49" charset="0"/>
              </a:rPr>
              <a:t>{</a:t>
            </a:r>
            <a:r>
              <a:rPr lang="en-US" sz="1600" b="0" dirty="0" err="1">
                <a:solidFill>
                  <a:srgbClr val="BBBBBB"/>
                </a:solidFill>
                <a:effectLst/>
                <a:latin typeface="Consolas" panose="020B0609020204030204" pitchFamily="49" charset="0"/>
              </a:rPr>
              <a:t>user_choice</a:t>
            </a:r>
            <a:r>
              <a:rPr lang="en-US" sz="1600" b="0" dirty="0">
                <a:solidFill>
                  <a:srgbClr val="56B6C2"/>
                </a:solidFill>
                <a:effectLst/>
                <a:latin typeface="Consolas" panose="020B0609020204030204" pitchFamily="49" charset="0"/>
              </a:rPr>
              <a:t>}</a:t>
            </a:r>
            <a:r>
              <a:rPr lang="en-US" sz="1600" b="0" dirty="0">
                <a:solidFill>
                  <a:srgbClr val="E5C07B"/>
                </a:solidFill>
                <a:effectLst/>
                <a:latin typeface="Consolas" panose="020B0609020204030204" pitchFamily="49" charset="0"/>
              </a:rPr>
              <a:t> beats </a:t>
            </a:r>
            <a:r>
              <a:rPr lang="en-US" sz="1600" b="0" dirty="0">
                <a:solidFill>
                  <a:srgbClr val="56B6C2"/>
                </a:solidFill>
                <a:effectLst/>
                <a:latin typeface="Consolas" panose="020B0609020204030204" pitchFamily="49" charset="0"/>
              </a:rPr>
              <a:t>{</a:t>
            </a:r>
            <a:r>
              <a:rPr lang="en-US" sz="1600" b="0" dirty="0" err="1">
                <a:solidFill>
                  <a:srgbClr val="BBBBBB"/>
                </a:solidFill>
                <a:effectLst/>
                <a:latin typeface="Consolas" panose="020B0609020204030204" pitchFamily="49" charset="0"/>
              </a:rPr>
              <a:t>computer_choice</a:t>
            </a:r>
            <a:r>
              <a:rPr lang="en-US" sz="1600" b="0" dirty="0">
                <a:solidFill>
                  <a:srgbClr val="56B6C2"/>
                </a:solidFill>
                <a:effectLst/>
                <a:latin typeface="Consolas" panose="020B0609020204030204" pitchFamily="49" charset="0"/>
              </a:rPr>
              <a:t>}</a:t>
            </a:r>
            <a:r>
              <a:rPr lang="en-US" sz="1600" b="0" dirty="0">
                <a:solidFill>
                  <a:srgbClr val="E5C07B"/>
                </a:solidFill>
                <a:effectLst/>
                <a:latin typeface="Consolas" panose="020B0609020204030204" pitchFamily="49" charset="0"/>
              </a:rPr>
              <a:t>."</a:t>
            </a:r>
            <a:r>
              <a:rPr lang="en-US" sz="1600" b="0" dirty="0">
                <a:solidFill>
                  <a:srgbClr val="BBBBBB"/>
                </a:solidFill>
                <a:effectLst/>
                <a:latin typeface="Consolas" panose="020B0609020204030204" pitchFamily="49" charset="0"/>
              </a:rPr>
              <a:t>)</a:t>
            </a:r>
          </a:p>
          <a:p>
            <a:pPr>
              <a:lnSpc>
                <a:spcPts val="1425"/>
              </a:lnSpc>
              <a:buNone/>
            </a:pPr>
            <a:r>
              <a:rPr lang="en-US" sz="1600" b="0" dirty="0" err="1">
                <a:solidFill>
                  <a:srgbClr val="E06C75"/>
                </a:solidFill>
                <a:effectLst/>
                <a:latin typeface="Consolas" panose="020B0609020204030204" pitchFamily="49" charset="0"/>
              </a:rPr>
              <a:t>elif</a:t>
            </a:r>
            <a:r>
              <a:rPr lang="en-US" sz="1600" b="0" dirty="0">
                <a:solidFill>
                  <a:srgbClr val="BBBBBB"/>
                </a:solidFill>
                <a:effectLst/>
                <a:latin typeface="Consolas" panose="020B0609020204030204" pitchFamily="49" charset="0"/>
              </a:rPr>
              <a:t> </a:t>
            </a:r>
            <a:r>
              <a:rPr lang="en-US" sz="1600" b="0" dirty="0" err="1">
                <a:solidFill>
                  <a:srgbClr val="BBBBBB"/>
                </a:solidFill>
                <a:effectLst/>
                <a:latin typeface="Consolas" panose="020B0609020204030204" pitchFamily="49" charset="0"/>
              </a:rPr>
              <a:t>user_choice</a:t>
            </a:r>
            <a:r>
              <a:rPr lang="en-US" sz="1600" b="0" dirty="0">
                <a:solidFill>
                  <a:srgbClr val="BBBBBB"/>
                </a:solidFill>
                <a:effectLst/>
                <a:latin typeface="Consolas" panose="020B0609020204030204" pitchFamily="49" charset="0"/>
              </a:rPr>
              <a:t> </a:t>
            </a:r>
            <a:r>
              <a:rPr lang="en-US" sz="1600" b="0" dirty="0">
                <a:solidFill>
                  <a:srgbClr val="E06C75"/>
                </a:solidFill>
                <a:effectLst/>
                <a:latin typeface="Consolas" panose="020B0609020204030204" pitchFamily="49" charset="0"/>
              </a:rPr>
              <a:t>==</a:t>
            </a:r>
            <a:r>
              <a:rPr lang="en-US" sz="1600" b="0" dirty="0">
                <a:solidFill>
                  <a:srgbClr val="BBBBBB"/>
                </a:solidFill>
                <a:effectLst/>
                <a:latin typeface="Consolas" panose="020B0609020204030204" pitchFamily="49" charset="0"/>
              </a:rPr>
              <a:t> </a:t>
            </a:r>
            <a:r>
              <a:rPr lang="en-US" sz="1600" b="0" dirty="0">
                <a:solidFill>
                  <a:srgbClr val="E5C07B"/>
                </a:solidFill>
                <a:effectLst/>
                <a:latin typeface="Consolas" panose="020B0609020204030204" pitchFamily="49" charset="0"/>
              </a:rPr>
              <a:t>"paper"</a:t>
            </a:r>
            <a:r>
              <a:rPr lang="en-US" sz="1600" b="0" dirty="0">
                <a:solidFill>
                  <a:srgbClr val="BBBBBB"/>
                </a:solidFill>
                <a:effectLst/>
                <a:latin typeface="Consolas" panose="020B0609020204030204" pitchFamily="49" charset="0"/>
              </a:rPr>
              <a:t> </a:t>
            </a:r>
            <a:r>
              <a:rPr lang="en-US" sz="1600" b="0" dirty="0">
                <a:solidFill>
                  <a:srgbClr val="E06C75"/>
                </a:solidFill>
                <a:effectLst/>
                <a:latin typeface="Consolas" panose="020B0609020204030204" pitchFamily="49" charset="0"/>
              </a:rPr>
              <a:t>and</a:t>
            </a:r>
            <a:r>
              <a:rPr lang="en-US" sz="1600" b="0" dirty="0">
                <a:solidFill>
                  <a:srgbClr val="BBBBBB"/>
                </a:solidFill>
                <a:effectLst/>
                <a:latin typeface="Consolas" panose="020B0609020204030204" pitchFamily="49" charset="0"/>
              </a:rPr>
              <a:t> </a:t>
            </a:r>
            <a:r>
              <a:rPr lang="en-US" sz="1600" b="0" dirty="0" err="1">
                <a:solidFill>
                  <a:srgbClr val="BBBBBB"/>
                </a:solidFill>
                <a:effectLst/>
                <a:latin typeface="Consolas" panose="020B0609020204030204" pitchFamily="49" charset="0"/>
              </a:rPr>
              <a:t>computer_choice</a:t>
            </a:r>
            <a:r>
              <a:rPr lang="en-US" sz="1600" b="0" dirty="0">
                <a:solidFill>
                  <a:srgbClr val="BBBBBB"/>
                </a:solidFill>
                <a:effectLst/>
                <a:latin typeface="Consolas" panose="020B0609020204030204" pitchFamily="49" charset="0"/>
              </a:rPr>
              <a:t> </a:t>
            </a:r>
            <a:r>
              <a:rPr lang="en-US" sz="1600" b="0" dirty="0">
                <a:solidFill>
                  <a:srgbClr val="E06C75"/>
                </a:solidFill>
                <a:effectLst/>
                <a:latin typeface="Consolas" panose="020B0609020204030204" pitchFamily="49" charset="0"/>
              </a:rPr>
              <a:t>==</a:t>
            </a:r>
            <a:r>
              <a:rPr lang="en-US" sz="1600" b="0" dirty="0">
                <a:solidFill>
                  <a:srgbClr val="BBBBBB"/>
                </a:solidFill>
                <a:effectLst/>
                <a:latin typeface="Consolas" panose="020B0609020204030204" pitchFamily="49" charset="0"/>
              </a:rPr>
              <a:t> </a:t>
            </a:r>
            <a:r>
              <a:rPr lang="en-US" sz="1600" b="0" dirty="0">
                <a:solidFill>
                  <a:srgbClr val="E5C07B"/>
                </a:solidFill>
                <a:effectLst/>
                <a:latin typeface="Consolas" panose="020B0609020204030204" pitchFamily="49" charset="0"/>
              </a:rPr>
              <a:t>"rock"</a:t>
            </a:r>
            <a:r>
              <a:rPr lang="en-US" sz="1600" b="0" dirty="0">
                <a:solidFill>
                  <a:srgbClr val="ABB2BF"/>
                </a:solidFill>
                <a:effectLst/>
                <a:latin typeface="Consolas" panose="020B0609020204030204" pitchFamily="49" charset="0"/>
              </a:rPr>
              <a:t>:</a:t>
            </a:r>
            <a:endParaRPr lang="en-US" sz="1600" b="0" dirty="0">
              <a:solidFill>
                <a:srgbClr val="BBBBBB"/>
              </a:solidFill>
              <a:effectLst/>
              <a:latin typeface="Consolas" panose="020B0609020204030204" pitchFamily="49" charset="0"/>
            </a:endParaRPr>
          </a:p>
          <a:p>
            <a:pPr>
              <a:lnSpc>
                <a:spcPts val="1425"/>
              </a:lnSpc>
              <a:buNone/>
            </a:pPr>
            <a:r>
              <a:rPr lang="en-US" sz="1600" b="0" dirty="0">
                <a:solidFill>
                  <a:srgbClr val="BBBBBB"/>
                </a:solidFill>
                <a:effectLst/>
                <a:latin typeface="Consolas" panose="020B0609020204030204" pitchFamily="49" charset="0"/>
              </a:rPr>
              <a:t>    </a:t>
            </a:r>
            <a:r>
              <a:rPr lang="en-US" sz="1600" b="0" dirty="0">
                <a:solidFill>
                  <a:srgbClr val="98C379"/>
                </a:solidFill>
                <a:effectLst/>
                <a:latin typeface="Consolas" panose="020B0609020204030204" pitchFamily="49" charset="0"/>
              </a:rPr>
              <a:t>print</a:t>
            </a:r>
            <a:r>
              <a:rPr lang="en-US" sz="1600" b="0" dirty="0">
                <a:solidFill>
                  <a:srgbClr val="BBBBBB"/>
                </a:solidFill>
                <a:effectLst/>
                <a:latin typeface="Consolas" panose="020B0609020204030204" pitchFamily="49" charset="0"/>
              </a:rPr>
              <a:t>(</a:t>
            </a:r>
            <a:r>
              <a:rPr lang="en-US" sz="1600" b="0" dirty="0" err="1">
                <a:solidFill>
                  <a:srgbClr val="56B6C2"/>
                </a:solidFill>
                <a:effectLst/>
                <a:latin typeface="Consolas" panose="020B0609020204030204" pitchFamily="49" charset="0"/>
              </a:rPr>
              <a:t>f</a:t>
            </a:r>
            <a:r>
              <a:rPr lang="en-US" sz="1600" b="0" dirty="0" err="1">
                <a:solidFill>
                  <a:srgbClr val="E5C07B"/>
                </a:solidFill>
                <a:effectLst/>
                <a:latin typeface="Consolas" panose="020B0609020204030204" pitchFamily="49" charset="0"/>
              </a:rPr>
              <a:t>"You</a:t>
            </a:r>
            <a:r>
              <a:rPr lang="en-US" sz="1600" b="0" dirty="0">
                <a:solidFill>
                  <a:srgbClr val="E5C07B"/>
                </a:solidFill>
                <a:effectLst/>
                <a:latin typeface="Consolas" panose="020B0609020204030204" pitchFamily="49" charset="0"/>
              </a:rPr>
              <a:t> win! </a:t>
            </a:r>
            <a:r>
              <a:rPr lang="en-US" sz="1600" b="0" dirty="0">
                <a:solidFill>
                  <a:srgbClr val="56B6C2"/>
                </a:solidFill>
                <a:effectLst/>
                <a:latin typeface="Consolas" panose="020B0609020204030204" pitchFamily="49" charset="0"/>
              </a:rPr>
              <a:t>{</a:t>
            </a:r>
            <a:r>
              <a:rPr lang="en-US" sz="1600" b="0" dirty="0" err="1">
                <a:solidFill>
                  <a:srgbClr val="BBBBBB"/>
                </a:solidFill>
                <a:effectLst/>
                <a:latin typeface="Consolas" panose="020B0609020204030204" pitchFamily="49" charset="0"/>
              </a:rPr>
              <a:t>user_choice</a:t>
            </a:r>
            <a:r>
              <a:rPr lang="en-US" sz="1600" b="0" dirty="0">
                <a:solidFill>
                  <a:srgbClr val="56B6C2"/>
                </a:solidFill>
                <a:effectLst/>
                <a:latin typeface="Consolas" panose="020B0609020204030204" pitchFamily="49" charset="0"/>
              </a:rPr>
              <a:t>}</a:t>
            </a:r>
            <a:r>
              <a:rPr lang="en-US" sz="1600" b="0" dirty="0">
                <a:solidFill>
                  <a:srgbClr val="E5C07B"/>
                </a:solidFill>
                <a:effectLst/>
                <a:latin typeface="Consolas" panose="020B0609020204030204" pitchFamily="49" charset="0"/>
              </a:rPr>
              <a:t> beats </a:t>
            </a:r>
            <a:r>
              <a:rPr lang="en-US" sz="1600" b="0" dirty="0">
                <a:solidFill>
                  <a:srgbClr val="56B6C2"/>
                </a:solidFill>
                <a:effectLst/>
                <a:latin typeface="Consolas" panose="020B0609020204030204" pitchFamily="49" charset="0"/>
              </a:rPr>
              <a:t>{</a:t>
            </a:r>
            <a:r>
              <a:rPr lang="en-US" sz="1600" b="0" dirty="0" err="1">
                <a:solidFill>
                  <a:srgbClr val="BBBBBB"/>
                </a:solidFill>
                <a:effectLst/>
                <a:latin typeface="Consolas" panose="020B0609020204030204" pitchFamily="49" charset="0"/>
              </a:rPr>
              <a:t>computer_choice</a:t>
            </a:r>
            <a:r>
              <a:rPr lang="en-US" sz="1600" b="0" dirty="0">
                <a:solidFill>
                  <a:srgbClr val="56B6C2"/>
                </a:solidFill>
                <a:effectLst/>
                <a:latin typeface="Consolas" panose="020B0609020204030204" pitchFamily="49" charset="0"/>
              </a:rPr>
              <a:t>}</a:t>
            </a:r>
            <a:r>
              <a:rPr lang="en-US" sz="1600" b="0" dirty="0">
                <a:solidFill>
                  <a:srgbClr val="E5C07B"/>
                </a:solidFill>
                <a:effectLst/>
                <a:latin typeface="Consolas" panose="020B0609020204030204" pitchFamily="49" charset="0"/>
              </a:rPr>
              <a:t>."</a:t>
            </a:r>
            <a:r>
              <a:rPr lang="en-US" sz="1600" b="0" dirty="0">
                <a:solidFill>
                  <a:srgbClr val="BBBBBB"/>
                </a:solidFill>
                <a:effectLst/>
                <a:latin typeface="Consolas" panose="020B0609020204030204" pitchFamily="49" charset="0"/>
              </a:rPr>
              <a:t>)</a:t>
            </a:r>
          </a:p>
          <a:p>
            <a:pPr>
              <a:lnSpc>
                <a:spcPts val="1425"/>
              </a:lnSpc>
              <a:buNone/>
            </a:pPr>
            <a:r>
              <a:rPr lang="en-US" sz="1600" b="0" dirty="0" err="1">
                <a:solidFill>
                  <a:srgbClr val="E06C75"/>
                </a:solidFill>
                <a:effectLst/>
                <a:latin typeface="Consolas" panose="020B0609020204030204" pitchFamily="49" charset="0"/>
              </a:rPr>
              <a:t>elif</a:t>
            </a:r>
            <a:r>
              <a:rPr lang="en-US" sz="1600" b="0" dirty="0">
                <a:solidFill>
                  <a:srgbClr val="BBBBBB"/>
                </a:solidFill>
                <a:effectLst/>
                <a:latin typeface="Consolas" panose="020B0609020204030204" pitchFamily="49" charset="0"/>
              </a:rPr>
              <a:t> </a:t>
            </a:r>
            <a:r>
              <a:rPr lang="en-US" sz="1600" b="0" dirty="0" err="1">
                <a:solidFill>
                  <a:srgbClr val="BBBBBB"/>
                </a:solidFill>
                <a:effectLst/>
                <a:latin typeface="Consolas" panose="020B0609020204030204" pitchFamily="49" charset="0"/>
              </a:rPr>
              <a:t>user_choice</a:t>
            </a:r>
            <a:r>
              <a:rPr lang="en-US" sz="1600" b="0" dirty="0">
                <a:solidFill>
                  <a:srgbClr val="BBBBBB"/>
                </a:solidFill>
                <a:effectLst/>
                <a:latin typeface="Consolas" panose="020B0609020204030204" pitchFamily="49" charset="0"/>
              </a:rPr>
              <a:t> </a:t>
            </a:r>
            <a:r>
              <a:rPr lang="en-US" sz="1600" b="0" dirty="0">
                <a:solidFill>
                  <a:srgbClr val="E06C75"/>
                </a:solidFill>
                <a:effectLst/>
                <a:latin typeface="Consolas" panose="020B0609020204030204" pitchFamily="49" charset="0"/>
              </a:rPr>
              <a:t>==</a:t>
            </a:r>
            <a:r>
              <a:rPr lang="en-US" sz="1600" b="0" dirty="0">
                <a:solidFill>
                  <a:srgbClr val="BBBBBB"/>
                </a:solidFill>
                <a:effectLst/>
                <a:latin typeface="Consolas" panose="020B0609020204030204" pitchFamily="49" charset="0"/>
              </a:rPr>
              <a:t> </a:t>
            </a:r>
            <a:r>
              <a:rPr lang="en-US" sz="1600" b="0" dirty="0">
                <a:solidFill>
                  <a:srgbClr val="E5C07B"/>
                </a:solidFill>
                <a:effectLst/>
                <a:latin typeface="Consolas" panose="020B0609020204030204" pitchFamily="49" charset="0"/>
              </a:rPr>
              <a:t>"scissors"</a:t>
            </a:r>
            <a:r>
              <a:rPr lang="en-US" sz="1600" b="0" dirty="0">
                <a:solidFill>
                  <a:srgbClr val="BBBBBB"/>
                </a:solidFill>
                <a:effectLst/>
                <a:latin typeface="Consolas" panose="020B0609020204030204" pitchFamily="49" charset="0"/>
              </a:rPr>
              <a:t> </a:t>
            </a:r>
            <a:r>
              <a:rPr lang="en-US" sz="1600" b="0" dirty="0">
                <a:solidFill>
                  <a:srgbClr val="E06C75"/>
                </a:solidFill>
                <a:effectLst/>
                <a:latin typeface="Consolas" panose="020B0609020204030204" pitchFamily="49" charset="0"/>
              </a:rPr>
              <a:t>and</a:t>
            </a:r>
            <a:r>
              <a:rPr lang="en-US" sz="1600" b="0" dirty="0">
                <a:solidFill>
                  <a:srgbClr val="BBBBBB"/>
                </a:solidFill>
                <a:effectLst/>
                <a:latin typeface="Consolas" panose="020B0609020204030204" pitchFamily="49" charset="0"/>
              </a:rPr>
              <a:t> </a:t>
            </a:r>
            <a:r>
              <a:rPr lang="en-US" sz="1600" b="0" dirty="0" err="1">
                <a:solidFill>
                  <a:srgbClr val="BBBBBB"/>
                </a:solidFill>
                <a:effectLst/>
                <a:latin typeface="Consolas" panose="020B0609020204030204" pitchFamily="49" charset="0"/>
              </a:rPr>
              <a:t>computer_choice</a:t>
            </a:r>
            <a:r>
              <a:rPr lang="en-US" sz="1600" b="0" dirty="0">
                <a:solidFill>
                  <a:srgbClr val="BBBBBB"/>
                </a:solidFill>
                <a:effectLst/>
                <a:latin typeface="Consolas" panose="020B0609020204030204" pitchFamily="49" charset="0"/>
              </a:rPr>
              <a:t> </a:t>
            </a:r>
            <a:r>
              <a:rPr lang="en-US" sz="1600" b="0" dirty="0">
                <a:solidFill>
                  <a:srgbClr val="E06C75"/>
                </a:solidFill>
                <a:effectLst/>
                <a:latin typeface="Consolas" panose="020B0609020204030204" pitchFamily="49" charset="0"/>
              </a:rPr>
              <a:t>==</a:t>
            </a:r>
            <a:r>
              <a:rPr lang="en-US" sz="1600" b="0" dirty="0">
                <a:solidFill>
                  <a:srgbClr val="BBBBBB"/>
                </a:solidFill>
                <a:effectLst/>
                <a:latin typeface="Consolas" panose="020B0609020204030204" pitchFamily="49" charset="0"/>
              </a:rPr>
              <a:t> </a:t>
            </a:r>
            <a:r>
              <a:rPr lang="en-US" sz="1600" b="0" dirty="0">
                <a:solidFill>
                  <a:srgbClr val="E5C07B"/>
                </a:solidFill>
                <a:effectLst/>
                <a:latin typeface="Consolas" panose="020B0609020204030204" pitchFamily="49" charset="0"/>
              </a:rPr>
              <a:t>"paper"</a:t>
            </a:r>
            <a:r>
              <a:rPr lang="en-US" sz="1600" b="0" dirty="0">
                <a:solidFill>
                  <a:srgbClr val="ABB2BF"/>
                </a:solidFill>
                <a:effectLst/>
                <a:latin typeface="Consolas" panose="020B0609020204030204" pitchFamily="49" charset="0"/>
              </a:rPr>
              <a:t>:</a:t>
            </a:r>
            <a:endParaRPr lang="en-US" sz="1600" b="0" dirty="0">
              <a:solidFill>
                <a:srgbClr val="BBBBBB"/>
              </a:solidFill>
              <a:effectLst/>
              <a:latin typeface="Consolas" panose="020B0609020204030204" pitchFamily="49" charset="0"/>
            </a:endParaRPr>
          </a:p>
          <a:p>
            <a:pPr>
              <a:lnSpc>
                <a:spcPts val="1425"/>
              </a:lnSpc>
              <a:buNone/>
            </a:pPr>
            <a:r>
              <a:rPr lang="en-US" sz="1600" b="0" dirty="0">
                <a:solidFill>
                  <a:srgbClr val="BBBBBB"/>
                </a:solidFill>
                <a:effectLst/>
                <a:latin typeface="Consolas" panose="020B0609020204030204" pitchFamily="49" charset="0"/>
              </a:rPr>
              <a:t>    </a:t>
            </a:r>
            <a:r>
              <a:rPr lang="en-US" sz="1600" b="0" dirty="0">
                <a:solidFill>
                  <a:srgbClr val="98C379"/>
                </a:solidFill>
                <a:effectLst/>
                <a:latin typeface="Consolas" panose="020B0609020204030204" pitchFamily="49" charset="0"/>
              </a:rPr>
              <a:t>print</a:t>
            </a:r>
            <a:r>
              <a:rPr lang="en-US" sz="1600" b="0" dirty="0">
                <a:solidFill>
                  <a:srgbClr val="BBBBBB"/>
                </a:solidFill>
                <a:effectLst/>
                <a:latin typeface="Consolas" panose="020B0609020204030204" pitchFamily="49" charset="0"/>
              </a:rPr>
              <a:t>(</a:t>
            </a:r>
            <a:r>
              <a:rPr lang="en-US" sz="1600" b="0" dirty="0" err="1">
                <a:solidFill>
                  <a:srgbClr val="56B6C2"/>
                </a:solidFill>
                <a:effectLst/>
                <a:latin typeface="Consolas" panose="020B0609020204030204" pitchFamily="49" charset="0"/>
              </a:rPr>
              <a:t>f</a:t>
            </a:r>
            <a:r>
              <a:rPr lang="en-US" sz="1600" b="0" dirty="0" err="1">
                <a:solidFill>
                  <a:srgbClr val="E5C07B"/>
                </a:solidFill>
                <a:effectLst/>
                <a:latin typeface="Consolas" panose="020B0609020204030204" pitchFamily="49" charset="0"/>
              </a:rPr>
              <a:t>"You</a:t>
            </a:r>
            <a:r>
              <a:rPr lang="en-US" sz="1600" b="0" dirty="0">
                <a:solidFill>
                  <a:srgbClr val="E5C07B"/>
                </a:solidFill>
                <a:effectLst/>
                <a:latin typeface="Consolas" panose="020B0609020204030204" pitchFamily="49" charset="0"/>
              </a:rPr>
              <a:t> win! </a:t>
            </a:r>
            <a:r>
              <a:rPr lang="en-US" sz="1600" b="0" dirty="0">
                <a:solidFill>
                  <a:srgbClr val="56B6C2"/>
                </a:solidFill>
                <a:effectLst/>
                <a:latin typeface="Consolas" panose="020B0609020204030204" pitchFamily="49" charset="0"/>
              </a:rPr>
              <a:t>{</a:t>
            </a:r>
            <a:r>
              <a:rPr lang="en-US" sz="1600" b="0" dirty="0" err="1">
                <a:solidFill>
                  <a:srgbClr val="BBBBBB"/>
                </a:solidFill>
                <a:effectLst/>
                <a:latin typeface="Consolas" panose="020B0609020204030204" pitchFamily="49" charset="0"/>
              </a:rPr>
              <a:t>user_choice</a:t>
            </a:r>
            <a:r>
              <a:rPr lang="en-US" sz="1600" b="0" dirty="0">
                <a:solidFill>
                  <a:srgbClr val="56B6C2"/>
                </a:solidFill>
                <a:effectLst/>
                <a:latin typeface="Consolas" panose="020B0609020204030204" pitchFamily="49" charset="0"/>
              </a:rPr>
              <a:t>}</a:t>
            </a:r>
            <a:r>
              <a:rPr lang="en-US" sz="1600" b="0" dirty="0">
                <a:solidFill>
                  <a:srgbClr val="E5C07B"/>
                </a:solidFill>
                <a:effectLst/>
                <a:latin typeface="Consolas" panose="020B0609020204030204" pitchFamily="49" charset="0"/>
              </a:rPr>
              <a:t> beats </a:t>
            </a:r>
            <a:r>
              <a:rPr lang="en-US" sz="1600" b="0" dirty="0">
                <a:solidFill>
                  <a:srgbClr val="56B6C2"/>
                </a:solidFill>
                <a:effectLst/>
                <a:latin typeface="Consolas" panose="020B0609020204030204" pitchFamily="49" charset="0"/>
              </a:rPr>
              <a:t>{</a:t>
            </a:r>
            <a:r>
              <a:rPr lang="en-US" sz="1600" b="0" dirty="0" err="1">
                <a:solidFill>
                  <a:srgbClr val="BBBBBB"/>
                </a:solidFill>
                <a:effectLst/>
                <a:latin typeface="Consolas" panose="020B0609020204030204" pitchFamily="49" charset="0"/>
              </a:rPr>
              <a:t>computer_choice</a:t>
            </a:r>
            <a:r>
              <a:rPr lang="en-US" sz="1600" b="0" dirty="0">
                <a:solidFill>
                  <a:srgbClr val="56B6C2"/>
                </a:solidFill>
                <a:effectLst/>
                <a:latin typeface="Consolas" panose="020B0609020204030204" pitchFamily="49" charset="0"/>
              </a:rPr>
              <a:t>}</a:t>
            </a:r>
            <a:r>
              <a:rPr lang="en-US" sz="1600" b="0" dirty="0">
                <a:solidFill>
                  <a:srgbClr val="E5C07B"/>
                </a:solidFill>
                <a:effectLst/>
                <a:latin typeface="Consolas" panose="020B0609020204030204" pitchFamily="49" charset="0"/>
              </a:rPr>
              <a:t>."</a:t>
            </a:r>
            <a:r>
              <a:rPr lang="en-US" sz="1600" b="0" dirty="0">
                <a:solidFill>
                  <a:srgbClr val="BBBBBB"/>
                </a:solidFill>
                <a:effectLst/>
                <a:latin typeface="Consolas" panose="020B0609020204030204" pitchFamily="49" charset="0"/>
              </a:rPr>
              <a:t>)</a:t>
            </a:r>
          </a:p>
          <a:p>
            <a:pPr>
              <a:lnSpc>
                <a:spcPts val="1425"/>
              </a:lnSpc>
              <a:buNone/>
            </a:pPr>
            <a:r>
              <a:rPr lang="en-US" sz="1600" b="0" dirty="0">
                <a:solidFill>
                  <a:srgbClr val="E06C75"/>
                </a:solidFill>
                <a:effectLst/>
                <a:latin typeface="Consolas" panose="020B0609020204030204" pitchFamily="49" charset="0"/>
              </a:rPr>
              <a:t>else</a:t>
            </a:r>
            <a:r>
              <a:rPr lang="en-US" sz="1600" b="0" dirty="0">
                <a:solidFill>
                  <a:srgbClr val="ABB2BF"/>
                </a:solidFill>
                <a:effectLst/>
                <a:latin typeface="Consolas" panose="020B0609020204030204" pitchFamily="49" charset="0"/>
              </a:rPr>
              <a:t>:</a:t>
            </a:r>
            <a:endParaRPr lang="en-US" sz="1600" b="0" dirty="0">
              <a:solidFill>
                <a:srgbClr val="BBBBBB"/>
              </a:solidFill>
              <a:effectLst/>
              <a:latin typeface="Consolas" panose="020B0609020204030204" pitchFamily="49" charset="0"/>
            </a:endParaRPr>
          </a:p>
          <a:p>
            <a:pPr>
              <a:lnSpc>
                <a:spcPts val="1425"/>
              </a:lnSpc>
              <a:buNone/>
            </a:pPr>
            <a:r>
              <a:rPr lang="en-US" sz="1600" b="0" dirty="0">
                <a:solidFill>
                  <a:srgbClr val="BBBBBB"/>
                </a:solidFill>
                <a:effectLst/>
                <a:latin typeface="Consolas" panose="020B0609020204030204" pitchFamily="49" charset="0"/>
              </a:rPr>
              <a:t>    </a:t>
            </a:r>
            <a:r>
              <a:rPr lang="en-US" sz="1600" b="0" dirty="0">
                <a:solidFill>
                  <a:srgbClr val="98C379"/>
                </a:solidFill>
                <a:effectLst/>
                <a:latin typeface="Consolas" panose="020B0609020204030204" pitchFamily="49" charset="0"/>
              </a:rPr>
              <a:t>print</a:t>
            </a:r>
            <a:r>
              <a:rPr lang="en-US" sz="1600" b="0" dirty="0">
                <a:solidFill>
                  <a:srgbClr val="BBBBBB"/>
                </a:solidFill>
                <a:effectLst/>
                <a:latin typeface="Consolas" panose="020B0609020204030204" pitchFamily="49" charset="0"/>
              </a:rPr>
              <a:t>(</a:t>
            </a:r>
            <a:r>
              <a:rPr lang="en-US" sz="1600" b="0" dirty="0" err="1">
                <a:solidFill>
                  <a:srgbClr val="56B6C2"/>
                </a:solidFill>
                <a:effectLst/>
                <a:latin typeface="Consolas" panose="020B0609020204030204" pitchFamily="49" charset="0"/>
              </a:rPr>
              <a:t>f</a:t>
            </a:r>
            <a:r>
              <a:rPr lang="en-US" sz="1600" b="0" dirty="0" err="1">
                <a:solidFill>
                  <a:srgbClr val="E5C07B"/>
                </a:solidFill>
                <a:effectLst/>
                <a:latin typeface="Consolas" panose="020B0609020204030204" pitchFamily="49" charset="0"/>
              </a:rPr>
              <a:t>"You</a:t>
            </a:r>
            <a:r>
              <a:rPr lang="en-US" sz="1600" b="0" dirty="0">
                <a:solidFill>
                  <a:srgbClr val="E5C07B"/>
                </a:solidFill>
                <a:effectLst/>
                <a:latin typeface="Consolas" panose="020B0609020204030204" pitchFamily="49" charset="0"/>
              </a:rPr>
              <a:t> lose! </a:t>
            </a:r>
            <a:r>
              <a:rPr lang="en-US" sz="1600" b="0" dirty="0">
                <a:solidFill>
                  <a:srgbClr val="56B6C2"/>
                </a:solidFill>
                <a:effectLst/>
                <a:latin typeface="Consolas" panose="020B0609020204030204" pitchFamily="49" charset="0"/>
              </a:rPr>
              <a:t>{</a:t>
            </a:r>
            <a:r>
              <a:rPr lang="en-US" sz="1600" b="0" dirty="0" err="1">
                <a:solidFill>
                  <a:srgbClr val="BBBBBB"/>
                </a:solidFill>
                <a:effectLst/>
                <a:latin typeface="Consolas" panose="020B0609020204030204" pitchFamily="49" charset="0"/>
              </a:rPr>
              <a:t>computer_choice</a:t>
            </a:r>
            <a:r>
              <a:rPr lang="en-US" sz="1600" b="0" dirty="0">
                <a:solidFill>
                  <a:srgbClr val="56B6C2"/>
                </a:solidFill>
                <a:effectLst/>
                <a:latin typeface="Consolas" panose="020B0609020204030204" pitchFamily="49" charset="0"/>
              </a:rPr>
              <a:t>}</a:t>
            </a:r>
            <a:r>
              <a:rPr lang="en-US" sz="1600" b="0" dirty="0">
                <a:solidFill>
                  <a:srgbClr val="E5C07B"/>
                </a:solidFill>
                <a:effectLst/>
                <a:latin typeface="Consolas" panose="020B0609020204030204" pitchFamily="49" charset="0"/>
              </a:rPr>
              <a:t> beats </a:t>
            </a:r>
            <a:r>
              <a:rPr lang="en-US" sz="1600" b="0" dirty="0">
                <a:solidFill>
                  <a:srgbClr val="56B6C2"/>
                </a:solidFill>
                <a:effectLst/>
                <a:latin typeface="Consolas" panose="020B0609020204030204" pitchFamily="49" charset="0"/>
              </a:rPr>
              <a:t>{</a:t>
            </a:r>
            <a:r>
              <a:rPr lang="en-US" sz="1600" b="0" dirty="0" err="1">
                <a:solidFill>
                  <a:srgbClr val="BBBBBB"/>
                </a:solidFill>
                <a:effectLst/>
                <a:latin typeface="Consolas" panose="020B0609020204030204" pitchFamily="49" charset="0"/>
              </a:rPr>
              <a:t>user_choice</a:t>
            </a:r>
            <a:r>
              <a:rPr lang="en-US" sz="1600" b="0" dirty="0">
                <a:solidFill>
                  <a:srgbClr val="56B6C2"/>
                </a:solidFill>
                <a:effectLst/>
                <a:latin typeface="Consolas" panose="020B0609020204030204" pitchFamily="49" charset="0"/>
              </a:rPr>
              <a:t>}</a:t>
            </a:r>
            <a:r>
              <a:rPr lang="en-US" sz="1600" b="0" dirty="0">
                <a:solidFill>
                  <a:srgbClr val="E5C07B"/>
                </a:solidFill>
                <a:effectLst/>
                <a:latin typeface="Consolas" panose="020B0609020204030204" pitchFamily="49" charset="0"/>
              </a:rPr>
              <a:t>."</a:t>
            </a:r>
            <a:r>
              <a:rPr lang="en-US" sz="1600" b="0" dirty="0">
                <a:solidFill>
                  <a:srgbClr val="BBBBBB"/>
                </a:solidFill>
                <a:effectLst/>
                <a:latin typeface="Consolas" panose="020B0609020204030204" pitchFamily="49" charset="0"/>
              </a:rPr>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8016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600" b="1">
                <a:solidFill>
                  <a:srgbClr val="FFFFFF"/>
                </a:solidFill>
              </a:rPr>
              <a:t>🎯 Practice Exercises</a:t>
            </a:r>
          </a:p>
        </p:txBody>
      </p:sp>
      <p:sp>
        <p:nvSpPr>
          <p:cNvPr id="3" name="TextBox 2"/>
          <p:cNvSpPr txBox="1"/>
          <p:nvPr/>
        </p:nvSpPr>
        <p:spPr>
          <a:xfrm>
            <a:off x="731520" y="1463040"/>
            <a:ext cx="10515600" cy="457200"/>
          </a:xfrm>
          <a:prstGeom prst="rect">
            <a:avLst/>
          </a:prstGeom>
          <a:noFill/>
        </p:spPr>
        <p:txBody>
          <a:bodyPr wrap="square">
            <a:spAutoFit/>
          </a:bodyPr>
          <a:lstStyle/>
          <a:p>
            <a:pPr algn="l"/>
            <a:r>
              <a:rPr sz="2200" b="1" i="0">
                <a:solidFill>
                  <a:srgbClr val="1F3964"/>
                </a:solidFill>
              </a:rPr>
              <a:t>Try these on your own:</a:t>
            </a:r>
          </a:p>
        </p:txBody>
      </p:sp>
      <p:sp>
        <p:nvSpPr>
          <p:cNvPr id="4" name="TextBox 3"/>
          <p:cNvSpPr txBox="1"/>
          <p:nvPr/>
        </p:nvSpPr>
        <p:spPr>
          <a:xfrm>
            <a:off x="731520" y="2011680"/>
            <a:ext cx="10515600" cy="365760"/>
          </a:xfrm>
          <a:prstGeom prst="rect">
            <a:avLst/>
          </a:prstGeom>
          <a:noFill/>
        </p:spPr>
        <p:txBody>
          <a:bodyPr wrap="square">
            <a:spAutoFit/>
          </a:bodyPr>
          <a:lstStyle/>
          <a:p>
            <a:pPr algn="l"/>
            <a:r>
              <a:rPr sz="2000" b="1" i="0">
                <a:solidFill>
                  <a:srgbClr val="0070C0"/>
                </a:solidFill>
              </a:rPr>
              <a:t>Exercise 1</a:t>
            </a:r>
          </a:p>
        </p:txBody>
      </p:sp>
      <p:sp>
        <p:nvSpPr>
          <p:cNvPr id="5" name="TextBox 4"/>
          <p:cNvSpPr txBox="1"/>
          <p:nvPr/>
        </p:nvSpPr>
        <p:spPr>
          <a:xfrm>
            <a:off x="1097280" y="2377440"/>
            <a:ext cx="10058400" cy="822960"/>
          </a:xfrm>
          <a:prstGeom prst="rect">
            <a:avLst/>
          </a:prstGeom>
          <a:noFill/>
        </p:spPr>
        <p:txBody>
          <a:bodyPr wrap="square">
            <a:spAutoFit/>
          </a:bodyPr>
          <a:lstStyle/>
          <a:p>
            <a:r>
              <a:rPr sz="1700">
                <a:solidFill>
                  <a:srgbClr val="444444"/>
                </a:solidFill>
              </a:rPr>
              <a:t>Print your name and age using variables</a:t>
            </a:r>
          </a:p>
        </p:txBody>
      </p:sp>
      <p:sp>
        <p:nvSpPr>
          <p:cNvPr id="6" name="TextBox 5"/>
          <p:cNvSpPr txBox="1"/>
          <p:nvPr/>
        </p:nvSpPr>
        <p:spPr>
          <a:xfrm>
            <a:off x="731520" y="3017520"/>
            <a:ext cx="10515600" cy="365760"/>
          </a:xfrm>
          <a:prstGeom prst="rect">
            <a:avLst/>
          </a:prstGeom>
          <a:noFill/>
        </p:spPr>
        <p:txBody>
          <a:bodyPr wrap="square">
            <a:spAutoFit/>
          </a:bodyPr>
          <a:lstStyle/>
          <a:p>
            <a:pPr algn="l"/>
            <a:r>
              <a:rPr sz="2000" b="1" i="0">
                <a:solidFill>
                  <a:srgbClr val="0070C0"/>
                </a:solidFill>
              </a:rPr>
              <a:t>Exercise 2</a:t>
            </a:r>
          </a:p>
        </p:txBody>
      </p:sp>
      <p:sp>
        <p:nvSpPr>
          <p:cNvPr id="7" name="TextBox 6"/>
          <p:cNvSpPr txBox="1"/>
          <p:nvPr/>
        </p:nvSpPr>
        <p:spPr>
          <a:xfrm>
            <a:off x="1097280" y="3474721"/>
            <a:ext cx="10058400" cy="822960"/>
          </a:xfrm>
          <a:prstGeom prst="rect">
            <a:avLst/>
          </a:prstGeom>
          <a:noFill/>
        </p:spPr>
        <p:txBody>
          <a:bodyPr wrap="square">
            <a:spAutoFit/>
          </a:bodyPr>
          <a:lstStyle/>
          <a:p>
            <a:r>
              <a:rPr sz="1700" dirty="0">
                <a:solidFill>
                  <a:srgbClr val="444444"/>
                </a:solidFill>
              </a:rPr>
              <a:t>Calculate and print the area of a circle
  • Get the radius from the user
  • Use  pi = 3.14159
  • Area = π × r²</a:t>
            </a:r>
          </a:p>
        </p:txBody>
      </p:sp>
      <p:sp>
        <p:nvSpPr>
          <p:cNvPr id="8" name="TextBox 7"/>
          <p:cNvSpPr txBox="1"/>
          <p:nvPr/>
        </p:nvSpPr>
        <p:spPr>
          <a:xfrm>
            <a:off x="731520" y="4663440"/>
            <a:ext cx="10515600" cy="365760"/>
          </a:xfrm>
          <a:prstGeom prst="rect">
            <a:avLst/>
          </a:prstGeom>
          <a:noFill/>
        </p:spPr>
        <p:txBody>
          <a:bodyPr wrap="square">
            <a:spAutoFit/>
          </a:bodyPr>
          <a:lstStyle/>
          <a:p>
            <a:pPr algn="l"/>
            <a:r>
              <a:rPr sz="2000" b="1" i="0">
                <a:solidFill>
                  <a:srgbClr val="0070C0"/>
                </a:solidFill>
              </a:rPr>
              <a:t>Exercise 3</a:t>
            </a:r>
          </a:p>
        </p:txBody>
      </p:sp>
      <p:sp>
        <p:nvSpPr>
          <p:cNvPr id="9" name="TextBox 8"/>
          <p:cNvSpPr txBox="1"/>
          <p:nvPr/>
        </p:nvSpPr>
        <p:spPr>
          <a:xfrm>
            <a:off x="1097280" y="5029200"/>
            <a:ext cx="10058400" cy="822960"/>
          </a:xfrm>
          <a:prstGeom prst="rect">
            <a:avLst/>
          </a:prstGeom>
          <a:noFill/>
        </p:spPr>
        <p:txBody>
          <a:bodyPr wrap="square">
            <a:spAutoFit/>
          </a:bodyPr>
          <a:lstStyle/>
          <a:p>
            <a:r>
              <a:rPr sz="1700">
                <a:solidFill>
                  <a:srgbClr val="444444"/>
                </a:solidFill>
              </a:rPr>
              <a:t>Temperature converter
  • Ask for temperature in Celsius
  • Convert to Fahrenheit:  F = C × 9/5 + 32
  • Print the result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80160"/>
          </a:xfrm>
          <a:prstGeom prst="rect">
            <a:avLst/>
          </a:prstGeom>
          <a:solidFill>
            <a:srgbClr val="1F396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600" b="1">
                <a:solidFill>
                  <a:srgbClr val="FFFFFF"/>
                </a:solidFill>
              </a:rPr>
              <a:t>🎉 Session 1 Recap</a:t>
            </a:r>
          </a:p>
        </p:txBody>
      </p:sp>
      <p:sp>
        <p:nvSpPr>
          <p:cNvPr id="3" name="TextBox 2"/>
          <p:cNvSpPr txBox="1"/>
          <p:nvPr/>
        </p:nvSpPr>
        <p:spPr>
          <a:xfrm>
            <a:off x="836612" y="2241314"/>
            <a:ext cx="10515600" cy="3000821"/>
          </a:xfrm>
          <a:prstGeom prst="rect">
            <a:avLst/>
          </a:prstGeom>
          <a:noFill/>
        </p:spPr>
        <p:txBody>
          <a:bodyPr wrap="square">
            <a:spAutoFit/>
          </a:bodyPr>
          <a:lstStyle/>
          <a:p>
            <a:r>
              <a:rPr sz="2100" dirty="0">
                <a:solidFill>
                  <a:srgbClr val="1F3964"/>
                </a:solidFill>
              </a:rPr>
              <a:t>  ✅  What Python is and why it's awesome</a:t>
            </a:r>
          </a:p>
          <a:p>
            <a:r>
              <a:rPr sz="2100" dirty="0">
                <a:solidFill>
                  <a:srgbClr val="1F3964"/>
                </a:solidFill>
              </a:rPr>
              <a:t>  ✅  How to set up your coding environment</a:t>
            </a:r>
          </a:p>
          <a:p>
            <a:r>
              <a:rPr sz="2100" dirty="0">
                <a:solidFill>
                  <a:srgbClr val="1F3964"/>
                </a:solidFill>
              </a:rPr>
              <a:t>  ✅  print()  — displaying output</a:t>
            </a:r>
          </a:p>
          <a:p>
            <a:r>
              <a:rPr sz="2100" dirty="0">
                <a:solidFill>
                  <a:srgbClr val="1F3964"/>
                </a:solidFill>
              </a:rPr>
              <a:t>  ✅  Variables and the 4 basic data types</a:t>
            </a:r>
          </a:p>
          <a:p>
            <a:r>
              <a:rPr sz="2100" dirty="0">
                <a:solidFill>
                  <a:srgbClr val="1F3964"/>
                </a:solidFill>
              </a:rPr>
              <a:t>  ✅  Arithmetic and assignment operators</a:t>
            </a:r>
          </a:p>
          <a:p>
            <a:r>
              <a:rPr sz="2100" dirty="0">
                <a:solidFill>
                  <a:srgbClr val="1F3964"/>
                </a:solidFill>
              </a:rPr>
              <a:t>  ✅  input()  — getting user input</a:t>
            </a:r>
          </a:p>
          <a:p>
            <a:r>
              <a:rPr sz="2100" dirty="0">
                <a:solidFill>
                  <a:srgbClr val="1F3964"/>
                </a:solidFill>
              </a:rPr>
              <a:t>  ✅  Type conversion:  int(),  float(),  str()</a:t>
            </a:r>
          </a:p>
          <a:p>
            <a:r>
              <a:rPr sz="2100" dirty="0">
                <a:solidFill>
                  <a:srgbClr val="1F3964"/>
                </a:solidFill>
              </a:rPr>
              <a:t>  ✅  </a:t>
            </a:r>
            <a:r>
              <a:rPr lang="en-US" sz="2100" dirty="0">
                <a:solidFill>
                  <a:srgbClr val="1F3964"/>
                </a:solidFill>
              </a:rPr>
              <a:t>Comparison operators</a:t>
            </a:r>
          </a:p>
          <a:p>
            <a:r>
              <a:rPr lang="en-US" sz="2100" dirty="0">
                <a:solidFill>
                  <a:srgbClr val="1F3964"/>
                </a:solidFill>
              </a:rPr>
              <a:t>  ✅  if/</a:t>
            </a:r>
            <a:r>
              <a:rPr lang="en-US" sz="2100" dirty="0" err="1">
                <a:solidFill>
                  <a:srgbClr val="1F3964"/>
                </a:solidFill>
              </a:rPr>
              <a:t>elif</a:t>
            </a:r>
            <a:r>
              <a:rPr lang="en-US" sz="2100" dirty="0">
                <a:solidFill>
                  <a:srgbClr val="1F3964"/>
                </a:solidFill>
              </a:rPr>
              <a:t>/else</a:t>
            </a:r>
          </a:p>
        </p:txBody>
      </p:sp>
      <p:sp>
        <p:nvSpPr>
          <p:cNvPr id="4" name="TextBox 3"/>
          <p:cNvSpPr txBox="1"/>
          <p:nvPr/>
        </p:nvSpPr>
        <p:spPr>
          <a:xfrm>
            <a:off x="731520" y="6217920"/>
            <a:ext cx="10515600" cy="457200"/>
          </a:xfrm>
          <a:prstGeom prst="rect">
            <a:avLst/>
          </a:prstGeom>
          <a:noFill/>
        </p:spPr>
        <p:txBody>
          <a:bodyPr wrap="square">
            <a:spAutoFit/>
          </a:bodyPr>
          <a:lstStyle/>
          <a:p>
            <a:pPr algn="ctr"/>
            <a:r>
              <a:rPr sz="2600" b="1" i="0">
                <a:solidFill>
                  <a:srgbClr val="0070C0"/>
                </a:solidFill>
              </a:rPr>
              <a:t>See you in Session 2!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617</TotalTime>
  <Words>4866</Words>
  <Application>Microsoft Office PowerPoint</Application>
  <PresentationFormat>Custom</PresentationFormat>
  <Paragraphs>596</Paragraphs>
  <Slides>31</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Aptos</vt:lpstr>
      <vt:lpstr>Arial</vt:lpstr>
      <vt:lpstr>Cabin</vt:lpstr>
      <vt:lpstr>Calibri</vt:lpstr>
      <vt:lpstr>Consolas</vt:lpstr>
      <vt:lpstr>Courier</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Catalin Comanescu</cp:lastModifiedBy>
  <cp:revision>121</cp:revision>
  <dcterms:created xsi:type="dcterms:W3CDTF">2013-01-27T09:14:16Z</dcterms:created>
  <dcterms:modified xsi:type="dcterms:W3CDTF">2026-04-21T14:17:36Z</dcterms:modified>
  <cp:category/>
</cp:coreProperties>
</file>