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🐍 Welcome to Python!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BFD7F5"/>
                </a:solidFill>
              </a:rPr>
              <a:t>Session 1: Introduction to Python &amp; Programming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566160"/>
            <a:ext cx="6702552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FD7F5"/>
                </a:solidFill>
              </a:rPr>
              <a:t>Duration: 1 hour 40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A0C8FF"/>
                </a:solidFill>
              </a:rPr>
              <a:t>Your instructor is excited to meet you! 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📋 What We'll Cover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3964"/>
                </a:solidFill>
              </a:rPr>
              <a:t>  1.  What is Python &amp; why learn it?</a:t>
            </a:r>
          </a:p>
          <a:p>
            <a:r>
              <a:rPr sz="2200">
                <a:solidFill>
                  <a:srgbClr val="0070C0"/>
                </a:solidFill>
              </a:rPr>
              <a:t>  2.  Setting up your environment</a:t>
            </a:r>
          </a:p>
          <a:p>
            <a:r>
              <a:rPr sz="2200">
                <a:solidFill>
                  <a:srgbClr val="1F3964"/>
                </a:solidFill>
              </a:rPr>
              <a:t>  3.  Hello, World!</a:t>
            </a:r>
          </a:p>
          <a:p>
            <a:r>
              <a:rPr sz="2200">
                <a:solidFill>
                  <a:srgbClr val="0070C0"/>
                </a:solidFill>
              </a:rPr>
              <a:t>  4.  Variables &amp; Data Types</a:t>
            </a:r>
          </a:p>
          <a:p>
            <a:r>
              <a:rPr sz="2200">
                <a:solidFill>
                  <a:srgbClr val="1F3964"/>
                </a:solidFill>
              </a:rPr>
              <a:t>  5.  Arithmetic &amp; Assignment Operators</a:t>
            </a:r>
          </a:p>
          <a:p>
            <a:r>
              <a:rPr sz="2200">
                <a:solidFill>
                  <a:srgbClr val="0070C0"/>
                </a:solidFill>
              </a:rPr>
              <a:t>  6.  User Input with input()</a:t>
            </a:r>
          </a:p>
          <a:p>
            <a:r>
              <a:rPr sz="2200">
                <a:solidFill>
                  <a:srgbClr val="1F3964"/>
                </a:solidFill>
              </a:rPr>
              <a:t>  7.  Type Conversion</a:t>
            </a:r>
          </a:p>
          <a:p>
            <a:r>
              <a:rPr sz="2200">
                <a:solidFill>
                  <a:srgbClr val="0070C0"/>
                </a:solidFill>
              </a:rPr>
              <a:t>  8.  Comments &amp; Code Readability</a:t>
            </a:r>
          </a:p>
          <a:p>
            <a:r>
              <a:rPr sz="2200">
                <a:solidFill>
                  <a:srgbClr val="1F3964"/>
                </a:solidFill>
              </a:rPr>
              <a:t>  9.  Live Coding &amp; 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🌍 What is Python?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444444"/>
                </a:solidFill>
              </a:rPr>
              <a:t>• A general-purpose, high-level programming language</a:t>
            </a:r>
          </a:p>
          <a:p>
            <a:r>
              <a:rPr sz="2000">
                <a:solidFill>
                  <a:srgbClr val="444444"/>
                </a:solidFill>
              </a:rPr>
              <a:t>• Created by Guido van Rossum in 1991</a:t>
            </a:r>
          </a:p>
          <a:p>
            <a:r>
              <a:rPr sz="2000">
                <a:solidFill>
                  <a:srgbClr val="444444"/>
                </a:solidFill>
              </a:rPr>
              <a:t>• Named after Monty Python's Flying Circus 🎭</a:t>
            </a:r>
          </a:p>
          <a:p>
            <a:r>
              <a:rPr sz="2000">
                <a:solidFill>
                  <a:srgbClr val="444444"/>
                </a:solidFill>
              </a:rPr>
              <a:t>• One of the most popular languages in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1463040"/>
            <a:ext cx="4754880" cy="292608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Timeline: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1991 ──► Python 1.0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1994 ──► Python 1.4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2000 ──► Python 2.0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2008 ──► Python 3.0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2023 ──► Python 3.12 (current)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🚀 What Can Python Do?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463040"/>
          <a:ext cx="103601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5971032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Field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🌐 Web Development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Instagram, Pinterest, Django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🤖 AI &amp; Machine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TensorFlow, ChatGPT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📊 Data Science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Pandas, NumPy, Jupyter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🎮 Game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Pygame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🔬 Science &amp; Research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NASA, CERN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🤖 Automation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444444"/>
                          </a:solidFill>
                        </a:rPr>
                        <a:t>Scripts, bots, task automation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5778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0C0"/>
                </a:solidFill>
              </a:rPr>
              <a:t>Python is everywhere — and it's beginner-friendly!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💻 Setting Up Your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Option 1: Local Install (Recommended)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  1. Go to python.org/downloads</a:t>
            </a:r>
          </a:p>
          <a:p>
            <a:r>
              <a:rPr sz="1700">
                <a:solidFill>
                  <a:srgbClr val="444444"/>
                </a:solidFill>
              </a:rPr>
              <a:t>  2. Download Python 3.10 or newer</a:t>
            </a:r>
          </a:p>
          <a:p>
            <a:r>
              <a:rPr sz="1700">
                <a:solidFill>
                  <a:srgbClr val="444444"/>
                </a:solidFill>
              </a:rPr>
              <a:t>  3. Install VS Code + Python extension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Option 2: Online (Zero Setup)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  • Google Colab — free, in your browser</a:t>
            </a:r>
          </a:p>
          <a:p>
            <a:r>
              <a:rPr sz="1700">
                <a:solidFill>
                  <a:srgbClr val="444444"/>
                </a:solidFill>
              </a:rPr>
              <a:t>  • repl.it — online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964"/>
                </a:solidFill>
              </a:rPr>
              <a:t>Verify your installation: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20240"/>
            <a:ext cx="5029200" cy="118872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python --version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Should show: Python 3.10.x or higher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👋 Your First Python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Open your editor and type: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515600" cy="82296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print("Hello, World!")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Run it! You should see: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515600" cy="64008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33"/>
                </a:solidFill>
              </a:rPr>
              <a:t>Congratulations — you're a programmer! 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More print examples: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515600" cy="128016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print("My name is Alice")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print("2 + 2 =", 2 + 2)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print("Python is", "awesome!")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📦 Variables — Boxes That Hold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A variable is a named storage location for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515600" cy="164592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name       = "Alice"   # str   — text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age        = 25        # int   — whole number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height     = 1.68      # float — decimal number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is_student = True      # bool  — True or False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Rules for variable names: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444444"/>
                </a:solidFill>
              </a:rPr>
              <a:t>  • Start with a letter or _ (not a number)</a:t>
            </a:r>
          </a:p>
          <a:p>
            <a:r>
              <a:rPr sz="1900">
                <a:solidFill>
                  <a:srgbClr val="444444"/>
                </a:solidFill>
              </a:rPr>
              <a:t>  • No spaces — use _ instead:  first_name</a:t>
            </a:r>
          </a:p>
          <a:p>
            <a:r>
              <a:rPr sz="1900">
                <a:solidFill>
                  <a:srgbClr val="444444"/>
                </a:solidFill>
              </a:rPr>
              <a:t>  • Case-sensitive:  age  ≠  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🔠 Data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>
                <a:solidFill>
                  <a:srgbClr val="D4D4D4"/>
                </a:solidFill>
                <a:latin typeface="Courier New"/>
              </a:rPr>
              <a:t># Integer — whole numbers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score = 100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year  = 2024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# Float — decimal numbers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price = 9.99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pi    = 3.14159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# String — text (use quotes)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greeting = "Hello!"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city     = 'Bucharest'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# Boolean — True or False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is_raining  = False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passed_exam = True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# Check a type with type()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print(type(score))       # &lt;class 'int'&gt;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print(type(price))       # &lt;class 'float'&gt;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print(type(greeting))    # &lt;class 'str'&gt;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print(type(is_raining))  # &lt;class 'bool'&gt;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➕ Arithmetic Operators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329184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a = 10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b = 3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 + b)   # 13     Addition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 - b)   # 7      Subtraction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 * b)   # 30     Multiplication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 / b)   # 3.333  Division (always float)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 // b)  # 3      Floor Division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 % b)   # 1      Modulo (remainder)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 ** b)  # 1000   Exponentiation (10³)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Order of Operations: PEMDAS / BODMAS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303520"/>
            <a:ext cx="10515600" cy="109728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result = 2 + 3 * 4    # 14  (not 20!)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result = (2 + 3) * 4  #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🔄 Assignment Operators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292608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x = 10     # Assign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 += 5     # x = x + 5   → 15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 -= 3     # x = x - 3   → 12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 *= 2     # x = x * 2   → 24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 /= 4     # x = x / 4   → 6.0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 //= 2    # x = x // 2  → 3.0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x **= 3    # x = x ** 3  → 27.0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String operations: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937760"/>
            <a:ext cx="10515600" cy="146304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first    = "Hello"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last     = "World"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full     = first + " " + last   # "Hello World"  — concatenation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repeated = "Ha" * 3              # "HaHaHa"       — repetition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⌨️ User Input with input()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input()  pauses the program and waits for the user to type something.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name = input("What is your name? ")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print("Hello,", name)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55612"/>
                </a:solidFill>
              </a:rPr>
              <a:t>⚠  Important:  input()  always returns a string!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10515600" cy="256032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age_str = input("How old are you? ")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print(type(age_str))   # &lt;class 'str'&gt;  ← NOT int!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You need to convert it: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age = int(age_str)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print(type(age))       # &lt;class 'int'&gt;  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🔁 Type Conversion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Convert between types using built-in functions: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515600" cy="448056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>
                <a:solidFill>
                  <a:srgbClr val="D4D4D4"/>
                </a:solidFill>
                <a:latin typeface="Courier New"/>
              </a:rPr>
              <a:t># String → number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age   = int("25")         # 25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price = float("9.99")     # 9.99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# Number → string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text = str(42)             # "42"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text = str(3.14)           # "3.14"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# One-liner (common pattern):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age   = int(input("Enter your age: "))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price = float(input("Enter price: "))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# Boolean conversions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bool(0)    # False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bool(1)    # True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bool("")   # False</a:t>
            </a:r>
          </a:p>
          <a:p>
            <a:r>
              <a:rPr sz="1400">
                <a:solidFill>
                  <a:srgbClr val="D4D4D4"/>
                </a:solidFill>
                <a:latin typeface="Courier New"/>
              </a:rPr>
              <a:t>bool("hi") # True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💬 Comments &amp; Code Readability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Comments explain your code — they are ignored by Python.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515600" cy="310896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>
                <a:solidFill>
                  <a:srgbClr val="D4D4D4"/>
                </a:solidFill>
                <a:latin typeface="Courier New"/>
              </a:rPr>
              <a:t># This is a single-line comment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Calculate the area of a rectangle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width  = 5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height = 3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area   = width * height   # multiply width by height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print(area)               # prints 15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Multi-line comment (use multiple #):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1: Get user input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2: Do calculation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3: Display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964"/>
                </a:solidFill>
              </a:rPr>
              <a:t>Best practices: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  • Write comments for why, not just what</a:t>
            </a:r>
          </a:p>
          <a:p>
            <a:r>
              <a:rPr sz="1700">
                <a:solidFill>
                  <a:srgbClr val="444444"/>
                </a:solidFill>
              </a:rPr>
              <a:t>  • Use descriptive variable names:  user_age  not  x</a:t>
            </a:r>
          </a:p>
          <a:p>
            <a:r>
              <a:rPr sz="1700">
                <a:solidFill>
                  <a:srgbClr val="444444"/>
                </a:solidFill>
              </a:rPr>
              <a:t>  • Keep lines under ~79 characters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🧮 Putting It All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515600" cy="5120640"/>
          </a:xfrm>
          <a:prstGeom prst="rect">
            <a:avLst/>
          </a:prstGeom>
          <a:solidFill>
            <a:srgbClr val="1E1E1E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>
                <a:solidFill>
                  <a:srgbClr val="D4D4D4"/>
                </a:solidFill>
                <a:latin typeface="Courier New"/>
              </a:rPr>
              <a:t># A simple "About Me" program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# Get user information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name  = input("Enter your name: ")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age   = int(input("Enter your age: "))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hobby = input("Enter your favorite hobby: ")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# Calculate birth year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current_year = 2024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birth_year   = current_year - age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 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# Display formatted output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print()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print("=== About Me ===")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print(f"Hi, I'm {name}!")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print(f"I'm {age} years old, born around {birth_year}.")</a:t>
            </a:r>
          </a:p>
          <a:p>
            <a:r>
              <a:rPr sz="1500">
                <a:solidFill>
                  <a:srgbClr val="D4D4D4"/>
                </a:solidFill>
                <a:latin typeface="Courier New"/>
              </a:rPr>
              <a:t>print(f"My favorite hobby is {hobby}.")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🎯 Practice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964"/>
                </a:solidFill>
              </a:rPr>
              <a:t>Try these on your own: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</a:rPr>
              <a:t>Exercise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Print your name and age using variables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</a:rPr>
              <a:t>Exercise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7033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Calculate and print the area of a circle
  • Get the radius from the user
  • Use  pi = 3.14159
  • Area = π ×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</a:rPr>
              <a:t>Exercise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029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444444"/>
                </a:solidFill>
              </a:rPr>
              <a:t>Temperature converter
  • Ask for temperature in Celsius
  • Convert to Fahrenheit:  F = C × 9/5 + 32
  • Print the result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📝 Assignment 1: "About Me" 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55612"/>
                </a:solidFill>
              </a:rPr>
              <a:t>Due: Before Session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44444"/>
                </a:solidFill>
              </a:rPr>
              <a:t>Write a Python script that: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444444"/>
                </a:solidFill>
              </a:rPr>
              <a:t>  1. Asks the user for their name, age, and favorite hobby</a:t>
            </a:r>
          </a:p>
          <a:p>
            <a:r>
              <a:rPr sz="1800">
                <a:solidFill>
                  <a:srgbClr val="444444"/>
                </a:solidFill>
              </a:rPr>
              <a:t>  2. Calculates the year they were born (approximately)</a:t>
            </a:r>
          </a:p>
          <a:p>
            <a:r>
              <a:rPr sz="1800">
                <a:solidFill>
                  <a:srgbClr val="444444"/>
                </a:solidFill>
              </a:rPr>
              <a:t>  3. Prints a formatted summary:
   "Hi, I'm Alice. I'm 25 years old, born around 2001, and I love hiking!"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0070C0"/>
                </a:solidFill>
              </a:rPr>
              <a:t>⭐ Bonus: Ask for two numbers and print their sum, difference, product, and quotient.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44444"/>
                </a:solidFill>
              </a:rPr>
              <a:t>📁 Start with:  starter-code/assignment1_starter.py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44444"/>
                </a:solidFill>
              </a:rPr>
              <a:t>📄 Full details:  assignments/assignment1_about_me.md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🎉 Session 1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>
                <a:solidFill>
                  <a:srgbClr val="1F3964"/>
                </a:solidFill>
              </a:rPr>
              <a:t>  ✅  What Python is and why it's awesome</a:t>
            </a:r>
          </a:p>
          <a:p>
            <a:r>
              <a:rPr sz="2100">
                <a:solidFill>
                  <a:srgbClr val="1F3964"/>
                </a:solidFill>
              </a:rPr>
              <a:t>  ✅  How to set up your coding environment</a:t>
            </a:r>
          </a:p>
          <a:p>
            <a:r>
              <a:rPr sz="2100">
                <a:solidFill>
                  <a:srgbClr val="1F3964"/>
                </a:solidFill>
              </a:rPr>
              <a:t>  ✅  print()  — displaying output</a:t>
            </a:r>
          </a:p>
          <a:p>
            <a:r>
              <a:rPr sz="2100">
                <a:solidFill>
                  <a:srgbClr val="1F3964"/>
                </a:solidFill>
              </a:rPr>
              <a:t>  ✅  Variables and the 4 basic data types</a:t>
            </a:r>
          </a:p>
          <a:p>
            <a:r>
              <a:rPr sz="2100">
                <a:solidFill>
                  <a:srgbClr val="1F3964"/>
                </a:solidFill>
              </a:rPr>
              <a:t>  ✅  Arithmetic and assignment operators</a:t>
            </a:r>
          </a:p>
          <a:p>
            <a:r>
              <a:rPr sz="2100">
                <a:solidFill>
                  <a:srgbClr val="1F3964"/>
                </a:solidFill>
              </a:rPr>
              <a:t>  ✅  input()  — getting user input</a:t>
            </a:r>
          </a:p>
          <a:p>
            <a:r>
              <a:rPr sz="2100">
                <a:solidFill>
                  <a:srgbClr val="1F3964"/>
                </a:solidFill>
              </a:rPr>
              <a:t>  ✅  Type conversion:  int(),  float(),  str()</a:t>
            </a:r>
          </a:p>
          <a:p>
            <a:r>
              <a:rPr sz="2100">
                <a:solidFill>
                  <a:srgbClr val="1F3964"/>
                </a:solidFill>
              </a:rPr>
              <a:t>  ✅  Writing comments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C0"/>
                </a:solidFill>
              </a:rPr>
              <a:t>See you in Session 2!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