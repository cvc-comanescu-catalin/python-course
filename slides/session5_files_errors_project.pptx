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F39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360152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</a:rPr>
              <a:t>📁 Files, Errors &amp; Your First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651760"/>
            <a:ext cx="103601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 i="0">
                <a:solidFill>
                  <a:srgbClr val="BFD7F5"/>
                </a:solidFill>
              </a:rPr>
              <a:t>Session 5: File I/O, Error Handling &amp; Mini-Project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0" y="3566160"/>
            <a:ext cx="6702552" cy="381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3840480"/>
            <a:ext cx="103601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BFD7F5"/>
                </a:solidFill>
              </a:rPr>
              <a:t>Duration: 1 hour 40 minutes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480560"/>
            <a:ext cx="103601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1">
                <a:solidFill>
                  <a:srgbClr val="A0C8FF"/>
                </a:solidFill>
              </a:rPr>
              <a:t>Build real programs that read files and handle errors! 🐍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1F39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600" b="1">
                <a:solidFill>
                  <a:srgbClr val="FFFFFF"/>
                </a:solidFill>
              </a:rPr>
              <a:t>📋 What We'll Cover Today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1463040"/>
            <a:ext cx="10058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>
                <a:solidFill>
                  <a:srgbClr val="1F3964"/>
                </a:solidFill>
              </a:rPr>
              <a:t>  1.  Recap &amp; Assignment 4 Review</a:t>
            </a:r>
          </a:p>
          <a:p>
            <a:r>
              <a:rPr sz="2200">
                <a:solidFill>
                  <a:srgbClr val="0070C0"/>
                </a:solidFill>
              </a:rPr>
              <a:t>  2.  Reading files: open(), read(), readlines(), with</a:t>
            </a:r>
          </a:p>
          <a:p>
            <a:r>
              <a:rPr sz="2200">
                <a:solidFill>
                  <a:srgbClr val="1F3964"/>
                </a:solidFill>
              </a:rPr>
              <a:t>  3.  Writing &amp; Appending files</a:t>
            </a:r>
          </a:p>
          <a:p>
            <a:r>
              <a:rPr sz="2200">
                <a:solidFill>
                  <a:srgbClr val="0070C0"/>
                </a:solidFill>
              </a:rPr>
              <a:t>  4.  Error handling: try, except, finally</a:t>
            </a:r>
          </a:p>
          <a:p>
            <a:r>
              <a:rPr sz="2200">
                <a:solidFill>
                  <a:srgbClr val="1F3964"/>
                </a:solidFill>
              </a:rPr>
              <a:t>  5.  Common Exceptions</a:t>
            </a:r>
          </a:p>
          <a:p>
            <a:r>
              <a:rPr sz="2200">
                <a:solidFill>
                  <a:srgbClr val="0070C0"/>
                </a:solidFill>
              </a:rPr>
              <a:t>  6.  f-strings deep dive</a:t>
            </a:r>
          </a:p>
          <a:p>
            <a:r>
              <a:rPr sz="2200">
                <a:solidFill>
                  <a:srgbClr val="1F3964"/>
                </a:solidFill>
              </a:rPr>
              <a:t>  7.  🎓 Course recap</a:t>
            </a:r>
          </a:p>
          <a:p>
            <a:r>
              <a:rPr sz="2200">
                <a:solidFill>
                  <a:srgbClr val="0070C0"/>
                </a:solidFill>
              </a:rPr>
              <a:t>  8.  🛠️ Mini-Project: Command-Line To-Do App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1F39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600" b="1">
                <a:solidFill>
                  <a:srgbClr val="FFFFFF"/>
                </a:solidFill>
              </a:rPr>
              <a:t>🧠 Recap &amp; Assignment 4 Review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17320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1F3964"/>
                </a:solidFill>
              </a:rPr>
              <a:t>Quick check — what's the output?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920240"/>
            <a:ext cx="10515600" cy="4389120"/>
          </a:xfrm>
          <a:prstGeom prst="rect">
            <a:avLst/>
          </a:prstGeom>
          <a:solidFill>
            <a:srgbClr val="1E1E1E"/>
          </a:solidFill>
          <a:ln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400">
                <a:solidFill>
                  <a:srgbClr val="D4D4D4"/>
                </a:solidFill>
                <a:latin typeface="Courier New"/>
              </a:rPr>
              <a:t># What's the output?</a:t>
            </a:r>
          </a:p>
          <a:p>
            <a:r>
              <a:rPr sz="1400">
                <a:solidFill>
                  <a:srgbClr val="D4D4D4"/>
                </a:solidFill>
                <a:latin typeface="Courier New"/>
              </a:rPr>
              <a:t>data = {"a": 1, "b": 2, "c": 3}</a:t>
            </a:r>
          </a:p>
          <a:p>
            <a:r>
              <a:rPr sz="1400">
                <a:solidFill>
                  <a:srgbClr val="D4D4D4"/>
                </a:solidFill>
                <a:latin typeface="Courier New"/>
              </a:rPr>
              <a:t>result = [k for k, v in data.items() if v &gt; 1]</a:t>
            </a:r>
          </a:p>
          <a:p>
            <a:r>
              <a:rPr sz="1400">
                <a:solidFill>
                  <a:srgbClr val="D4D4D4"/>
                </a:solidFill>
                <a:latin typeface="Courier New"/>
              </a:rPr>
              <a:t>print(result)</a:t>
            </a:r>
          </a:p>
          <a:p>
            <a:r>
              <a:rPr sz="1400">
                <a:solidFill>
                  <a:srgbClr val="D4D4D4"/>
                </a:solidFill>
                <a:latin typeface="Courier New"/>
              </a:rPr>
              <a:t> </a:t>
            </a:r>
          </a:p>
          <a:p>
            <a:r>
              <a:rPr sz="1400">
                <a:solidFill>
                  <a:srgbClr val="D4D4D4"/>
                </a:solidFill>
                <a:latin typeface="Courier New"/>
              </a:rPr>
              <a:t># Fix the bug:</a:t>
            </a:r>
          </a:p>
          <a:p>
            <a:r>
              <a:rPr sz="1400">
                <a:solidFill>
                  <a:srgbClr val="D4D4D4"/>
                </a:solidFill>
                <a:latin typeface="Courier New"/>
              </a:rPr>
              <a:t>students = [{"name": "Alice", "grade": 90}]</a:t>
            </a:r>
          </a:p>
          <a:p>
            <a:r>
              <a:rPr sz="1400">
                <a:solidFill>
                  <a:srgbClr val="D4D4D4"/>
                </a:solidFill>
                <a:latin typeface="Courier New"/>
              </a:rPr>
              <a:t>for s in students:</a:t>
            </a:r>
          </a:p>
          <a:p>
            <a:r>
              <a:rPr sz="1400">
                <a:solidFill>
                  <a:srgbClr val="D4D4D4"/>
                </a:solidFill>
                <a:latin typeface="Courier New"/>
              </a:rPr>
              <a:t>    print(s[name])   # Error — what's wrong?</a:t>
            </a:r>
          </a:p>
          <a:p>
            <a:r>
              <a:rPr sz="1400">
                <a:solidFill>
                  <a:srgbClr val="D4D4D4"/>
                </a:solidFill>
                <a:latin typeface="Courier New"/>
              </a:rPr>
              <a:t> </a:t>
            </a:r>
          </a:p>
          <a:p>
            <a:r>
              <a:rPr sz="1400">
                <a:solidFill>
                  <a:srgbClr val="D4D4D4"/>
                </a:solidFill>
                <a:latin typeface="Courier New"/>
              </a:rPr>
              <a:t># What does this create?</a:t>
            </a:r>
          </a:p>
          <a:p>
            <a:r>
              <a:rPr sz="1400">
                <a:solidFill>
                  <a:srgbClr val="D4D4D4"/>
                </a:solidFill>
                <a:latin typeface="Courier New"/>
              </a:rPr>
              <a:t>matrix = [[i * j for j in range(1, 4)] for i in range(1, 4)]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1F39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600" b="1">
                <a:solidFill>
                  <a:srgbClr val="FFFFFF"/>
                </a:solidFill>
              </a:rPr>
              <a:t>📂 Reading Files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463040"/>
            <a:ext cx="10515600" cy="5120640"/>
          </a:xfrm>
          <a:prstGeom prst="rect">
            <a:avLst/>
          </a:prstGeom>
          <a:solidFill>
            <a:srgbClr val="1E1E1E"/>
          </a:solidFill>
          <a:ln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400">
                <a:solidFill>
                  <a:srgbClr val="D4D4D4"/>
                </a:solidFill>
                <a:latin typeface="Courier New"/>
              </a:rPr>
              <a:t># Basic file reading</a:t>
            </a:r>
          </a:p>
          <a:p>
            <a:r>
              <a:rPr sz="1400">
                <a:solidFill>
                  <a:srgbClr val="D4D4D4"/>
                </a:solidFill>
                <a:latin typeface="Courier New"/>
              </a:rPr>
              <a:t>file = open("data.txt", "r")   # "r" = read mode</a:t>
            </a:r>
          </a:p>
          <a:p>
            <a:r>
              <a:rPr sz="1400">
                <a:solidFill>
                  <a:srgbClr val="D4D4D4"/>
                </a:solidFill>
                <a:latin typeface="Courier New"/>
              </a:rPr>
              <a:t>content = file.read()          # Read entire file as string</a:t>
            </a:r>
          </a:p>
          <a:p>
            <a:r>
              <a:rPr sz="1400">
                <a:solidFill>
                  <a:srgbClr val="D4D4D4"/>
                </a:solidFill>
                <a:latin typeface="Courier New"/>
              </a:rPr>
              <a:t>print(content)</a:t>
            </a:r>
          </a:p>
          <a:p>
            <a:r>
              <a:rPr sz="1400">
                <a:solidFill>
                  <a:srgbClr val="D4D4D4"/>
                </a:solidFill>
                <a:latin typeface="Courier New"/>
              </a:rPr>
              <a:t>file.close()                   # Always close!</a:t>
            </a:r>
          </a:p>
          <a:p>
            <a:r>
              <a:rPr sz="1400">
                <a:solidFill>
                  <a:srgbClr val="D4D4D4"/>
                </a:solidFill>
                <a:latin typeface="Courier New"/>
              </a:rPr>
              <a:t> </a:t>
            </a:r>
          </a:p>
          <a:p>
            <a:r>
              <a:rPr sz="1400">
                <a:solidFill>
                  <a:srgbClr val="D4D4D4"/>
                </a:solidFill>
                <a:latin typeface="Courier New"/>
              </a:rPr>
              <a:t># Better way — with statement (auto-closes)</a:t>
            </a:r>
          </a:p>
          <a:p>
            <a:r>
              <a:rPr sz="1400">
                <a:solidFill>
                  <a:srgbClr val="D4D4D4"/>
                </a:solidFill>
                <a:latin typeface="Courier New"/>
              </a:rPr>
              <a:t>with open("data.txt", "r") as file:</a:t>
            </a:r>
          </a:p>
          <a:p>
            <a:r>
              <a:rPr sz="1400">
                <a:solidFill>
                  <a:srgbClr val="D4D4D4"/>
                </a:solidFill>
                <a:latin typeface="Courier New"/>
              </a:rPr>
              <a:t>    content = file.read()</a:t>
            </a:r>
          </a:p>
          <a:p>
            <a:r>
              <a:rPr sz="1400">
                <a:solidFill>
                  <a:srgbClr val="D4D4D4"/>
                </a:solidFill>
                <a:latin typeface="Courier New"/>
              </a:rPr>
              <a:t># File is automatically closed here</a:t>
            </a:r>
          </a:p>
          <a:p>
            <a:r>
              <a:rPr sz="1400">
                <a:solidFill>
                  <a:srgbClr val="D4D4D4"/>
                </a:solidFill>
                <a:latin typeface="Courier New"/>
              </a:rPr>
              <a:t> </a:t>
            </a:r>
          </a:p>
          <a:p>
            <a:r>
              <a:rPr sz="1400">
                <a:solidFill>
                  <a:srgbClr val="D4D4D4"/>
                </a:solidFill>
                <a:latin typeface="Courier New"/>
              </a:rPr>
              <a:t># Read line by line</a:t>
            </a:r>
          </a:p>
          <a:p>
            <a:r>
              <a:rPr sz="1400">
                <a:solidFill>
                  <a:srgbClr val="D4D4D4"/>
                </a:solidFill>
                <a:latin typeface="Courier New"/>
              </a:rPr>
              <a:t>with open("data.txt", "r") as file:</a:t>
            </a:r>
          </a:p>
          <a:p>
            <a:r>
              <a:rPr sz="1400">
                <a:solidFill>
                  <a:srgbClr val="D4D4D4"/>
                </a:solidFill>
                <a:latin typeface="Courier New"/>
              </a:rPr>
              <a:t>    lines = file.readlines()   # Returns list of strings</a:t>
            </a:r>
          </a:p>
          <a:p>
            <a:r>
              <a:rPr sz="1400">
                <a:solidFill>
                  <a:srgbClr val="D4D4D4"/>
                </a:solidFill>
                <a:latin typeface="Courier New"/>
              </a:rPr>
              <a:t>    for line in lines:</a:t>
            </a:r>
          </a:p>
          <a:p>
            <a:r>
              <a:rPr sz="1400">
                <a:solidFill>
                  <a:srgbClr val="D4D4D4"/>
                </a:solidFill>
                <a:latin typeface="Courier New"/>
              </a:rPr>
              <a:t>        print(line.strip())    # .strip() removes \n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1F39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600" b="1">
                <a:solidFill>
                  <a:srgbClr val="FFFFFF"/>
                </a:solidFill>
              </a:rPr>
              <a:t>📂 File Modes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731520" y="1463040"/>
          <a:ext cx="530352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0160"/>
                <a:gridCol w="4023360"/>
              </a:tblGrid>
              <a:tr h="457200">
                <a:tc>
                  <a:txBody>
                    <a:bodyPr/>
                    <a:lstStyle/>
                    <a:p>
                      <a:pPr algn="ctr"/>
                      <a:r>
                        <a:rPr b="1" sz="1600">
                          <a:solidFill>
                            <a:srgbClr val="FFFFFF"/>
                          </a:solidFill>
                        </a:rPr>
                        <a:t>Mode</a:t>
                      </a:r>
                    </a:p>
                  </a:txBody>
                  <a:tcPr>
                    <a:solidFill>
                      <a:srgbClr val="1F39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600">
                          <a:solidFill>
                            <a:srgbClr val="FFFFFF"/>
                          </a:solidFill>
                        </a:rPr>
                        <a:t>Description</a:t>
                      </a:r>
                    </a:p>
                  </a:txBody>
                  <a:tcPr>
                    <a:solidFill>
                      <a:srgbClr val="1F3964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0070C0"/>
                          </a:solidFill>
                        </a:rPr>
                        <a:t>"r"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444444"/>
                          </a:solidFill>
                        </a:rPr>
                        <a:t>Read (default) — file must exist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0070C0"/>
                          </a:solidFill>
                        </a:rPr>
                        <a:t>"w"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444444"/>
                          </a:solidFill>
                        </a:rPr>
                        <a:t>Write — creates new or overwrites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0070C0"/>
                          </a:solidFill>
                        </a:rPr>
                        <a:t>"a"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444444"/>
                          </a:solidFill>
                        </a:rPr>
                        <a:t>Append — adds to end of file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0070C0"/>
                          </a:solidFill>
                        </a:rPr>
                        <a:t>"r+"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444444"/>
                          </a:solidFill>
                        </a:rPr>
                        <a:t>Read and write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0070C0"/>
                          </a:solidFill>
                        </a:rPr>
                        <a:t>"rb"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444444"/>
                          </a:solidFill>
                        </a:rPr>
                        <a:t>Read binary (images, etc.)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</a:tr>
            </a:tbl>
          </a:graphicData>
        </a:graphic>
      </p:graphicFrame>
      <p:sp>
        <p:nvSpPr>
          <p:cNvPr id="4" name="Rectangle 3"/>
          <p:cNvSpPr/>
          <p:nvPr/>
        </p:nvSpPr>
        <p:spPr>
          <a:xfrm>
            <a:off x="6309360" y="1463040"/>
            <a:ext cx="5486400" cy="3108960"/>
          </a:xfrm>
          <a:prstGeom prst="rect">
            <a:avLst/>
          </a:prstGeom>
          <a:solidFill>
            <a:srgbClr val="1E1E1E"/>
          </a:solidFill>
          <a:ln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300">
                <a:solidFill>
                  <a:srgbClr val="D4D4D4"/>
                </a:solidFill>
                <a:latin typeface="Courier New"/>
              </a:rPr>
              <a:t># Reading line by line (memory efficient for large files)</a:t>
            </a:r>
          </a:p>
          <a:p>
            <a:r>
              <a:rPr sz="1300">
                <a:solidFill>
                  <a:srgbClr val="D4D4D4"/>
                </a:solidFill>
                <a:latin typeface="Courier New"/>
              </a:rPr>
              <a:t>with open("big_file.txt", "r") as file:</a:t>
            </a:r>
          </a:p>
          <a:p>
            <a:r>
              <a:rPr sz="1300">
                <a:solidFill>
                  <a:srgbClr val="D4D4D4"/>
                </a:solidFill>
                <a:latin typeface="Courier New"/>
              </a:rPr>
              <a:t>    for line in file:           # Iterate directly!</a:t>
            </a:r>
          </a:p>
          <a:p>
            <a:r>
              <a:rPr sz="1300">
                <a:solidFill>
                  <a:srgbClr val="D4D4D4"/>
                </a:solidFill>
                <a:latin typeface="Courier New"/>
              </a:rPr>
              <a:t>        print(line.strip())</a:t>
            </a:r>
          </a:p>
          <a:p>
            <a:r>
              <a:rPr sz="1300">
                <a:solidFill>
                  <a:srgbClr val="D4D4D4"/>
                </a:solidFill>
                <a:latin typeface="Courier New"/>
              </a:rPr>
              <a:t> </a:t>
            </a:r>
          </a:p>
          <a:p>
            <a:r>
              <a:rPr sz="1300">
                <a:solidFill>
                  <a:srgbClr val="D4D4D4"/>
                </a:solidFill>
                <a:latin typeface="Courier New"/>
              </a:rPr>
              <a:t># Read and process each line</a:t>
            </a:r>
          </a:p>
          <a:p>
            <a:r>
              <a:rPr sz="1300">
                <a:solidFill>
                  <a:srgbClr val="D4D4D4"/>
                </a:solidFill>
                <a:latin typeface="Courier New"/>
              </a:rPr>
              <a:t>with open("names.txt", "r") as file:</a:t>
            </a:r>
          </a:p>
          <a:p>
            <a:r>
              <a:rPr sz="1300">
                <a:solidFill>
                  <a:srgbClr val="D4D4D4"/>
                </a:solidFill>
                <a:latin typeface="Courier New"/>
              </a:rPr>
              <a:t>    names = [line.strip() for line in file]</a:t>
            </a:r>
          </a:p>
          <a:p>
            <a:r>
              <a:rPr sz="1300">
                <a:solidFill>
                  <a:srgbClr val="D4D4D4"/>
                </a:solidFill>
                <a:latin typeface="Courier New"/>
              </a:rPr>
              <a:t>print(names)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1F39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600" b="1">
                <a:solidFill>
                  <a:srgbClr val="FFFFFF"/>
                </a:solidFill>
              </a:rPr>
              <a:t>✏️ Writing &amp; Appending Files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463040"/>
            <a:ext cx="10515600" cy="5120640"/>
          </a:xfrm>
          <a:prstGeom prst="rect">
            <a:avLst/>
          </a:prstGeom>
          <a:solidFill>
            <a:srgbClr val="1E1E1E"/>
          </a:solidFill>
          <a:ln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400">
                <a:solidFill>
                  <a:srgbClr val="D4D4D4"/>
                </a:solidFill>
                <a:latin typeface="Courier New"/>
              </a:rPr>
              <a:t># Write mode — creates new file (or overwrites!)</a:t>
            </a:r>
          </a:p>
          <a:p>
            <a:r>
              <a:rPr sz="1400">
                <a:solidFill>
                  <a:srgbClr val="D4D4D4"/>
                </a:solidFill>
                <a:latin typeface="Courier New"/>
              </a:rPr>
              <a:t>with open("output.txt", "w") as file:</a:t>
            </a:r>
          </a:p>
          <a:p>
            <a:r>
              <a:rPr sz="1400">
                <a:solidFill>
                  <a:srgbClr val="D4D4D4"/>
                </a:solidFill>
                <a:latin typeface="Courier New"/>
              </a:rPr>
              <a:t>    file.write("Hello, File!\n")</a:t>
            </a:r>
          </a:p>
          <a:p>
            <a:r>
              <a:rPr sz="1400">
                <a:solidFill>
                  <a:srgbClr val="D4D4D4"/>
                </a:solidFill>
                <a:latin typeface="Courier New"/>
              </a:rPr>
              <a:t>    file.write("Second line\n")</a:t>
            </a:r>
          </a:p>
          <a:p>
            <a:r>
              <a:rPr sz="1400">
                <a:solidFill>
                  <a:srgbClr val="D4D4D4"/>
                </a:solidFill>
                <a:latin typeface="Courier New"/>
              </a:rPr>
              <a:t> </a:t>
            </a:r>
          </a:p>
          <a:p>
            <a:r>
              <a:rPr sz="1400">
                <a:solidFill>
                  <a:srgbClr val="D4D4D4"/>
                </a:solidFill>
                <a:latin typeface="Courier New"/>
              </a:rPr>
              <a:t># Write multiple lines at once</a:t>
            </a:r>
          </a:p>
          <a:p>
            <a:r>
              <a:rPr sz="1400">
                <a:solidFill>
                  <a:srgbClr val="D4D4D4"/>
                </a:solidFill>
                <a:latin typeface="Courier New"/>
              </a:rPr>
              <a:t>lines = ["Line 1\n", "Line 2\n", "Line 3\n"]</a:t>
            </a:r>
          </a:p>
          <a:p>
            <a:r>
              <a:rPr sz="1400">
                <a:solidFill>
                  <a:srgbClr val="D4D4D4"/>
                </a:solidFill>
                <a:latin typeface="Courier New"/>
              </a:rPr>
              <a:t>with open("output.txt", "w") as file:</a:t>
            </a:r>
          </a:p>
          <a:p>
            <a:r>
              <a:rPr sz="1400">
                <a:solidFill>
                  <a:srgbClr val="D4D4D4"/>
                </a:solidFill>
                <a:latin typeface="Courier New"/>
              </a:rPr>
              <a:t>    file.writelines(lines)</a:t>
            </a:r>
          </a:p>
          <a:p>
            <a:r>
              <a:rPr sz="1400">
                <a:solidFill>
                  <a:srgbClr val="D4D4D4"/>
                </a:solidFill>
                <a:latin typeface="Courier New"/>
              </a:rPr>
              <a:t> </a:t>
            </a:r>
          </a:p>
          <a:p>
            <a:r>
              <a:rPr sz="1400">
                <a:solidFill>
                  <a:srgbClr val="D4D4D4"/>
                </a:solidFill>
                <a:latin typeface="Courier New"/>
              </a:rPr>
              <a:t># Append mode — adds to existing file</a:t>
            </a:r>
          </a:p>
          <a:p>
            <a:r>
              <a:rPr sz="1400">
                <a:solidFill>
                  <a:srgbClr val="D4D4D4"/>
                </a:solidFill>
                <a:latin typeface="Courier New"/>
              </a:rPr>
              <a:t>with open("log.txt", "a") as file:</a:t>
            </a:r>
          </a:p>
          <a:p>
            <a:r>
              <a:rPr sz="1400">
                <a:solidFill>
                  <a:srgbClr val="D4D4D4"/>
                </a:solidFill>
                <a:latin typeface="Courier New"/>
              </a:rPr>
              <a:t>    file.write("New log entry\n")</a:t>
            </a:r>
          </a:p>
          <a:p>
            <a:r>
              <a:rPr sz="1400">
                <a:solidFill>
                  <a:srgbClr val="D4D4D4"/>
                </a:solidFill>
                <a:latin typeface="Courier New"/>
              </a:rPr>
              <a:t> </a:t>
            </a:r>
          </a:p>
          <a:p>
            <a:r>
              <a:rPr sz="1400">
                <a:solidFill>
                  <a:srgbClr val="D4D4D4"/>
                </a:solidFill>
                <a:latin typeface="Courier New"/>
              </a:rPr>
              <a:t># Write structured data</a:t>
            </a:r>
          </a:p>
          <a:p>
            <a:r>
              <a:rPr sz="1400">
                <a:solidFill>
                  <a:srgbClr val="D4D4D4"/>
                </a:solidFill>
                <a:latin typeface="Courier New"/>
              </a:rPr>
              <a:t>tasks = ["Buy milk", "Call mom", "Study Python"]</a:t>
            </a:r>
          </a:p>
          <a:p>
            <a:r>
              <a:rPr sz="1400">
                <a:solidFill>
                  <a:srgbClr val="D4D4D4"/>
                </a:solidFill>
                <a:latin typeface="Courier New"/>
              </a:rPr>
              <a:t>with open("tasks.txt", "w") as file:</a:t>
            </a:r>
          </a:p>
          <a:p>
            <a:r>
              <a:rPr sz="1400">
                <a:solidFill>
                  <a:srgbClr val="D4D4D4"/>
                </a:solidFill>
                <a:latin typeface="Courier New"/>
              </a:rPr>
              <a:t>    for task in tasks:</a:t>
            </a:r>
          </a:p>
          <a:p>
            <a:r>
              <a:rPr sz="1400">
                <a:solidFill>
                  <a:srgbClr val="D4D4D4"/>
                </a:solidFill>
                <a:latin typeface="Courier New"/>
              </a:rPr>
              <a:t>        file.write(task + "\n")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1F39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600" b="1">
                <a:solidFill>
                  <a:srgbClr val="FFFFFF"/>
                </a:solidFill>
              </a:rPr>
              <a:t>🛡️ Error Handling: try / except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17320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444444"/>
                </a:solidFill>
              </a:rPr>
              <a:t>Python raises exceptions when something goes wrong.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920240"/>
            <a:ext cx="10515600" cy="4389120"/>
          </a:xfrm>
          <a:prstGeom prst="rect">
            <a:avLst/>
          </a:prstGeom>
          <a:solidFill>
            <a:srgbClr val="1E1E1E"/>
          </a:solidFill>
          <a:ln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400">
                <a:solidFill>
                  <a:srgbClr val="D4D4D4"/>
                </a:solidFill>
                <a:latin typeface="Courier New"/>
              </a:rPr>
              <a:t># Without error handling — program crashes!</a:t>
            </a:r>
          </a:p>
          <a:p>
            <a:r>
              <a:rPr sz="1400">
                <a:solidFill>
                  <a:srgbClr val="D4D4D4"/>
                </a:solidFill>
                <a:latin typeface="Courier New"/>
              </a:rPr>
              <a:t>age = int(input("Enter age: "))  # What if user types "abc"?</a:t>
            </a:r>
          </a:p>
          <a:p>
            <a:r>
              <a:rPr sz="1400">
                <a:solidFill>
                  <a:srgbClr val="D4D4D4"/>
                </a:solidFill>
                <a:latin typeface="Courier New"/>
              </a:rPr>
              <a:t> </a:t>
            </a:r>
          </a:p>
          <a:p>
            <a:r>
              <a:rPr sz="1400">
                <a:solidFill>
                  <a:srgbClr val="D4D4D4"/>
                </a:solidFill>
                <a:latin typeface="Courier New"/>
              </a:rPr>
              <a:t># With error handling — graceful!</a:t>
            </a:r>
          </a:p>
          <a:p>
            <a:r>
              <a:rPr sz="1400">
                <a:solidFill>
                  <a:srgbClr val="D4D4D4"/>
                </a:solidFill>
                <a:latin typeface="Courier New"/>
              </a:rPr>
              <a:t>try:</a:t>
            </a:r>
          </a:p>
          <a:p>
            <a:r>
              <a:rPr sz="1400">
                <a:solidFill>
                  <a:srgbClr val="D4D4D4"/>
                </a:solidFill>
                <a:latin typeface="Courier New"/>
              </a:rPr>
              <a:t>    age = int(input("Enter age: "))</a:t>
            </a:r>
          </a:p>
          <a:p>
            <a:r>
              <a:rPr sz="1400">
                <a:solidFill>
                  <a:srgbClr val="D4D4D4"/>
                </a:solidFill>
                <a:latin typeface="Courier New"/>
              </a:rPr>
              <a:t>    print(f"You are {age} years old.")</a:t>
            </a:r>
          </a:p>
          <a:p>
            <a:r>
              <a:rPr sz="1400">
                <a:solidFill>
                  <a:srgbClr val="D4D4D4"/>
                </a:solidFill>
                <a:latin typeface="Courier New"/>
              </a:rPr>
              <a:t>except ValueError:</a:t>
            </a:r>
          </a:p>
          <a:p>
            <a:r>
              <a:rPr sz="1400">
                <a:solidFill>
                  <a:srgbClr val="D4D4D4"/>
                </a:solidFill>
                <a:latin typeface="Courier New"/>
              </a:rPr>
              <a:t>    print("Please enter a valid number!")</a:t>
            </a:r>
          </a:p>
          <a:p>
            <a:r>
              <a:rPr sz="1400">
                <a:solidFill>
                  <a:srgbClr val="D4D4D4"/>
                </a:solidFill>
                <a:latin typeface="Courier New"/>
              </a:rPr>
              <a:t> </a:t>
            </a:r>
          </a:p>
          <a:p>
            <a:r>
              <a:rPr sz="1400">
                <a:solidFill>
                  <a:srgbClr val="D4D4D4"/>
                </a:solidFill>
                <a:latin typeface="Courier New"/>
              </a:rPr>
              <a:t># The flow:</a:t>
            </a:r>
          </a:p>
          <a:p>
            <a:r>
              <a:rPr sz="1400">
                <a:solidFill>
                  <a:srgbClr val="D4D4D4"/>
                </a:solidFill>
                <a:latin typeface="Courier New"/>
              </a:rPr>
              <a:t># try block runs</a:t>
            </a:r>
          </a:p>
          <a:p>
            <a:r>
              <a:rPr sz="1400">
                <a:solidFill>
                  <a:srgbClr val="D4D4D4"/>
                </a:solidFill>
                <a:latin typeface="Courier New"/>
              </a:rPr>
              <a:t># If an error occurs  →  jump to except</a:t>
            </a:r>
          </a:p>
          <a:p>
            <a:r>
              <a:rPr sz="1400">
                <a:solidFill>
                  <a:srgbClr val="D4D4D4"/>
                </a:solidFill>
                <a:latin typeface="Courier New"/>
              </a:rPr>
              <a:t># If no error         →  skip except</a:t>
            </a:r>
          </a:p>
          <a:p>
            <a:r>
              <a:rPr sz="1400">
                <a:solidFill>
                  <a:srgbClr val="D4D4D4"/>
                </a:solidFill>
                <a:latin typeface="Courier New"/>
              </a:rPr>
              <a:t># Program continues either way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1F39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600" b="1">
                <a:solidFill>
                  <a:srgbClr val="FFFFFF"/>
                </a:solidFill>
              </a:rPr>
              <a:t>🛡️ More Error Handling Patterns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463040"/>
            <a:ext cx="10515600" cy="5120640"/>
          </a:xfrm>
          <a:prstGeom prst="rect">
            <a:avLst/>
          </a:prstGeom>
          <a:solidFill>
            <a:srgbClr val="1E1E1E"/>
          </a:solidFill>
          <a:ln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400">
                <a:solidFill>
                  <a:srgbClr val="D4D4D4"/>
                </a:solidFill>
                <a:latin typeface="Courier New"/>
              </a:rPr>
              <a:t># Catch multiple exception types</a:t>
            </a:r>
          </a:p>
          <a:p>
            <a:r>
              <a:rPr sz="1400">
                <a:solidFill>
                  <a:srgbClr val="D4D4D4"/>
                </a:solidFill>
                <a:latin typeface="Courier New"/>
              </a:rPr>
              <a:t>try:</a:t>
            </a:r>
          </a:p>
          <a:p>
            <a:r>
              <a:rPr sz="1400">
                <a:solidFill>
                  <a:srgbClr val="D4D4D4"/>
                </a:solidFill>
                <a:latin typeface="Courier New"/>
              </a:rPr>
              <a:t>    result = int(input("Number: ")) / int(input("Divide by: "))</a:t>
            </a:r>
          </a:p>
          <a:p>
            <a:r>
              <a:rPr sz="1400">
                <a:solidFill>
                  <a:srgbClr val="D4D4D4"/>
                </a:solidFill>
                <a:latin typeface="Courier New"/>
              </a:rPr>
              <a:t>    print(f"Result: {result}")</a:t>
            </a:r>
          </a:p>
          <a:p>
            <a:r>
              <a:rPr sz="1400">
                <a:solidFill>
                  <a:srgbClr val="D4D4D4"/>
                </a:solidFill>
                <a:latin typeface="Courier New"/>
              </a:rPr>
              <a:t>except ValueError:</a:t>
            </a:r>
          </a:p>
          <a:p>
            <a:r>
              <a:rPr sz="1400">
                <a:solidFill>
                  <a:srgbClr val="D4D4D4"/>
                </a:solidFill>
                <a:latin typeface="Courier New"/>
              </a:rPr>
              <a:t>    print("Please enter valid numbers!")</a:t>
            </a:r>
          </a:p>
          <a:p>
            <a:r>
              <a:rPr sz="1400">
                <a:solidFill>
                  <a:srgbClr val="D4D4D4"/>
                </a:solidFill>
                <a:latin typeface="Courier New"/>
              </a:rPr>
              <a:t>except ZeroDivisionError:</a:t>
            </a:r>
          </a:p>
          <a:p>
            <a:r>
              <a:rPr sz="1400">
                <a:solidFill>
                  <a:srgbClr val="D4D4D4"/>
                </a:solidFill>
                <a:latin typeface="Courier New"/>
              </a:rPr>
              <a:t>    print("Cannot divide by zero!")</a:t>
            </a:r>
          </a:p>
          <a:p>
            <a:r>
              <a:rPr sz="1400">
                <a:solidFill>
                  <a:srgbClr val="D4D4D4"/>
                </a:solidFill>
                <a:latin typeface="Courier New"/>
              </a:rPr>
              <a:t> </a:t>
            </a:r>
          </a:p>
          <a:p>
            <a:r>
              <a:rPr sz="1400">
                <a:solidFill>
                  <a:srgbClr val="D4D4D4"/>
                </a:solidFill>
                <a:latin typeface="Courier New"/>
              </a:rPr>
              <a:t># finally — always runs (great for cleanup)</a:t>
            </a:r>
          </a:p>
          <a:p>
            <a:r>
              <a:rPr sz="1400">
                <a:solidFill>
                  <a:srgbClr val="D4D4D4"/>
                </a:solidFill>
                <a:latin typeface="Courier New"/>
              </a:rPr>
              <a:t>try:</a:t>
            </a:r>
          </a:p>
          <a:p>
            <a:r>
              <a:rPr sz="1400">
                <a:solidFill>
                  <a:srgbClr val="D4D4D4"/>
                </a:solidFill>
                <a:latin typeface="Courier New"/>
              </a:rPr>
              <a:t>    file = open("data.txt", "r")</a:t>
            </a:r>
          </a:p>
          <a:p>
            <a:r>
              <a:rPr sz="1400">
                <a:solidFill>
                  <a:srgbClr val="D4D4D4"/>
                </a:solidFill>
                <a:latin typeface="Courier New"/>
              </a:rPr>
              <a:t>    content = file.read()</a:t>
            </a:r>
          </a:p>
          <a:p>
            <a:r>
              <a:rPr sz="1400">
                <a:solidFill>
                  <a:srgbClr val="D4D4D4"/>
                </a:solidFill>
                <a:latin typeface="Courier New"/>
              </a:rPr>
              <a:t>except FileNotFoundError:</a:t>
            </a:r>
          </a:p>
          <a:p>
            <a:r>
              <a:rPr sz="1400">
                <a:solidFill>
                  <a:srgbClr val="D4D4D4"/>
                </a:solidFill>
                <a:latin typeface="Courier New"/>
              </a:rPr>
              <a:t>    print("File not found!")</a:t>
            </a:r>
          </a:p>
          <a:p>
            <a:r>
              <a:rPr sz="1400">
                <a:solidFill>
                  <a:srgbClr val="D4D4D4"/>
                </a:solidFill>
                <a:latin typeface="Courier New"/>
              </a:rPr>
              <a:t>    content = ""</a:t>
            </a:r>
          </a:p>
          <a:p>
            <a:r>
              <a:rPr sz="1400">
                <a:solidFill>
                  <a:srgbClr val="D4D4D4"/>
                </a:solidFill>
                <a:latin typeface="Courier New"/>
              </a:rPr>
              <a:t>finally:</a:t>
            </a:r>
          </a:p>
          <a:p>
            <a:r>
              <a:rPr sz="1400">
                <a:solidFill>
                  <a:srgbClr val="D4D4D4"/>
                </a:solidFill>
                <a:latin typeface="Courier New"/>
              </a:rPr>
              <a:t>    print("Done attempting to read file.")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1F39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600" b="1">
                <a:solidFill>
                  <a:srgbClr val="FFFFFF"/>
                </a:solidFill>
              </a:rPr>
              <a:t>⚠️ Common Exceptions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731520" y="1463040"/>
          <a:ext cx="7772400" cy="3474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5029200"/>
              </a:tblGrid>
              <a:tr h="434340">
                <a:tc>
                  <a:txBody>
                    <a:bodyPr/>
                    <a:lstStyle/>
                    <a:p>
                      <a:pPr algn="ctr"/>
                      <a:r>
                        <a:rPr b="1" sz="1500">
                          <a:solidFill>
                            <a:srgbClr val="FFFFFF"/>
                          </a:solidFill>
                        </a:rPr>
                        <a:t>Exception</a:t>
                      </a:r>
                    </a:p>
                  </a:txBody>
                  <a:tcPr>
                    <a:solidFill>
                      <a:srgbClr val="1F39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>
                          <a:solidFill>
                            <a:srgbClr val="FFFFFF"/>
                          </a:solidFill>
                        </a:rPr>
                        <a:t>When it occurs</a:t>
                      </a:r>
                    </a:p>
                  </a:txBody>
                  <a:tcPr>
                    <a:solidFill>
                      <a:srgbClr val="1F3964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0070C0"/>
                          </a:solidFill>
                        </a:rPr>
                        <a:t>ValueError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444444"/>
                          </a:solidFill>
                        </a:rPr>
                        <a:t>Wrong type: int("abc")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0070C0"/>
                          </a:solidFill>
                        </a:rPr>
                        <a:t>ZeroDivisionError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444444"/>
                          </a:solidFill>
                        </a:rPr>
                        <a:t>Dividing by zero: 10 / 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0070C0"/>
                          </a:solidFill>
                        </a:rPr>
                        <a:t>FileNotFoundError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444444"/>
                          </a:solidFill>
                        </a:rPr>
                        <a:t>File doesn't exist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0070C0"/>
                          </a:solidFill>
                        </a:rPr>
                        <a:t>IndexError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444444"/>
                          </a:solidFill>
                        </a:rPr>
                        <a:t>List index out of range: lst[99]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0070C0"/>
                          </a:solidFill>
                        </a:rPr>
                        <a:t>KeyError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444444"/>
                          </a:solidFill>
                        </a:rPr>
                        <a:t>Dict key missing: d["missing"]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0070C0"/>
                          </a:solidFill>
                        </a:rPr>
                        <a:t>TypeError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444444"/>
                          </a:solidFill>
                        </a:rPr>
                        <a:t>Wrong operation: "hi" + 5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0070C0"/>
                          </a:solidFill>
                        </a:rPr>
                        <a:t>NameError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444444"/>
                          </a:solidFill>
                        </a:rPr>
                        <a:t>Variable not defined: print(x)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</a:tr>
            </a:tbl>
          </a:graphicData>
        </a:graphic>
      </p:graphicFrame>
      <p:sp>
        <p:nvSpPr>
          <p:cNvPr id="4" name="Rectangle 3"/>
          <p:cNvSpPr/>
          <p:nvPr/>
        </p:nvSpPr>
        <p:spPr>
          <a:xfrm>
            <a:off x="731520" y="5166360"/>
            <a:ext cx="10515600" cy="1417320"/>
          </a:xfrm>
          <a:prstGeom prst="rect">
            <a:avLst/>
          </a:prstGeom>
          <a:solidFill>
            <a:srgbClr val="1E1E1E"/>
          </a:solidFill>
          <a:ln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400">
                <a:solidFill>
                  <a:srgbClr val="D4D4D4"/>
                </a:solidFill>
                <a:latin typeface="Courier New"/>
              </a:rPr>
              <a:t># Catching any exception (use sparingly!)</a:t>
            </a:r>
          </a:p>
          <a:p>
            <a:r>
              <a:rPr sz="1400">
                <a:solidFill>
                  <a:srgbClr val="D4D4D4"/>
                </a:solidFill>
                <a:latin typeface="Courier New"/>
              </a:rPr>
              <a:t>try:</a:t>
            </a:r>
          </a:p>
          <a:p>
            <a:r>
              <a:rPr sz="1400">
                <a:solidFill>
                  <a:srgbClr val="D4D4D4"/>
                </a:solidFill>
                <a:latin typeface="Courier New"/>
              </a:rPr>
              <a:t>    risky_operation()</a:t>
            </a:r>
          </a:p>
          <a:p>
            <a:r>
              <a:rPr sz="1400">
                <a:solidFill>
                  <a:srgbClr val="D4D4D4"/>
                </a:solidFill>
                <a:latin typeface="Courier New"/>
              </a:rPr>
              <a:t>except Exception as e:</a:t>
            </a:r>
          </a:p>
          <a:p>
            <a:r>
              <a:rPr sz="1400">
                <a:solidFill>
                  <a:srgbClr val="D4D4D4"/>
                </a:solidFill>
                <a:latin typeface="Courier New"/>
              </a:rPr>
              <a:t>    print(f"An error occurred: {e}")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1F39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600" b="1">
                <a:solidFill>
                  <a:srgbClr val="FFFFFF"/>
                </a:solidFill>
              </a:rPr>
              <a:t>🎨 f-strings Deep Dive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463040"/>
            <a:ext cx="10515600" cy="5120640"/>
          </a:xfrm>
          <a:prstGeom prst="rect">
            <a:avLst/>
          </a:prstGeom>
          <a:solidFill>
            <a:srgbClr val="1E1E1E"/>
          </a:solidFill>
          <a:ln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300">
                <a:solidFill>
                  <a:srgbClr val="D4D4D4"/>
                </a:solidFill>
                <a:latin typeface="Courier New"/>
              </a:rPr>
              <a:t>name    = "Alice"</a:t>
            </a:r>
          </a:p>
          <a:p>
            <a:r>
              <a:rPr sz="1300">
                <a:solidFill>
                  <a:srgbClr val="D4D4D4"/>
                </a:solidFill>
                <a:latin typeface="Courier New"/>
              </a:rPr>
              <a:t>score   = 95.678</a:t>
            </a:r>
          </a:p>
          <a:p>
            <a:r>
              <a:rPr sz="1300">
                <a:solidFill>
                  <a:srgbClr val="D4D4D4"/>
                </a:solidFill>
                <a:latin typeface="Courier New"/>
              </a:rPr>
              <a:t>balance = 1234567.89</a:t>
            </a:r>
          </a:p>
          <a:p>
            <a:r>
              <a:rPr sz="1300">
                <a:solidFill>
                  <a:srgbClr val="D4D4D4"/>
                </a:solidFill>
                <a:latin typeface="Courier New"/>
              </a:rPr>
              <a:t> </a:t>
            </a:r>
          </a:p>
          <a:p>
            <a:r>
              <a:rPr sz="1300">
                <a:solidFill>
                  <a:srgbClr val="D4D4D4"/>
                </a:solidFill>
                <a:latin typeface="Courier New"/>
              </a:rPr>
              <a:t># Basic</a:t>
            </a:r>
          </a:p>
          <a:p>
            <a:r>
              <a:rPr sz="1300">
                <a:solidFill>
                  <a:srgbClr val="D4D4D4"/>
                </a:solidFill>
                <a:latin typeface="Courier New"/>
              </a:rPr>
              <a:t>print(f"Hello, {name}!")</a:t>
            </a:r>
          </a:p>
          <a:p>
            <a:r>
              <a:rPr sz="1300">
                <a:solidFill>
                  <a:srgbClr val="D4D4D4"/>
                </a:solidFill>
                <a:latin typeface="Courier New"/>
              </a:rPr>
              <a:t> </a:t>
            </a:r>
          </a:p>
          <a:p>
            <a:r>
              <a:rPr sz="1300">
                <a:solidFill>
                  <a:srgbClr val="D4D4D4"/>
                </a:solidFill>
                <a:latin typeface="Courier New"/>
              </a:rPr>
              <a:t># Expressions inside {}</a:t>
            </a:r>
          </a:p>
          <a:p>
            <a:r>
              <a:rPr sz="1300">
                <a:solidFill>
                  <a:srgbClr val="D4D4D4"/>
                </a:solidFill>
                <a:latin typeface="Courier New"/>
              </a:rPr>
              <a:t>print(f"Score: {score:.2f}")       # 95.68 (2 decimal places)</a:t>
            </a:r>
          </a:p>
          <a:p>
            <a:r>
              <a:rPr sz="1300">
                <a:solidFill>
                  <a:srgbClr val="D4D4D4"/>
                </a:solidFill>
                <a:latin typeface="Courier New"/>
              </a:rPr>
              <a:t>print(f"Score: {score:.0f}")       # 96   (no decimals)</a:t>
            </a:r>
          </a:p>
          <a:p>
            <a:r>
              <a:rPr sz="1300">
                <a:solidFill>
                  <a:srgbClr val="D4D4D4"/>
                </a:solidFill>
                <a:latin typeface="Courier New"/>
              </a:rPr>
              <a:t>print(f"Name: {name:&gt;10}")         # right-align in 10 chars</a:t>
            </a:r>
          </a:p>
          <a:p>
            <a:r>
              <a:rPr sz="1300">
                <a:solidFill>
                  <a:srgbClr val="D4D4D4"/>
                </a:solidFill>
                <a:latin typeface="Courier New"/>
              </a:rPr>
              <a:t>print(f"Name: {name:&lt;10}|")        # left-align</a:t>
            </a:r>
          </a:p>
          <a:p>
            <a:r>
              <a:rPr sz="1300">
                <a:solidFill>
                  <a:srgbClr val="D4D4D4"/>
                </a:solidFill>
                <a:latin typeface="Courier New"/>
              </a:rPr>
              <a:t>print(f"Name: {name:^10}")         # center</a:t>
            </a:r>
          </a:p>
          <a:p>
            <a:r>
              <a:rPr sz="1300">
                <a:solidFill>
                  <a:srgbClr val="D4D4D4"/>
                </a:solidFill>
                <a:latin typeface="Courier New"/>
              </a:rPr>
              <a:t> </a:t>
            </a:r>
          </a:p>
          <a:p>
            <a:r>
              <a:rPr sz="1300">
                <a:solidFill>
                  <a:srgbClr val="D4D4D4"/>
                </a:solidFill>
                <a:latin typeface="Courier New"/>
              </a:rPr>
              <a:t># Numbers</a:t>
            </a:r>
          </a:p>
          <a:p>
            <a:r>
              <a:rPr sz="1300">
                <a:solidFill>
                  <a:srgbClr val="D4D4D4"/>
                </a:solidFill>
                <a:latin typeface="Courier New"/>
              </a:rPr>
              <a:t>print(f"Balance: {balance:,.2f}")  # 1,234,567.89 (with commas)</a:t>
            </a:r>
          </a:p>
          <a:p>
            <a:r>
              <a:rPr sz="1300">
                <a:solidFill>
                  <a:srgbClr val="D4D4D4"/>
                </a:solidFill>
                <a:latin typeface="Courier New"/>
              </a:rPr>
              <a:t>print(f"Pi: {3.14159:.3f}")        # 3.142</a:t>
            </a:r>
          </a:p>
          <a:p>
            <a:r>
              <a:rPr sz="1300">
                <a:solidFill>
                  <a:srgbClr val="D4D4D4"/>
                </a:solidFill>
                <a:latin typeface="Courier New"/>
              </a:rPr>
              <a:t> </a:t>
            </a:r>
          </a:p>
          <a:p>
            <a:r>
              <a:rPr sz="1300">
                <a:solidFill>
                  <a:srgbClr val="D4D4D4"/>
                </a:solidFill>
                <a:latin typeface="Courier New"/>
              </a:rPr>
              <a:t># Expressions</a:t>
            </a:r>
          </a:p>
          <a:p>
            <a:r>
              <a:rPr sz="1300">
                <a:solidFill>
                  <a:srgbClr val="D4D4D4"/>
                </a:solidFill>
                <a:latin typeface="Courier New"/>
              </a:rPr>
              <a:t>print(f"Double: {score * 2}")</a:t>
            </a:r>
          </a:p>
          <a:p>
            <a:r>
              <a:rPr sz="1300">
                <a:solidFill>
                  <a:srgbClr val="D4D4D4"/>
                </a:solidFill>
                <a:latin typeface="Courier New"/>
              </a:rPr>
              <a:t>print(f"Upper: {name.upper()}")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1F39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600" b="1">
                <a:solidFill>
                  <a:srgbClr val="FFFFFF"/>
                </a:solidFill>
              </a:rPr>
              <a:t>🎓 Course Recap — Everything You've Learned!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463040"/>
            <a:ext cx="10515600" cy="2926080"/>
          </a:xfrm>
          <a:prstGeom prst="rect">
            <a:avLst/>
          </a:prstGeom>
          <a:solidFill>
            <a:srgbClr val="1E1E1E"/>
          </a:solidFill>
          <a:ln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500">
                <a:solidFill>
                  <a:srgbClr val="D4D4D4"/>
                </a:solidFill>
                <a:latin typeface="Courier New"/>
              </a:rPr>
              <a:t>Session 1  ──►  print(), variables, data types, input(), operators</a:t>
            </a:r>
          </a:p>
          <a:p>
            <a:r>
              <a:rPr sz="1500">
                <a:solidFill>
                  <a:srgbClr val="D4D4D4"/>
                </a:solidFill>
                <a:latin typeface="Courier New"/>
              </a:rPr>
              <a:t>                          │</a:t>
            </a:r>
          </a:p>
          <a:p>
            <a:r>
              <a:rPr sz="1500">
                <a:solidFill>
                  <a:srgbClr val="D4D4D4"/>
                </a:solidFill>
                <a:latin typeface="Courier New"/>
              </a:rPr>
              <a:t>Session 2  ──►  if/elif/else, while, for, range, break, continue</a:t>
            </a:r>
          </a:p>
          <a:p>
            <a:r>
              <a:rPr sz="1500">
                <a:solidFill>
                  <a:srgbClr val="D4D4D4"/>
                </a:solidFill>
                <a:latin typeface="Courier New"/>
              </a:rPr>
              <a:t>                          │</a:t>
            </a:r>
          </a:p>
          <a:p>
            <a:r>
              <a:rPr sz="1500">
                <a:solidFill>
                  <a:srgbClr val="D4D4D4"/>
                </a:solidFill>
                <a:latin typeface="Courier New"/>
              </a:rPr>
              <a:t>Session 3  ──►  def, parameters, return, scope, modules</a:t>
            </a:r>
          </a:p>
          <a:p>
            <a:r>
              <a:rPr sz="1500">
                <a:solidFill>
                  <a:srgbClr val="D4D4D4"/>
                </a:solidFill>
                <a:latin typeface="Courier New"/>
              </a:rPr>
              <a:t>                          │</a:t>
            </a:r>
          </a:p>
          <a:p>
            <a:r>
              <a:rPr sz="1500">
                <a:solidFill>
                  <a:srgbClr val="D4D4D4"/>
                </a:solidFill>
                <a:latin typeface="Courier New"/>
              </a:rPr>
              <a:t>Session 4  ──►  lists, tuples, dicts, comprehensions</a:t>
            </a:r>
          </a:p>
          <a:p>
            <a:r>
              <a:rPr sz="1500">
                <a:solidFill>
                  <a:srgbClr val="D4D4D4"/>
                </a:solidFill>
                <a:latin typeface="Courier New"/>
              </a:rPr>
              <a:t>                          │</a:t>
            </a:r>
          </a:p>
          <a:p>
            <a:r>
              <a:rPr sz="1500">
                <a:solidFill>
                  <a:srgbClr val="D4D4D4"/>
                </a:solidFill>
                <a:latin typeface="Courier New"/>
              </a:rPr>
              <a:t>Session 5  ──►  file I/O, try/except, f-strings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572000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1F3964"/>
                </a:solidFill>
              </a:rPr>
              <a:t>You can now build real programs that: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029200"/>
            <a:ext cx="105156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>
                <a:solidFill>
                  <a:srgbClr val="444444"/>
                </a:solidFill>
              </a:rPr>
              <a:t>  ✅  Take user input and make decisions</a:t>
            </a:r>
          </a:p>
          <a:p>
            <a:r>
              <a:rPr sz="1800">
                <a:solidFill>
                  <a:srgbClr val="444444"/>
                </a:solidFill>
              </a:rPr>
              <a:t>  ✅  Repeat actions efficiently</a:t>
            </a:r>
          </a:p>
          <a:p>
            <a:r>
              <a:rPr sz="1800">
                <a:solidFill>
                  <a:srgbClr val="444444"/>
                </a:solidFill>
              </a:rPr>
              <a:t>  ✅  Organize code into reusable functions</a:t>
            </a:r>
          </a:p>
          <a:p>
            <a:r>
              <a:rPr sz="1800">
                <a:solidFill>
                  <a:srgbClr val="444444"/>
                </a:solidFill>
              </a:rPr>
              <a:t>  ✅  Work with complex data</a:t>
            </a:r>
          </a:p>
          <a:p>
            <a:r>
              <a:rPr sz="1800">
                <a:solidFill>
                  <a:srgbClr val="444444"/>
                </a:solidFill>
              </a:rPr>
              <a:t>  ✅  Read/write files and handle errors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1F39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600" b="1">
                <a:solidFill>
                  <a:srgbClr val="FFFFFF"/>
                </a:solidFill>
              </a:rPr>
              <a:t>🛠️ Mini-Project: To-Do App — Step 1: Design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17320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1F3964"/>
                </a:solidFill>
              </a:rPr>
              <a:t>We'll build a Command-Line To-Do App together!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92024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070C0"/>
                </a:solidFill>
              </a:rPr>
              <a:t>Features: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377440"/>
            <a:ext cx="50292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>
                <a:solidFill>
                  <a:srgbClr val="444444"/>
                </a:solidFill>
              </a:rPr>
              <a:t>  1. Add tasks</a:t>
            </a:r>
          </a:p>
          <a:p>
            <a:r>
              <a:rPr sz="1800">
                <a:solidFill>
                  <a:srgbClr val="444444"/>
                </a:solidFill>
              </a:rPr>
              <a:t>  2. View all tasks</a:t>
            </a:r>
          </a:p>
          <a:p>
            <a:r>
              <a:rPr sz="1800">
                <a:solidFill>
                  <a:srgbClr val="444444"/>
                </a:solidFill>
              </a:rPr>
              <a:t>  3. Mark task as complete</a:t>
            </a:r>
          </a:p>
          <a:p>
            <a:r>
              <a:rPr sz="1800">
                <a:solidFill>
                  <a:srgbClr val="444444"/>
                </a:solidFill>
              </a:rPr>
              <a:t>  4. Delete a task</a:t>
            </a:r>
          </a:p>
          <a:p>
            <a:r>
              <a:rPr sz="1800">
                <a:solidFill>
                  <a:srgbClr val="444444"/>
                </a:solidFill>
              </a:rPr>
              <a:t>  5. Save to file (tasks persist!)</a:t>
            </a:r>
          </a:p>
          <a:p>
            <a:r>
              <a:rPr sz="1800">
                <a:solidFill>
                  <a:srgbClr val="444444"/>
                </a:solidFill>
              </a:rPr>
              <a:t>  6. Load on startup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0" y="1463040"/>
            <a:ext cx="5303520" cy="2926080"/>
          </a:xfrm>
          <a:prstGeom prst="rect">
            <a:avLst/>
          </a:prstGeom>
          <a:solidFill>
            <a:srgbClr val="1E1E1E"/>
          </a:solidFill>
          <a:ln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600">
                <a:solidFill>
                  <a:srgbClr val="D4D4D4"/>
                </a:solidFill>
                <a:latin typeface="Courier New"/>
              </a:rPr>
              <a:t>=== To-Do App ===</a:t>
            </a:r>
          </a:p>
          <a:p>
            <a:r>
              <a:rPr sz="1600">
                <a:solidFill>
                  <a:srgbClr val="D4D4D4"/>
                </a:solidFill>
                <a:latin typeface="Courier New"/>
              </a:rPr>
              <a:t>1. Add task</a:t>
            </a:r>
          </a:p>
          <a:p>
            <a:r>
              <a:rPr sz="1600">
                <a:solidFill>
                  <a:srgbClr val="D4D4D4"/>
                </a:solidFill>
                <a:latin typeface="Courier New"/>
              </a:rPr>
              <a:t>2. View tasks</a:t>
            </a:r>
          </a:p>
          <a:p>
            <a:r>
              <a:rPr sz="1600">
                <a:solidFill>
                  <a:srgbClr val="D4D4D4"/>
                </a:solidFill>
                <a:latin typeface="Courier New"/>
              </a:rPr>
              <a:t>3. Mark complete</a:t>
            </a:r>
          </a:p>
          <a:p>
            <a:r>
              <a:rPr sz="1600">
                <a:solidFill>
                  <a:srgbClr val="D4D4D4"/>
                </a:solidFill>
                <a:latin typeface="Courier New"/>
              </a:rPr>
              <a:t>4. Delete task</a:t>
            </a:r>
          </a:p>
          <a:p>
            <a:r>
              <a:rPr sz="1600">
                <a:solidFill>
                  <a:srgbClr val="D4D4D4"/>
                </a:solidFill>
                <a:latin typeface="Courier New"/>
              </a:rPr>
              <a:t>5. Quit</a:t>
            </a:r>
          </a:p>
          <a:p>
            <a:r>
              <a:rPr sz="1600">
                <a:solidFill>
                  <a:srgbClr val="D4D4D4"/>
                </a:solidFill>
                <a:latin typeface="Courier New"/>
              </a:rPr>
              <a:t> </a:t>
            </a:r>
          </a:p>
          <a:p>
            <a:r>
              <a:rPr sz="1600">
                <a:solidFill>
                  <a:srgbClr val="D4D4D4"/>
                </a:solidFill>
                <a:latin typeface="Courier New"/>
              </a:rPr>
              <a:t>Choose an option: _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1F39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600" b="1">
                <a:solidFill>
                  <a:srgbClr val="FFFFFF"/>
                </a:solidFill>
              </a:rPr>
              <a:t>🛠️ Mini-Project — Step 2: Data Structure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463040"/>
            <a:ext cx="10515600" cy="4754880"/>
          </a:xfrm>
          <a:prstGeom prst="rect">
            <a:avLst/>
          </a:prstGeom>
          <a:solidFill>
            <a:srgbClr val="1E1E1E"/>
          </a:solidFill>
          <a:ln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600">
                <a:solidFill>
                  <a:srgbClr val="D4D4D4"/>
                </a:solidFill>
                <a:latin typeface="Courier New"/>
              </a:rPr>
              <a:t>FILENAME = "tasks.txt"</a:t>
            </a:r>
          </a:p>
          <a:p>
            <a:r>
              <a:rPr sz="1600">
                <a:solidFill>
                  <a:srgbClr val="D4D4D4"/>
                </a:solidFill>
                <a:latin typeface="Courier New"/>
              </a:rPr>
              <a:t> </a:t>
            </a:r>
          </a:p>
          <a:p>
            <a:r>
              <a:rPr sz="1600">
                <a:solidFill>
                  <a:srgbClr val="D4D4D4"/>
                </a:solidFill>
                <a:latin typeface="Courier New"/>
              </a:rPr>
              <a:t># Each task is a dict:</a:t>
            </a:r>
          </a:p>
          <a:p>
            <a:r>
              <a:rPr sz="1600">
                <a:solidFill>
                  <a:srgbClr val="D4D4D4"/>
                </a:solidFill>
                <a:latin typeface="Courier New"/>
              </a:rPr>
              <a:t>task = {</a:t>
            </a:r>
          </a:p>
          <a:p>
            <a:r>
              <a:rPr sz="1600">
                <a:solidFill>
                  <a:srgbClr val="D4D4D4"/>
                </a:solidFill>
                <a:latin typeface="Courier New"/>
              </a:rPr>
              <a:t>    "description": "Buy groceries",</a:t>
            </a:r>
          </a:p>
          <a:p>
            <a:r>
              <a:rPr sz="1600">
                <a:solidFill>
                  <a:srgbClr val="D4D4D4"/>
                </a:solidFill>
                <a:latin typeface="Courier New"/>
              </a:rPr>
              <a:t>    "done": False</a:t>
            </a:r>
          </a:p>
          <a:p>
            <a:r>
              <a:rPr sz="1600">
                <a:solidFill>
                  <a:srgbClr val="D4D4D4"/>
                </a:solidFill>
                <a:latin typeface="Courier New"/>
              </a:rPr>
              <a:t>}</a:t>
            </a:r>
          </a:p>
          <a:p>
            <a:r>
              <a:rPr sz="1600">
                <a:solidFill>
                  <a:srgbClr val="D4D4D4"/>
                </a:solidFill>
                <a:latin typeface="Courier New"/>
              </a:rPr>
              <a:t> </a:t>
            </a:r>
          </a:p>
          <a:p>
            <a:r>
              <a:rPr sz="1600">
                <a:solidFill>
                  <a:srgbClr val="D4D4D4"/>
                </a:solidFill>
                <a:latin typeface="Courier New"/>
              </a:rPr>
              <a:t># All tasks in a list:</a:t>
            </a:r>
          </a:p>
          <a:p>
            <a:r>
              <a:rPr sz="1600">
                <a:solidFill>
                  <a:srgbClr val="D4D4D4"/>
                </a:solidFill>
                <a:latin typeface="Courier New"/>
              </a:rPr>
              <a:t>tasks = [</a:t>
            </a:r>
          </a:p>
          <a:p>
            <a:r>
              <a:rPr sz="1600">
                <a:solidFill>
                  <a:srgbClr val="D4D4D4"/>
                </a:solidFill>
                <a:latin typeface="Courier New"/>
              </a:rPr>
              <a:t>    {"description": "Buy groceries", "done": False},</a:t>
            </a:r>
          </a:p>
          <a:p>
            <a:r>
              <a:rPr sz="1600">
                <a:solidFill>
                  <a:srgbClr val="D4D4D4"/>
                </a:solidFill>
                <a:latin typeface="Courier New"/>
              </a:rPr>
              <a:t>    {"description": "Study Python",  "done": True},</a:t>
            </a:r>
          </a:p>
          <a:p>
            <a:r>
              <a:rPr sz="1600">
                <a:solidFill>
                  <a:srgbClr val="D4D4D4"/>
                </a:solidFill>
                <a:latin typeface="Courier New"/>
              </a:rPr>
              <a:t>]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1F39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600" b="1">
                <a:solidFill>
                  <a:srgbClr val="FFFFFF"/>
                </a:solidFill>
              </a:rPr>
              <a:t>🛠️ Mini-Project — Step 3: Core Functions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463040"/>
            <a:ext cx="10515600" cy="5120640"/>
          </a:xfrm>
          <a:prstGeom prst="rect">
            <a:avLst/>
          </a:prstGeom>
          <a:solidFill>
            <a:srgbClr val="1E1E1E"/>
          </a:solidFill>
          <a:ln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400">
                <a:solidFill>
                  <a:srgbClr val="D4D4D4"/>
                </a:solidFill>
                <a:latin typeface="Courier New"/>
              </a:rPr>
              <a:t>def load_tasks():</a:t>
            </a:r>
          </a:p>
          <a:p>
            <a:r>
              <a:rPr sz="1400">
                <a:solidFill>
                  <a:srgbClr val="D4D4D4"/>
                </a:solidFill>
                <a:latin typeface="Courier New"/>
              </a:rPr>
              <a:t>    tasks = []</a:t>
            </a:r>
          </a:p>
          <a:p>
            <a:r>
              <a:rPr sz="1400">
                <a:solidFill>
                  <a:srgbClr val="D4D4D4"/>
                </a:solidFill>
                <a:latin typeface="Courier New"/>
              </a:rPr>
              <a:t>    try:</a:t>
            </a:r>
          </a:p>
          <a:p>
            <a:r>
              <a:rPr sz="1400">
                <a:solidFill>
                  <a:srgbClr val="D4D4D4"/>
                </a:solidFill>
                <a:latin typeface="Courier New"/>
              </a:rPr>
              <a:t>        with open(FILENAME, "r") as f:</a:t>
            </a:r>
          </a:p>
          <a:p>
            <a:r>
              <a:rPr sz="1400">
                <a:solidFill>
                  <a:srgbClr val="D4D4D4"/>
                </a:solidFill>
                <a:latin typeface="Courier New"/>
              </a:rPr>
              <a:t>            for line in f:</a:t>
            </a:r>
          </a:p>
          <a:p>
            <a:r>
              <a:rPr sz="1400">
                <a:solidFill>
                  <a:srgbClr val="D4D4D4"/>
                </a:solidFill>
                <a:latin typeface="Courier New"/>
              </a:rPr>
              <a:t>                parts = line.strip().split("|")</a:t>
            </a:r>
          </a:p>
          <a:p>
            <a:r>
              <a:rPr sz="1400">
                <a:solidFill>
                  <a:srgbClr val="D4D4D4"/>
                </a:solidFill>
                <a:latin typeface="Courier New"/>
              </a:rPr>
              <a:t>                tasks.append({</a:t>
            </a:r>
          </a:p>
          <a:p>
            <a:r>
              <a:rPr sz="1400">
                <a:solidFill>
                  <a:srgbClr val="D4D4D4"/>
                </a:solidFill>
                <a:latin typeface="Courier New"/>
              </a:rPr>
              <a:t>                    "description": parts[0],</a:t>
            </a:r>
          </a:p>
          <a:p>
            <a:r>
              <a:rPr sz="1400">
                <a:solidFill>
                  <a:srgbClr val="D4D4D4"/>
                </a:solidFill>
                <a:latin typeface="Courier New"/>
              </a:rPr>
              <a:t>                    "done": parts[1] == "True"</a:t>
            </a:r>
          </a:p>
          <a:p>
            <a:r>
              <a:rPr sz="1400">
                <a:solidFill>
                  <a:srgbClr val="D4D4D4"/>
                </a:solidFill>
                <a:latin typeface="Courier New"/>
              </a:rPr>
              <a:t>                })</a:t>
            </a:r>
          </a:p>
          <a:p>
            <a:r>
              <a:rPr sz="1400">
                <a:solidFill>
                  <a:srgbClr val="D4D4D4"/>
                </a:solidFill>
                <a:latin typeface="Courier New"/>
              </a:rPr>
              <a:t>    except FileNotFoundError:</a:t>
            </a:r>
          </a:p>
          <a:p>
            <a:r>
              <a:rPr sz="1400">
                <a:solidFill>
                  <a:srgbClr val="D4D4D4"/>
                </a:solidFill>
                <a:latin typeface="Courier New"/>
              </a:rPr>
              <a:t>        pass   # No file yet — start fresh</a:t>
            </a:r>
          </a:p>
          <a:p>
            <a:r>
              <a:rPr sz="1400">
                <a:solidFill>
                  <a:srgbClr val="D4D4D4"/>
                </a:solidFill>
                <a:latin typeface="Courier New"/>
              </a:rPr>
              <a:t>    return tasks</a:t>
            </a:r>
          </a:p>
          <a:p>
            <a:r>
              <a:rPr sz="1400">
                <a:solidFill>
                  <a:srgbClr val="D4D4D4"/>
                </a:solidFill>
                <a:latin typeface="Courier New"/>
              </a:rPr>
              <a:t> </a:t>
            </a:r>
          </a:p>
          <a:p>
            <a:r>
              <a:rPr sz="1400">
                <a:solidFill>
                  <a:srgbClr val="D4D4D4"/>
                </a:solidFill>
                <a:latin typeface="Courier New"/>
              </a:rPr>
              <a:t>def save_tasks(tasks):</a:t>
            </a:r>
          </a:p>
          <a:p>
            <a:r>
              <a:rPr sz="1400">
                <a:solidFill>
                  <a:srgbClr val="D4D4D4"/>
                </a:solidFill>
                <a:latin typeface="Courier New"/>
              </a:rPr>
              <a:t>    with open(FILENAME, "w") as f:</a:t>
            </a:r>
          </a:p>
          <a:p>
            <a:r>
              <a:rPr sz="1400">
                <a:solidFill>
                  <a:srgbClr val="D4D4D4"/>
                </a:solidFill>
                <a:latin typeface="Courier New"/>
              </a:rPr>
              <a:t>        for task in tasks:</a:t>
            </a:r>
          </a:p>
          <a:p>
            <a:r>
              <a:rPr sz="1400">
                <a:solidFill>
                  <a:srgbClr val="D4D4D4"/>
                </a:solidFill>
                <a:latin typeface="Courier New"/>
              </a:rPr>
              <a:t>            f.write(f"{task['description']}|{task['done']}\n")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1F39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600" b="1">
                <a:solidFill>
                  <a:srgbClr val="FFFFFF"/>
                </a:solidFill>
              </a:rPr>
              <a:t>🛠️ Mini-Project — Step 4: UI Functions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463040"/>
            <a:ext cx="10515600" cy="5120640"/>
          </a:xfrm>
          <a:prstGeom prst="rect">
            <a:avLst/>
          </a:prstGeom>
          <a:solidFill>
            <a:srgbClr val="1E1E1E"/>
          </a:solidFill>
          <a:ln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400">
                <a:solidFill>
                  <a:srgbClr val="D4D4D4"/>
                </a:solidFill>
                <a:latin typeface="Courier New"/>
              </a:rPr>
              <a:t>def view_tasks(tasks):</a:t>
            </a:r>
          </a:p>
          <a:p>
            <a:r>
              <a:rPr sz="1400">
                <a:solidFill>
                  <a:srgbClr val="D4D4D4"/>
                </a:solidFill>
                <a:latin typeface="Courier New"/>
              </a:rPr>
              <a:t>    if not tasks:</a:t>
            </a:r>
          </a:p>
          <a:p>
            <a:r>
              <a:rPr sz="1400">
                <a:solidFill>
                  <a:srgbClr val="D4D4D4"/>
                </a:solidFill>
                <a:latin typeface="Courier New"/>
              </a:rPr>
              <a:t>        print("No tasks yet!")</a:t>
            </a:r>
          </a:p>
          <a:p>
            <a:r>
              <a:rPr sz="1400">
                <a:solidFill>
                  <a:srgbClr val="D4D4D4"/>
                </a:solidFill>
                <a:latin typeface="Courier New"/>
              </a:rPr>
              <a:t>        return</a:t>
            </a:r>
          </a:p>
          <a:p>
            <a:r>
              <a:rPr sz="1400">
                <a:solidFill>
                  <a:srgbClr val="D4D4D4"/>
                </a:solidFill>
                <a:latin typeface="Courier New"/>
              </a:rPr>
              <a:t>    print("\n=== Your Tasks ===")</a:t>
            </a:r>
          </a:p>
          <a:p>
            <a:r>
              <a:rPr sz="1400">
                <a:solidFill>
                  <a:srgbClr val="D4D4D4"/>
                </a:solidFill>
                <a:latin typeface="Courier New"/>
              </a:rPr>
              <a:t>    for i, task in enumerate(tasks, 1):</a:t>
            </a:r>
          </a:p>
          <a:p>
            <a:r>
              <a:rPr sz="1400">
                <a:solidFill>
                  <a:srgbClr val="D4D4D4"/>
                </a:solidFill>
                <a:latin typeface="Courier New"/>
              </a:rPr>
              <a:t>        status = "✓" if task["done"] else "○"</a:t>
            </a:r>
          </a:p>
          <a:p>
            <a:r>
              <a:rPr sz="1400">
                <a:solidFill>
                  <a:srgbClr val="D4D4D4"/>
                </a:solidFill>
                <a:latin typeface="Courier New"/>
              </a:rPr>
              <a:t>        print(f"{i}. [{status}] {task['description']}")</a:t>
            </a:r>
          </a:p>
          <a:p>
            <a:r>
              <a:rPr sz="1400">
                <a:solidFill>
                  <a:srgbClr val="D4D4D4"/>
                </a:solidFill>
                <a:latin typeface="Courier New"/>
              </a:rPr>
              <a:t> </a:t>
            </a:r>
          </a:p>
          <a:p>
            <a:r>
              <a:rPr sz="1400">
                <a:solidFill>
                  <a:srgbClr val="D4D4D4"/>
                </a:solidFill>
                <a:latin typeface="Courier New"/>
              </a:rPr>
              <a:t>def add_task(tasks):</a:t>
            </a:r>
          </a:p>
          <a:p>
            <a:r>
              <a:rPr sz="1400">
                <a:solidFill>
                  <a:srgbClr val="D4D4D4"/>
                </a:solidFill>
                <a:latin typeface="Courier New"/>
              </a:rPr>
              <a:t>    desc = input("Task description: ").strip()</a:t>
            </a:r>
          </a:p>
          <a:p>
            <a:r>
              <a:rPr sz="1400">
                <a:solidFill>
                  <a:srgbClr val="D4D4D4"/>
                </a:solidFill>
                <a:latin typeface="Courier New"/>
              </a:rPr>
              <a:t>    if desc:</a:t>
            </a:r>
          </a:p>
          <a:p>
            <a:r>
              <a:rPr sz="1400">
                <a:solidFill>
                  <a:srgbClr val="D4D4D4"/>
                </a:solidFill>
                <a:latin typeface="Courier New"/>
              </a:rPr>
              <a:t>        tasks.append({"description": desc, "done": False})</a:t>
            </a:r>
          </a:p>
          <a:p>
            <a:r>
              <a:rPr sz="1400">
                <a:solidFill>
                  <a:srgbClr val="D4D4D4"/>
                </a:solidFill>
                <a:latin typeface="Courier New"/>
              </a:rPr>
              <a:t>        print(f"Added: '{desc}'")</a:t>
            </a:r>
          </a:p>
          <a:p>
            <a:r>
              <a:rPr sz="1400">
                <a:solidFill>
                  <a:srgbClr val="D4D4D4"/>
                </a:solidFill>
                <a:latin typeface="Courier New"/>
              </a:rPr>
              <a:t>    else:</a:t>
            </a:r>
          </a:p>
          <a:p>
            <a:r>
              <a:rPr sz="1400">
                <a:solidFill>
                  <a:srgbClr val="D4D4D4"/>
                </a:solidFill>
                <a:latin typeface="Courier New"/>
              </a:rPr>
              <a:t>        print("Task cannot be empty!")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1F39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600" b="1">
                <a:solidFill>
                  <a:srgbClr val="FFFFFF"/>
                </a:solidFill>
              </a:rPr>
              <a:t>🎯 Practice Exercises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1F3964"/>
                </a:solidFill>
              </a:rPr>
              <a:t>Try these on your own: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01168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070C0"/>
                </a:solidFill>
              </a:rPr>
              <a:t>Exercise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37744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>
                <a:solidFill>
                  <a:srgbClr val="444444"/>
                </a:solidFill>
              </a:rPr>
              <a:t>Write a function that reads a file and counts the number of lines,
  words, and characters.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38328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070C0"/>
                </a:solidFill>
              </a:rPr>
              <a:t>Exercise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374904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>
                <a:solidFill>
                  <a:srgbClr val="444444"/>
                </a:solidFill>
              </a:rPr>
              <a:t>Write a try/except block that:
  • Opens a file the user specifies
  • Handles FileNotFoundError gracefully
  • Prints the first 5 lines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75488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070C0"/>
                </a:solidFill>
              </a:rPr>
              <a:t>Exercise 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512064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>
                <a:solidFill>
                  <a:srgbClr val="444444"/>
                </a:solidFill>
              </a:rPr>
              <a:t>Extend the To-Do App to support a "search tasks" feature.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1F39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600" b="1">
                <a:solidFill>
                  <a:srgbClr val="FFFFFF"/>
                </a:solidFill>
              </a:rPr>
              <a:t>📝 Assignment 5: To-Do List App (Final Project)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17320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444444"/>
                </a:solidFill>
              </a:rPr>
              <a:t>Build a complete To-Do List App that: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920240"/>
            <a:ext cx="10515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>
                <a:solidFill>
                  <a:srgbClr val="444444"/>
                </a:solidFill>
              </a:rPr>
              <a:t>  1. Lets the user add, view, mark complete, delete tasks</a:t>
            </a:r>
          </a:p>
          <a:p>
            <a:r>
              <a:rPr sz="1900">
                <a:solidFill>
                  <a:srgbClr val="444444"/>
                </a:solidFill>
              </a:rPr>
              <a:t>  2. Saves tasks to a text file (persists between runs!)</a:t>
            </a:r>
          </a:p>
          <a:p>
            <a:r>
              <a:rPr sz="1900">
                <a:solidFill>
                  <a:srgbClr val="444444"/>
                </a:solidFill>
              </a:rPr>
              <a:t>  3. Loads tasks from the file on startup</a:t>
            </a:r>
          </a:p>
          <a:p>
            <a:r>
              <a:rPr sz="1900">
                <a:solidFill>
                  <a:srgbClr val="444444"/>
                </a:solidFill>
              </a:rPr>
              <a:t>  4. Uses functions for each operation</a:t>
            </a:r>
          </a:p>
          <a:p>
            <a:r>
              <a:rPr sz="1900">
                <a:solidFill>
                  <a:srgbClr val="444444"/>
                </a:solidFill>
              </a:rPr>
              <a:t>  5. Handles errors gracefully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343400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1">
                <a:solidFill>
                  <a:srgbClr val="0070C0"/>
                </a:solidFill>
              </a:rPr>
              <a:t>⭐ Bonus: Add due dates, priority levels, or categories.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80060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444444"/>
                </a:solidFill>
              </a:rPr>
              <a:t>📁 Start with: starter-code/assignment5_starter.py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16636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444444"/>
                </a:solidFill>
              </a:rPr>
              <a:t>📄 Full details: assignments/assignment5_todo_app.md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1F39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600" b="1">
                <a:solidFill>
                  <a:srgbClr val="FFFFFF"/>
                </a:solidFill>
              </a:rPr>
              <a:t>🚀 What's Next After This Course?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1732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1F3964"/>
                </a:solidFill>
              </a:rPr>
              <a:t>Intermediate Topics to Explore: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874519"/>
            <a:ext cx="5029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444444"/>
                </a:solidFill>
              </a:rPr>
              <a:t>  • Classes &amp; OOP — class, objects, inheritance</a:t>
            </a:r>
          </a:p>
          <a:p>
            <a:r>
              <a:rPr sz="1600">
                <a:solidFill>
                  <a:srgbClr val="444444"/>
                </a:solidFill>
              </a:rPr>
              <a:t>  • List/dict comprehensions — advanced patterns</a:t>
            </a:r>
          </a:p>
          <a:p>
            <a:r>
              <a:rPr sz="1600">
                <a:solidFill>
                  <a:srgbClr val="444444"/>
                </a:solidFill>
              </a:rPr>
              <a:t>  • Decorators &amp; generators — powerful Python features</a:t>
            </a:r>
          </a:p>
          <a:p>
            <a:r>
              <a:rPr sz="1600">
                <a:solidFill>
                  <a:srgbClr val="444444"/>
                </a:solidFill>
              </a:rPr>
              <a:t>  • Virtual environments — venv, pip</a:t>
            </a:r>
          </a:p>
          <a:p>
            <a:r>
              <a:rPr sz="1600">
                <a:solidFill>
                  <a:srgbClr val="444444"/>
                </a:solidFill>
              </a:rPr>
              <a:t>  • Popular libraries: requests, pandas, flask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0" y="14173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1F3964"/>
                </a:solidFill>
              </a:rPr>
              <a:t>Project Ideas: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0" y="1874519"/>
            <a:ext cx="5029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444444"/>
                </a:solidFill>
              </a:rPr>
              <a:t>  • Web scraper with requests + BeautifulSoup</a:t>
            </a:r>
          </a:p>
          <a:p>
            <a:r>
              <a:rPr sz="1600">
                <a:solidFill>
                  <a:srgbClr val="444444"/>
                </a:solidFill>
              </a:rPr>
              <a:t>  • Simple web app with Flask</a:t>
            </a:r>
          </a:p>
          <a:p>
            <a:r>
              <a:rPr sz="1600">
                <a:solidFill>
                  <a:srgbClr val="444444"/>
                </a:solidFill>
              </a:rPr>
              <a:t>  • Data analysis with pandas</a:t>
            </a:r>
          </a:p>
          <a:p>
            <a:r>
              <a:rPr sz="1600">
                <a:solidFill>
                  <a:srgbClr val="444444"/>
                </a:solidFill>
              </a:rPr>
              <a:t>  • Discord/Telegram bot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93192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1F3964"/>
                </a:solidFill>
              </a:rPr>
              <a:t>Resources: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38912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0070C0"/>
                </a:solidFill>
              </a:rPr>
              <a:t>Real Python  realpython.com   |   Python Docs  docs.python.org/3/   |   Automate the Boring Stuff  automatetheboringstuff.com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F39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914400"/>
            <a:ext cx="10360152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600" b="1" i="0">
                <a:solidFill>
                  <a:srgbClr val="FFFFFF"/>
                </a:solidFill>
              </a:rPr>
              <a:t>🎉 Congratulations!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103120"/>
            <a:ext cx="103601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 i="0">
                <a:solidFill>
                  <a:srgbClr val="BFD7F5"/>
                </a:solidFill>
              </a:rPr>
              <a:t>You've completed the Python for Beginners course!</a:t>
            </a:r>
          </a:p>
        </p:txBody>
      </p:sp>
      <p:sp>
        <p:nvSpPr>
          <p:cNvPr id="5" name="Rectangle 4"/>
          <p:cNvSpPr/>
          <p:nvPr/>
        </p:nvSpPr>
        <p:spPr>
          <a:xfrm>
            <a:off x="1828800" y="2834640"/>
            <a:ext cx="8531352" cy="254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3017520"/>
            <a:ext cx="103601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BFD7F5"/>
                </a:solidFill>
              </a:rPr>
              <a:t>You now know how to: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86000" y="3520440"/>
            <a:ext cx="7616952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>
                <a:solidFill>
                  <a:srgbClr val="FFFFFF"/>
                </a:solidFill>
              </a:rPr>
              <a:t>✅  Write and run Python programs</a:t>
            </a:r>
          </a:p>
          <a:p>
            <a:r>
              <a:rPr sz="1700">
                <a:solidFill>
                  <a:srgbClr val="FFFFFF"/>
                </a:solidFill>
              </a:rPr>
              <a:t>✅  Use variables, data types, and operators</a:t>
            </a:r>
          </a:p>
          <a:p>
            <a:r>
              <a:rPr sz="1700">
                <a:solidFill>
                  <a:srgbClr val="FFFFFF"/>
                </a:solidFill>
              </a:rPr>
              <a:t>✅  Control program flow with conditions and loops</a:t>
            </a:r>
          </a:p>
          <a:p>
            <a:r>
              <a:rPr sz="1700">
                <a:solidFill>
                  <a:srgbClr val="FFFFFF"/>
                </a:solidFill>
              </a:rPr>
              <a:t>✅  Write reusable functions</a:t>
            </a:r>
          </a:p>
          <a:p>
            <a:r>
              <a:rPr sz="1700">
                <a:solidFill>
                  <a:srgbClr val="FFFFFF"/>
                </a:solidFill>
              </a:rPr>
              <a:t>✅  Work with lists, tuples, and dictionaries</a:t>
            </a:r>
          </a:p>
          <a:p>
            <a:r>
              <a:rPr sz="1700">
                <a:solidFill>
                  <a:srgbClr val="FFFFFF"/>
                </a:solidFill>
              </a:rPr>
              <a:t>✅  Read and write files</a:t>
            </a:r>
          </a:p>
          <a:p>
            <a:r>
              <a:rPr sz="1700">
                <a:solidFill>
                  <a:srgbClr val="FFFFFF"/>
                </a:solidFill>
              </a:rPr>
              <a:t>✅  Handle errors gracefully</a:t>
            </a:r>
          </a:p>
          <a:p>
            <a:r>
              <a:rPr sz="1700">
                <a:solidFill>
                  <a:srgbClr val="FFFFFF"/>
                </a:solidFill>
              </a:rPr>
              <a:t>✅  Build a complete command-line application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6400800"/>
            <a:ext cx="103601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A0C8FF"/>
                </a:solidFill>
              </a:rPr>
              <a:t>Keep coding, keep learning! 🐍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